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1-1.jpg" ContentType="image/jpg"/>
  <Override PartName="/ppt/media/image-14-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Episode sensitivity (%)</c:v>
                </c:pt>
              </c:strCache>
            </c:strRef>
          </c:tx>
          <c:spPr>
            <a:solidFill>
              <a:srgbClr val="8A6A4F"/>
            </a:solidFill>
            <a:effectLst/>
          </c:spPr>
          <c:invertIfNegative val="0"/>
          <c:dLbls>
            <c:numFmt formatCode="0&quot;%&quot;" sourceLinked="0"/>
            <c:txPr>
              <a:bodyPr/>
              <a:lstStyle/>
              <a:p>
                <a:pPr>
                  <a:defRPr b="0" i="0" strike="noStrike" sz="900" u="none">
                    <a:solidFill>
                      <a:srgbClr val="FFFFFF"/>
                    </a:solidFill>
                    <a:latin typeface="Poppins"/>
                  </a:defRPr>
                </a:pPr>
              </a:p>
            </c:txPr>
            <c:dLblPos val="inEnd"/>
            <c:showLegendKey val="0"/>
            <c:showVal val="1"/>
            <c:showCatName val="0"/>
            <c:showSerName val="0"/>
            <c:showPercent val="0"/>
            <c:showBubbleSize val="0"/>
            <c:showLeaderLines val="0"/>
          </c:dLbls>
          <c:dPt>
            <c:idx val="0"/>
            <c:invertIfNegative val="0"/>
            <c:bubble3D val="0"/>
            <c:spPr>
              <a:solidFill>
                <a:srgbClr val="8A6A4F"/>
              </a:solidFill>
              <a:effectLst/>
            </c:spPr>
          </c:dPt>
          <c:dPt>
            <c:idx val="1"/>
            <c:invertIfNegative val="0"/>
            <c:bubble3D val="0"/>
            <c:spPr>
              <a:solidFill>
                <a:srgbClr val="543110"/>
              </a:solidFill>
              <a:effectLst/>
            </c:spPr>
          </c:dPt>
          <c:cat>
            <c:multiLvlStrRef>
              <c:f>Sheet1!$A$2:$A$3</c:f>
              <c:multiLvlStrCache>
                <c:ptCount val="2"/>
                <c:lvl>
                  <c:pt idx="0">
                    <c:v>9 summaries only</c:v>
                  </c:pt>
                  <c:pt idx="1">
                    <c:v>25 pads + 9 (shipped)</c:v>
                  </c:pt>
                </c:lvl>
              </c:multiLvlStrCache>
            </c:multiLvlStrRef>
          </c:cat>
          <c:val>
            <c:numRef>
              <c:f>Sheet1!$B$2:$B$3</c:f>
              <c:numCache>
                <c:formatCode>General</c:formatCode>
                <c:ptCount val="2"/>
                <c:pt idx="0">
                  <c:v>70</c:v>
                </c:pt>
                <c:pt idx="1">
                  <c:v>100</c:v>
                </c:pt>
              </c:numCache>
            </c:numRef>
          </c:val>
        </c:ser>
        <c:dLbls>
          <c:numFmt formatCode="0&quot;%&quot;" sourceLinked="0"/>
          <c:txPr>
            <a:bodyPr/>
            <a:lstStyle/>
            <a:p>
              <a:pPr>
                <a:defRPr b="0" i="0" strike="noStrike" sz="900" u="none">
                  <a:solidFill>
                    <a:srgbClr val="FFFFFF"/>
                  </a:solidFill>
                  <a:latin typeface="Poppins"/>
                </a:defRPr>
              </a:pPr>
            </a:p>
          </c:txPr>
          <c:dLblPos val="in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7A5A3F"/>
                </a:solidFill>
                <a:latin typeface="Poppins"/>
              </a:defRPr>
            </a:pPr>
            <a:endParaRPr lang="en-US"/>
          </a:p>
        </c:txPr>
        <c:crossAx val="2094734552"/>
        <c:crosses val="autoZero"/>
        <c:auto val="1"/>
        <c:lblAlgn val="ctr"/>
        <c:noMultiLvlLbl val="1"/>
      </c:catAx>
      <c:valAx>
        <c:axId val="2094734552"/>
        <c:scaling>
          <c:orientation val="minMax"/>
          <c:max val="100"/>
        </c:scaling>
        <c:delete val="1"/>
        <c:axPos val="b"/>
        <c:majorGridlines>
          <c:spPr>
            <a:ln w="12700" cap="flat">
              <a:solidFill>
                <a:srgbClr val="DFCEA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A5A3F"/>
                </a:solidFill>
                <a:latin typeface="Poppins"/>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Episode sensitivity (%)</c:v>
                </c:pt>
              </c:strCache>
            </c:strRef>
          </c:tx>
          <c:spPr>
            <a:solidFill>
              <a:srgbClr val="8A6A4F"/>
            </a:solidFill>
            <a:effectLst/>
          </c:spPr>
          <c:invertIfNegative val="0"/>
          <c:dLbls>
            <c:numFmt formatCode="0.0&quot;%&quot;" sourceLinked="0"/>
            <c:txPr>
              <a:bodyPr/>
              <a:lstStyle/>
              <a:p>
                <a:pPr>
                  <a:defRPr b="0" i="0" strike="noStrike" sz="900" u="none">
                    <a:solidFill>
                      <a:srgbClr val="543110"/>
                    </a:solidFill>
                    <a:latin typeface="Poppins"/>
                  </a:defRPr>
                </a:pPr>
              </a:p>
            </c:txPr>
            <c:showLegendKey val="0"/>
            <c:showVal val="1"/>
            <c:showCatName val="0"/>
            <c:showSerName val="0"/>
            <c:showPercent val="0"/>
            <c:showBubbleSize val="0"/>
            <c:showLeaderLines val="0"/>
          </c:dLbls>
          <c:dPt>
            <c:idx val="0"/>
            <c:invertIfNegative val="0"/>
            <c:bubble3D val="0"/>
            <c:spPr>
              <a:solidFill>
                <a:srgbClr val="8A6A4F"/>
              </a:solidFill>
              <a:effectLst/>
            </c:spPr>
          </c:dPt>
          <c:dPt>
            <c:idx val="1"/>
            <c:invertIfNegative val="0"/>
            <c:bubble3D val="0"/>
            <c:spPr>
              <a:solidFill>
                <a:srgbClr val="8A6A4F"/>
              </a:solidFill>
              <a:effectLst/>
            </c:spPr>
          </c:dPt>
          <c:dPt>
            <c:idx val="2"/>
            <c:invertIfNegative val="0"/>
            <c:bubble3D val="0"/>
            <c:spPr>
              <a:solidFill>
                <a:srgbClr val="543110"/>
              </a:solidFill>
              <a:effectLst/>
            </c:spPr>
          </c:dPt>
          <c:cat>
            <c:multiLvlStrRef>
              <c:f>Sheet1!$A$2:$A$4</c:f>
              <c:multiLvlStrCache>
                <c:ptCount val="3"/>
                <c:lvl>
                  <c:pt idx="0">
                    <c:v>Extra Trees</c:v>
                  </c:pt>
                  <c:pt idx="1">
                    <c:v>Random Forest</c:v>
                  </c:pt>
                  <c:pt idx="2">
                    <c:v>Gradient boosting (shipped)</c:v>
                  </c:pt>
                </c:lvl>
              </c:multiLvlStrCache>
            </c:multiLvlStrRef>
          </c:cat>
          <c:val>
            <c:numRef>
              <c:f>Sheet1!$B$2:$B$4</c:f>
              <c:numCache>
                <c:formatCode>General</c:formatCode>
                <c:ptCount val="3"/>
                <c:pt idx="0">
                  <c:v>90.4</c:v>
                </c:pt>
                <c:pt idx="1">
                  <c:v>86.8</c:v>
                </c:pt>
                <c:pt idx="2">
                  <c:v>98.2</c:v>
                </c:pt>
              </c:numCache>
            </c:numRef>
          </c:val>
        </c:ser>
        <c:dLbls>
          <c:numFmt formatCode="0.0&quot;%&quot;" sourceLinked="0"/>
          <c:txPr>
            <a:bodyPr/>
            <a:lstStyle/>
            <a:p>
              <a:pPr>
                <a:defRPr b="0" i="0" strike="noStrike" sz="900" u="none">
                  <a:solidFill>
                    <a:srgbClr val="543110"/>
                  </a:solidFill>
                  <a:latin typeface="Poppin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7A5A3F"/>
                </a:solidFill>
                <a:latin typeface="Poppins"/>
              </a:defRPr>
            </a:pPr>
            <a:endParaRPr lang="en-US"/>
          </a:p>
        </c:txPr>
        <c:crossAx val="2094734552"/>
        <c:crosses val="autoZero"/>
        <c:auto val="1"/>
        <c:lblAlgn val="ctr"/>
        <c:noMultiLvlLbl val="1"/>
      </c:catAx>
      <c:valAx>
        <c:axId val="2094734552"/>
        <c:scaling>
          <c:orientation val="minMax"/>
          <c:max val="112"/>
          <c:min val="0"/>
        </c:scaling>
        <c:delete val="0"/>
        <c:axPos val="b"/>
        <c:majorGridlines>
          <c:spPr>
            <a:ln w="12700" cap="flat">
              <a:solidFill>
                <a:srgbClr val="DFCEA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A5A3F"/>
                </a:solidFill>
                <a:latin typeface="Poppins"/>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Alarms per hour</c:v>
                </c:pt>
              </c:strCache>
            </c:strRef>
          </c:tx>
          <c:spPr>
            <a:solidFill>
              <a:srgbClr val="8A6A4F"/>
            </a:solidFill>
            <a:effectLst/>
          </c:spPr>
          <c:invertIfNegative val="0"/>
          <c:dLbls>
            <c:numFmt formatCode="0.0" sourceLinked="0"/>
            <c:txPr>
              <a:bodyPr/>
              <a:lstStyle/>
              <a:p>
                <a:pPr>
                  <a:defRPr b="0" i="0" strike="noStrike" sz="900" u="none">
                    <a:solidFill>
                      <a:srgbClr val="543110"/>
                    </a:solidFill>
                    <a:latin typeface="Poppins"/>
                  </a:defRPr>
                </a:pPr>
              </a:p>
            </c:txPr>
            <c:showLegendKey val="0"/>
            <c:showVal val="1"/>
            <c:showCatName val="0"/>
            <c:showSerName val="0"/>
            <c:showPercent val="0"/>
            <c:showBubbleSize val="0"/>
            <c:showLeaderLines val="0"/>
          </c:dLbls>
          <c:dPt>
            <c:idx val="0"/>
            <c:invertIfNegative val="0"/>
            <c:bubble3D val="0"/>
            <c:spPr>
              <a:solidFill>
                <a:srgbClr val="8A6A4F"/>
              </a:solidFill>
              <a:effectLst/>
            </c:spPr>
          </c:dPt>
          <c:dPt>
            <c:idx val="1"/>
            <c:invertIfNegative val="0"/>
            <c:bubble3D val="0"/>
            <c:spPr>
              <a:solidFill>
                <a:srgbClr val="8A6A4F"/>
              </a:solidFill>
              <a:effectLst/>
            </c:spPr>
          </c:dPt>
          <c:dPt>
            <c:idx val="2"/>
            <c:invertIfNegative val="0"/>
            <c:bubble3D val="0"/>
            <c:spPr>
              <a:solidFill>
                <a:srgbClr val="8A6A4F"/>
              </a:solidFill>
              <a:effectLst/>
            </c:spPr>
          </c:dPt>
          <c:dPt>
            <c:idx val="3"/>
            <c:invertIfNegative val="0"/>
            <c:bubble3D val="0"/>
            <c:spPr>
              <a:solidFill>
                <a:srgbClr val="8A6A4F"/>
              </a:solidFill>
              <a:effectLst/>
            </c:spPr>
          </c:dPt>
          <c:dPt>
            <c:idx val="4"/>
            <c:invertIfNegative val="0"/>
            <c:bubble3D val="0"/>
            <c:spPr>
              <a:solidFill>
                <a:srgbClr val="543110"/>
              </a:solidFill>
              <a:effectLst/>
            </c:spPr>
          </c:dPt>
          <c:dPt>
            <c:idx val="5"/>
            <c:invertIfNegative val="0"/>
            <c:bubble3D val="0"/>
            <c:spPr>
              <a:solidFill>
                <a:srgbClr val="8A6A4F"/>
              </a:solidFill>
              <a:effectLst/>
            </c:spPr>
          </c:dPt>
          <c:cat>
            <c:multiLvlStrRef>
              <c:f>Sheet1!$A$2:$A$7</c:f>
              <c:multiLvlStrCache>
                <c:ptCount val="6"/>
                <c:lvl>
                  <c:pt idx="0">
                    <c:v>3 of 3</c:v>
                  </c:pt>
                  <c:pt idx="1">
                    <c:v>3 of 5</c:v>
                  </c:pt>
                  <c:pt idx="2">
                    <c:v>4 of 5</c:v>
                  </c:pt>
                  <c:pt idx="3">
                    <c:v>5 of 7</c:v>
                  </c:pt>
                  <c:pt idx="4">
                    <c:v>6 of 7 (shipped)</c:v>
                  </c:pt>
                  <c:pt idx="5">
                    <c:v>5 of 5</c:v>
                  </c:pt>
                </c:lvl>
              </c:multiLvlStrCache>
            </c:multiLvlStrRef>
          </c:cat>
          <c:val>
            <c:numRef>
              <c:f>Sheet1!$B$2:$B$7</c:f>
              <c:numCache>
                <c:formatCode>General</c:formatCode>
                <c:ptCount val="6"/>
                <c:pt idx="0">
                  <c:v>25.9</c:v>
                </c:pt>
                <c:pt idx="1">
                  <c:v>20.7</c:v>
                </c:pt>
                <c:pt idx="2">
                  <c:v>15.5</c:v>
                </c:pt>
                <c:pt idx="3">
                  <c:v>13</c:v>
                </c:pt>
                <c:pt idx="4">
                  <c:v>7.8</c:v>
                </c:pt>
                <c:pt idx="5">
                  <c:v>5.2</c:v>
                </c:pt>
              </c:numCache>
            </c:numRef>
          </c:val>
        </c:ser>
        <c:dLbls>
          <c:numFmt formatCode="0.0" sourceLinked="0"/>
          <c:txPr>
            <a:bodyPr/>
            <a:lstStyle/>
            <a:p>
              <a:pPr>
                <a:defRPr b="0" i="0" strike="noStrike" sz="900" u="none">
                  <a:solidFill>
                    <a:srgbClr val="543110"/>
                  </a:solidFill>
                  <a:latin typeface="Poppi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5A3F"/>
                </a:solidFill>
                <a:latin typeface="Poppins"/>
              </a:defRPr>
            </a:pPr>
            <a:endParaRPr lang="en-US"/>
          </a:p>
        </c:txPr>
        <c:crossAx val="2094734552"/>
        <c:crosses val="autoZero"/>
        <c:auto val="1"/>
        <c:lblAlgn val="ctr"/>
        <c:noMultiLvlLbl val="1"/>
      </c:catAx>
      <c:valAx>
        <c:axId val="2094734552"/>
        <c:scaling>
          <c:orientation val="minMax"/>
        </c:scaling>
        <c:delete val="1"/>
        <c:axPos val="l"/>
        <c:majorGridlines>
          <c:spPr>
            <a:ln w="12700" cap="flat">
              <a:solidFill>
                <a:srgbClr val="DFCEA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5A3F"/>
                </a:solidFill>
                <a:latin typeface="Poppins"/>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Depth of the deepest drop (counts)</c:v>
                </c:pt>
              </c:strCache>
            </c:strRef>
          </c:tx>
          <c:spPr>
            <a:solidFill>
              <a:srgbClr val="3E6C8A"/>
            </a:solidFill>
            <a:effectLst/>
          </c:spPr>
          <c:invertIfNegative val="0"/>
          <c:dLbls>
            <c:numFmt formatCode="0" sourceLinked="0"/>
            <c:txPr>
              <a:bodyPr/>
              <a:lstStyle/>
              <a:p>
                <a:pPr>
                  <a:defRPr b="0" i="0" strike="noStrike" sz="900" u="none">
                    <a:solidFill>
                      <a:srgbClr val="F5EBD8"/>
                    </a:solidFill>
                    <a:latin typeface="Poppins"/>
                  </a:defRPr>
                </a:pPr>
              </a:p>
            </c:txPr>
            <c:showLegendKey val="0"/>
            <c:showVal val="1"/>
            <c:showCatName val="0"/>
            <c:showSerName val="0"/>
            <c:showPercent val="0"/>
            <c:showBubbleSize val="0"/>
            <c:showLeaderLines val="0"/>
          </c:dLbls>
          <c:dPt>
            <c:idx val="0"/>
            <c:invertIfNegative val="0"/>
            <c:bubble3D val="0"/>
            <c:spPr>
              <a:solidFill>
                <a:srgbClr val="3E6C8A"/>
              </a:solidFill>
              <a:effectLst/>
            </c:spPr>
          </c:dPt>
          <c:dPt>
            <c:idx val="1"/>
            <c:invertIfNegative val="0"/>
            <c:bubble3D val="0"/>
            <c:spPr>
              <a:solidFill>
                <a:srgbClr val="3E6C8A"/>
              </a:solidFill>
              <a:effectLst/>
            </c:spPr>
          </c:dPt>
          <c:dPt>
            <c:idx val="2"/>
            <c:invertIfNegative val="0"/>
            <c:bubble3D val="0"/>
            <c:spPr>
              <a:solidFill>
                <a:srgbClr val="8A6A4F"/>
              </a:solidFill>
              <a:effectLst/>
            </c:spPr>
          </c:dPt>
          <c:dPt>
            <c:idx val="3"/>
            <c:invertIfNegative val="0"/>
            <c:bubble3D val="0"/>
            <c:spPr>
              <a:solidFill>
                <a:srgbClr val="A3301F"/>
              </a:solidFill>
              <a:effectLst/>
            </c:spPr>
          </c:dPt>
          <c:dPt>
            <c:idx val="4"/>
            <c:invertIfNegative val="0"/>
            <c:bubble3D val="0"/>
            <c:spPr>
              <a:solidFill>
                <a:srgbClr val="8A6A4F"/>
              </a:solidFill>
              <a:effectLst/>
            </c:spPr>
          </c:dPt>
          <c:cat>
            <c:multiLvlStrRef>
              <c:f>Sheet1!$A$2:$A$6</c:f>
              <c:multiLvlStrCache>
                <c:ptCount val="5"/>
                <c:lvl>
                  <c:pt idx="0">
                    <c:v>Peel</c:v>
                  </c:pt>
                  <c:pt idx="1">
                    <c:v>Vertical pull</c:v>
                  </c:pt>
                  <c:pt idx="2">
                    <c:v>Friction (normal)</c:v>
                  </c:pt>
                  <c:pt idx="3">
                    <c:v>Horizontal pull</c:v>
                  </c:pt>
                  <c:pt idx="4">
                    <c:v>Baseline</c:v>
                  </c:pt>
                </c:lvl>
              </c:multiLvlStrCache>
            </c:multiLvlStrRef>
          </c:cat>
          <c:val>
            <c:numRef>
              <c:f>Sheet1!$B$2:$B$6</c:f>
              <c:numCache>
                <c:formatCode>General</c:formatCode>
                <c:ptCount val="5"/>
                <c:pt idx="0">
                  <c:v>866</c:v>
                </c:pt>
                <c:pt idx="1">
                  <c:v>777</c:v>
                </c:pt>
                <c:pt idx="2">
                  <c:v>94</c:v>
                </c:pt>
                <c:pt idx="3">
                  <c:v>64</c:v>
                </c:pt>
                <c:pt idx="4">
                  <c:v>31</c:v>
                </c:pt>
              </c:numCache>
            </c:numRef>
          </c:val>
        </c:ser>
        <c:dLbls>
          <c:numFmt formatCode="0" sourceLinked="0"/>
          <c:txPr>
            <a:bodyPr/>
            <a:lstStyle/>
            <a:p>
              <a:pPr>
                <a:defRPr b="0" i="0" strike="noStrike" sz="900" u="none">
                  <a:solidFill>
                    <a:srgbClr val="F5EBD8"/>
                  </a:solidFill>
                  <a:latin typeface="Poppi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F5EBD8"/>
                </a:solidFill>
                <a:latin typeface="Poppins"/>
              </a:defRPr>
            </a:pPr>
            <a:endParaRPr lang="en-US"/>
          </a:p>
        </c:txPr>
        <c:crossAx val="2094734552"/>
        <c:crosses val="autoZero"/>
        <c:auto val="1"/>
        <c:lblAlgn val="ctr"/>
        <c:noMultiLvlLbl val="1"/>
      </c:catAx>
      <c:valAx>
        <c:axId val="2094734552"/>
        <c:scaling>
          <c:orientation val="minMax"/>
          <c:max val="1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5A3F"/>
                </a:solidFill>
                <a:latin typeface="Poppins"/>
              </a:defRPr>
            </a:pPr>
            <a:endParaRPr lang="en-US"/>
          </a:p>
        </c:txPr>
        <c:crossAx val="2094734554"/>
        <c:crosses val="autoZero"/>
        <c:crossBetween val="between"/>
      </c:valAx>
      <c:spPr>
        <a:solidFill>
          <a:srgbClr val="543110"/>
        </a:solid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talk is the software and algorithm half of this project, not the hardware paper. Three things I want you to leave with: what the sensor can physically see, how the pipeline turns 25 numbers into one clinical decision, and — most importantly — where it still fails. The headline number is 100% episode sensitivity on 81 bench recordings, but I will show you the confidence interval and the blind spot behind it, because that is the honest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why this problem is worth a sensor at all. A self-extubation is not a monitoring gap that gets caught on the next round - with an airway tube the harm is immediate. That is what makes detection before the event, rather than after it, the thing worth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nobody is ignoring the problem - the ward already has three answers, and each one buys safety with a different harm. Rounds cost staff time, tighter fixation costs skin, restraint costs something harder to quantify. A passive sensor is worth building because it is the only option that does not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external approaches and one of our own. The RFID work tells you the tube is gone, which is too late. The camera work gives real early warning but asks a ward to accept continuous video of a patient, and that is a cost some units will not pay. Our own autoencoder is the honest comparison point - and note the horizontal figure, 0.833 with false detections, because that number comes back later in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objectives, and the second is the one I would ask you to hold me to. It is easy to present a pipeline and an accuracy. It is harder to present the scenario the sensor cannot see, which is what slide eighteen does. I would rather you hear it from me than find it 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we could not start from a public dataset, so we started from the capacitor equation. Two of the three mechanisms give us a strong signal. The third — shear without lift-off — is where the device is blind, and I want to put that on the table early rather than bury it in the last slide. A horizontal pull moves the patch sideways without opening an air gap, so the quantity the sensor measures barely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these five scenarios separate cleanly and I will not spend long on them. The fifth is the one worth your questions. Horizontal pull produces no lift signal on this patch at all — it is quieter than a blanket rubbing against the dressing. Anything the system catches there, it catches for the wrong reason, and the press-magnitude ordering is inverted. That is a physical limit of the current sensor, not a modelling failure, which is why the next slide is about changing the hardware readout.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left to right. The two things I want to defend are the separation and the timing. Separation: the ingest client is deliberately dumb, because if the browser could classify, two bedsides running different browser versions could reach different conclusions from the same data, and no audit would be trustworthy. Timing: people assume the bottleneck is the model. It is not — the model costs a tenth of a millisecond. The delay is deliberate, and it lives in stage seven, where we wait for agreement rather than react to one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stage people skip past, and it is the one that decides whether the device survives a real shift. The top row is what the sensor actually sends: a slow wander of a few hundred counts driven by body heat and sweat. The bottom row is what the rest of the pipeline sees. Notice what happens on the right: when the peel starts, the dashed baseline stops following. That gate is the whole design — without it a sustained pull would be absorbed into the reference within a minute and the system would go quiet exactly when it should be loudest.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take from this slide. First, the design principle: we refuse to average away the geometry, and the bar on the right is what that refusal buys — thirty points of episode sensitivity at the same alarm budget. Second, an honest correction. An earlier draft of this talk described the nine summaries as spatial gradients and a signal-energy term. They are not. They are four magnitude statistics and five threshold counts, and the gradient features that do exist in the code are switched off in everything that ships. I would rather show you the feature list that is actually fitted.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careful about how this comparison was run, because the first time we ran it we got it wrong. Folds are grouped by recording, so no frame from a file can appear on both sides. We repeat the split a hundred times, because with only 81 recordings which files land in which fold moves the answer more than the gap between two estimators. And the box at the bottom is a real retraction from this project — a duplicated feature matrix produced a perfect score that we briefly believed. That is why every number today has an interval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clinical judgement lives, not in the model. The curve on the right is a straight trade: demand more agreement and the alarm burden falls from about twenty-six an hour to about five, and sensitivity holds at one hundred percent until the very last setting. We ship the second-quietest point. The bottom box is the part I want to be honest about — we cannot tell you 7.8 alarms an hour is safe, because the literature does not define a safe rate. We can only tell you what it is relative to current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 commitments on this screen. The interface does no classification of its own — it draws what the server decided, which is what makes the audit trail meaningful. And the ward view stays empty until an operator assigns a bed: an earlier build filled it with plausible-looking patient names and identifiers, which is exactly the kind of thing that looks like a working feature in a demonstration and is a fabrication. The disclaimer in the corner is not decorative; it is asserted by the test suite, so it cannot be quietly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here. First, the fixation matters more than it sounds: if the dressing is loosely mounted, a pull at the tube is absorbed before it reaches the pads, and you end up measuring your rig rather than the patient. The new high-suction bench exists to close that path, and it is the honest first attempt at the horizontal-pull problem — before blaming the model, make sure the force actually arrives. Second, the synchronised capture is what lets anyone in this room challenge a specific frame and get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come back to in questions, because it shows the two things people most often assume are the same. The model's opinion, in the middle panel, is instant and confident. The system's behaviour, in the bottom panel, is deliberately later. That gap is not latency we failed to remove — it is the mechanism that takes the alarm burden from twenty-six an hour down to under eight. And the top panel is the honest answer to what the classifier is given: twenty-five numbers, nothing about the patient, nothing about the past except through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each with its interval. The one I expect to be challenged is one hundred percent sensitivity, and rightly — with thirty pull recordings the confidence interval runs down to ninety-one, so the honest statement is that we missed nothing in this corpus, not that we will miss nothing. The right-hand box is the methodological point I most want to land: we report at episode level because file-level accuracy is an artefact of clip length. The same model on the same events scores ninety-seven and a half now and zero on pull recall if the clips are lengthened.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of a mistake this project already made. An earlier comparison reported a perfect score from a single split and that number justified a production change. Perfect scores over 81 files are bug reports. So the estimator decision is made on the distribution, not on one draw: gradient boosting leads on all four measures and it leads in one hundred repeats out of a hundred on episode sensitivity. The red box on the right is the limit of what this figure can prove — stability under re-splitting is not the same thing as generalisation to a new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show you this slide than have you find it in questions. The chart is the core of it: horizontal pull, the scenario a safety device most needs, is quieter on this patch than a blanket rubbing against it. The box at the bottom matters for how you weigh that — our earlier autoencoder work hit exactly the same wall on the same hardware, with a lower F1 on horizontal pulling and explicit false detections. Two unrelated methods failing identically points at the sensor. That is what the next hardware generation and the new bench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largest planned change and it is a hardware change with a software consequence. Right now we subtract a start-up baseline, which quietly assumes the patch was in a known good state when the system was switched on. In an ICU that assumption will not hold. Absolute capacitance removes it. The important engineering point is that the pipeline above the input layer does not need rewriting — but every number I show you today would have to be re-measured on the new readout.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close on the honest summary rather than the headline. On this corpus the system catches everything, reasonably quietly, in about six seconds. It also cannot see one of the three ways a tube comes out, and every figure comes from one sensor mounting. So the next milestone is not a better model — the model is comfortably ahead of the data it has. It is a readout that responds to sliding, and a corpus recorded across enough attachments that these numbers mean something outside this room. Thank you — I am happy to take questions, particularly on the horizontal-pull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chart" Target="../charts/chart1.xm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chart" Target="../charts/chart3.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jp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700"/>
        </a:solidFill>
      </p:bgPr>
    </p:bg>
    <p:spTree>
      <p:nvGrpSpPr>
        <p:cNvPr id="1" name=""/>
        <p:cNvGrpSpPr/>
        <p:nvPr/>
      </p:nvGrpSpPr>
      <p:grpSpPr>
        <a:xfrm>
          <a:off x="0" y="0"/>
          <a:ext cx="0" cy="0"/>
          <a:chOff x="0" y="0"/>
          <a:chExt cx="0" cy="0"/>
        </a:xfrm>
      </p:grpSpPr>
      <p:pic>
        <p:nvPicPr>
          <p:cNvPr id="2" name="Image 0" descr="/home/claude/deck/img/hero_dressing.jpg">    </p:cNvPr>
          <p:cNvPicPr>
            <a:picLocks noChangeAspect="1"/>
          </p:cNvPicPr>
          <p:nvPr/>
        </p:nvPicPr>
        <p:blipFill>
          <a:blip r:embed="rId1"/>
          <a:stretch>
            <a:fillRect/>
          </a:stretch>
        </p:blipFill>
        <p:spPr>
          <a:xfrm>
            <a:off x="6537960" y="0"/>
            <a:ext cx="5623560" cy="4215384"/>
          </a:xfrm>
          <a:prstGeom prst="rect">
            <a:avLst/>
          </a:prstGeom>
        </p:spPr>
      </p:pic>
      <p:sp>
        <p:nvSpPr>
          <p:cNvPr id="3" name="Shape 0"/>
          <p:cNvSpPr/>
          <p:nvPr/>
        </p:nvSpPr>
        <p:spPr>
          <a:xfrm>
            <a:off x="6537960" y="0"/>
            <a:ext cx="5623560" cy="4215384"/>
          </a:xfrm>
          <a:prstGeom prst="rect">
            <a:avLst/>
          </a:prstGeom>
          <a:solidFill>
            <a:srgbClr val="3D1700">
              <a:alpha val="22000"/>
            </a:srgbClr>
          </a:solidFill>
          <a:ln w="12700">
            <a:solidFill>
              <a:srgbClr val="333333"/>
            </a:solidFill>
            <a:prstDash val="solid"/>
          </a:ln>
        </p:spPr>
      </p:sp>
      <p:sp>
        <p:nvSpPr>
          <p:cNvPr id="4" name="Text 1"/>
          <p:cNvSpPr txBox="1"/>
          <p:nvPr/>
        </p:nvSpPr>
        <p:spPr>
          <a:xfrm>
            <a:off x="502920" y="640080"/>
            <a:ext cx="5852160" cy="237744"/>
          </a:xfrm>
          <a:prstGeom prst="rect">
            <a:avLst/>
          </a:prstGeom>
          <a:noFill/>
          <a:ln/>
        </p:spPr>
        <p:txBody>
          <a:bodyPr wrap="square" lIns="0" tIns="0" rIns="0" bIns="0" rtlCol="0" anchor="ctr"/>
          <a:lstStyle/>
          <a:p>
            <a:pPr indent="0" marL="0">
              <a:buNone/>
            </a:pPr>
            <a:r>
              <a:rPr lang="en-US" sz="1050" b="1" spc="200" kern="0" dirty="0">
                <a:solidFill>
                  <a:srgbClr val="3E6C8A"/>
                </a:solidFill>
                <a:latin typeface="Poppins" pitchFamily="34" charset="0"/>
                <a:ea typeface="Poppins" pitchFamily="34" charset="-122"/>
                <a:cs typeface="Poppins" pitchFamily="34" charset="-120"/>
              </a:rPr>
              <a:t>SMART EXTUBATION EARLY WARNING</a:t>
            </a:r>
            <a:endParaRPr lang="en-US" sz="1050" dirty="0"/>
          </a:p>
        </p:txBody>
      </p:sp>
      <p:sp>
        <p:nvSpPr>
          <p:cNvPr id="5" name="Text 2"/>
          <p:cNvSpPr txBox="1"/>
          <p:nvPr/>
        </p:nvSpPr>
        <p:spPr>
          <a:xfrm>
            <a:off x="502920" y="960120"/>
            <a:ext cx="5897880" cy="1371600"/>
          </a:xfrm>
          <a:prstGeom prst="rect">
            <a:avLst/>
          </a:prstGeom>
          <a:noFill/>
          <a:ln/>
        </p:spPr>
        <p:txBody>
          <a:bodyPr wrap="square" lIns="0" tIns="0" rIns="0" bIns="0" rtlCol="0" anchor="ctr"/>
          <a:lstStyle/>
          <a:p>
            <a:pPr indent="0" marL="0">
              <a:lnSpc>
                <a:spcPct val="108000"/>
              </a:lnSpc>
              <a:buNone/>
            </a:pPr>
            <a:r>
              <a:rPr lang="en-US" sz="2600" b="1" dirty="0">
                <a:solidFill>
                  <a:srgbClr val="FDF8EA"/>
                </a:solidFill>
                <a:latin typeface="Poppins" pitchFamily="34" charset="0"/>
                <a:ea typeface="Poppins" pitchFamily="34" charset="-122"/>
                <a:cs typeface="Poppins" pitchFamily="34" charset="-120"/>
              </a:rPr>
              <a:t>Real-Time AI &amp; Software Pipeline</a:t>
            </a:r>
            <a:endParaRPr lang="en-US" sz="2600" dirty="0"/>
          </a:p>
          <a:p>
            <a:pPr indent="0" marL="0">
              <a:lnSpc>
                <a:spcPct val="108000"/>
              </a:lnSpc>
              <a:buNone/>
            </a:pPr>
            <a:r>
              <a:rPr lang="en-US" sz="2600" b="1" dirty="0">
                <a:solidFill>
                  <a:srgbClr val="FDF8EA"/>
                </a:solidFill>
                <a:latin typeface="Poppins" pitchFamily="34" charset="0"/>
                <a:ea typeface="Poppins" pitchFamily="34" charset="-122"/>
                <a:cs typeface="Poppins" pitchFamily="34" charset="-120"/>
              </a:rPr>
              <a:t>for Smart Extubation Early Warning</a:t>
            </a:r>
            <a:endParaRPr lang="en-US" sz="2600" dirty="0"/>
          </a:p>
        </p:txBody>
      </p:sp>
      <p:sp>
        <p:nvSpPr>
          <p:cNvPr id="6" name="Text 3"/>
          <p:cNvSpPr txBox="1"/>
          <p:nvPr/>
        </p:nvSpPr>
        <p:spPr>
          <a:xfrm>
            <a:off x="502920" y="2395728"/>
            <a:ext cx="5760720" cy="566928"/>
          </a:xfrm>
          <a:prstGeom prst="rect">
            <a:avLst/>
          </a:prstGeom>
          <a:noFill/>
          <a:ln/>
        </p:spPr>
        <p:txBody>
          <a:bodyPr wrap="square" lIns="0" tIns="0" rIns="0" bIns="0" rtlCol="0" anchor="ctr"/>
          <a:lstStyle/>
          <a:p>
            <a:pPr indent="0" marL="0">
              <a:lnSpc>
                <a:spcPct val="115000"/>
              </a:lnSpc>
              <a:buNone/>
            </a:pPr>
            <a:r>
              <a:rPr lang="en-US" sz="1250" dirty="0">
                <a:solidFill>
                  <a:srgbClr val="C9AE86"/>
                </a:solidFill>
                <a:latin typeface="Poppins" pitchFamily="34" charset="0"/>
                <a:ea typeface="Poppins" pitchFamily="34" charset="-122"/>
                <a:cs typeface="Poppins" pitchFamily="34" charset="-120"/>
              </a:rPr>
              <a:t>25-channel capacitive matrix ingestion, spatial-temporal classification and clinical annunciation</a:t>
            </a:r>
            <a:endParaRPr lang="en-US" sz="1250" dirty="0"/>
          </a:p>
        </p:txBody>
      </p:sp>
      <p:sp>
        <p:nvSpPr>
          <p:cNvPr id="7" name="Text 4"/>
          <p:cNvSpPr txBox="1"/>
          <p:nvPr/>
        </p:nvSpPr>
        <p:spPr>
          <a:xfrm>
            <a:off x="502920" y="3090672"/>
            <a:ext cx="5760720" cy="1508760"/>
          </a:xfrm>
          <a:prstGeom prst="rect">
            <a:avLst/>
          </a:prstGeom>
          <a:noFill/>
          <a:ln/>
        </p:spPr>
        <p:txBody>
          <a:bodyPr wrap="square" lIns="0" tIns="0" rIns="0" bIns="0" rtlCol="0" anchor="ctr"/>
          <a:lstStyle/>
          <a:p>
            <a:pPr marL="342900" indent="-342900">
              <a:lnSpc>
                <a:spcPct val="118000"/>
              </a:lnSpc>
              <a:spcAft>
                <a:spcPts val="700"/>
              </a:spcAft>
              <a:buSzPct val="100000"/>
              <a:buChar char="•"/>
            </a:pPr>
            <a:r>
              <a:rPr lang="en-US" sz="1150" dirty="0">
                <a:solidFill>
                  <a:srgbClr val="F5EBD8"/>
                </a:solidFill>
                <a:latin typeface="Poppins" pitchFamily="34" charset="0"/>
                <a:ea typeface="Poppins" pitchFamily="34" charset="-122"/>
                <a:cs typeface="Poppins" pitchFamily="34" charset="-120"/>
              </a:rPr>
              <a:t>Warns before an unplanned extubation, instead of recording it afterwards.</a:t>
            </a:r>
            <a:endParaRPr lang="en-US" sz="1150" dirty="0"/>
          </a:p>
          <a:p>
            <a:pPr marL="342900" indent="-342900">
              <a:lnSpc>
                <a:spcPct val="118000"/>
              </a:lnSpc>
              <a:spcAft>
                <a:spcPts val="700"/>
              </a:spcAft>
              <a:buSzPct val="100000"/>
              <a:buChar char="•"/>
            </a:pPr>
            <a:r>
              <a:rPr lang="en-US" sz="1150" dirty="0">
                <a:solidFill>
                  <a:srgbClr val="F5EBD8"/>
                </a:solidFill>
                <a:latin typeface="Poppins" pitchFamily="34" charset="0"/>
                <a:ea typeface="Poppins" pitchFamily="34" charset="-122"/>
                <a:cs typeface="Poppins" pitchFamily="34" charset="-120"/>
              </a:rPr>
              <a:t>Browser bridge, server-side inference, and an annunciator that decides when to speak.</a:t>
            </a:r>
            <a:endParaRPr lang="en-US" sz="1150" dirty="0"/>
          </a:p>
          <a:p>
            <a:pPr marL="342900" indent="-342900">
              <a:lnSpc>
                <a:spcPct val="118000"/>
              </a:lnSpc>
              <a:spcAft>
                <a:spcPts val="700"/>
              </a:spcAft>
              <a:buSzPct val="100000"/>
              <a:buChar char="•"/>
            </a:pPr>
            <a:r>
              <a:rPr lang="en-US" sz="1150" dirty="0">
                <a:solidFill>
                  <a:srgbClr val="F5EBD8"/>
                </a:solidFill>
                <a:latin typeface="Poppins" pitchFamily="34" charset="0"/>
                <a:ea typeface="Poppins" pitchFamily="34" charset="-122"/>
                <a:cs typeface="Poppins" pitchFamily="34" charset="-120"/>
              </a:rPr>
              <a:t>81 bench recordings: every pull episode caught, at 7.8 alarms an hour.</a:t>
            </a:r>
            <a:endParaRPr lang="en-US" sz="1150" dirty="0"/>
          </a:p>
        </p:txBody>
      </p:sp>
      <p:sp>
        <p:nvSpPr>
          <p:cNvPr id="8" name="Shape 5"/>
          <p:cNvSpPr/>
          <p:nvPr/>
        </p:nvSpPr>
        <p:spPr>
          <a:xfrm>
            <a:off x="502920" y="4901184"/>
            <a:ext cx="2651760" cy="274320"/>
          </a:xfrm>
          <a:prstGeom prst="roundRect">
            <a:avLst>
              <a:gd name="adj" fmla="val 50000"/>
            </a:avLst>
          </a:prstGeom>
          <a:solidFill>
            <a:srgbClr val="543110"/>
          </a:solidFill>
          <a:ln w="12700">
            <a:solidFill>
              <a:srgbClr val="3E6C8A"/>
            </a:solidFill>
            <a:prstDash val="solid"/>
          </a:ln>
        </p:spPr>
      </p:sp>
      <p:sp>
        <p:nvSpPr>
          <p:cNvPr id="9" name="Text 6"/>
          <p:cNvSpPr txBox="1"/>
          <p:nvPr/>
        </p:nvSpPr>
        <p:spPr>
          <a:xfrm>
            <a:off x="502920" y="4901184"/>
            <a:ext cx="26517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Asynchronous server pipeline</a:t>
            </a:r>
            <a:endParaRPr lang="en-US" sz="900" dirty="0"/>
          </a:p>
        </p:txBody>
      </p:sp>
      <p:sp>
        <p:nvSpPr>
          <p:cNvPr id="10" name="Shape 7"/>
          <p:cNvSpPr/>
          <p:nvPr/>
        </p:nvSpPr>
        <p:spPr>
          <a:xfrm>
            <a:off x="3291840" y="4901184"/>
            <a:ext cx="2651760" cy="274320"/>
          </a:xfrm>
          <a:prstGeom prst="roundRect">
            <a:avLst>
              <a:gd name="adj" fmla="val 50000"/>
            </a:avLst>
          </a:prstGeom>
          <a:solidFill>
            <a:srgbClr val="543110"/>
          </a:solidFill>
          <a:ln w="12700">
            <a:solidFill>
              <a:srgbClr val="3E6C8A"/>
            </a:solidFill>
            <a:prstDash val="solid"/>
          </a:ln>
        </p:spPr>
      </p:sp>
      <p:sp>
        <p:nvSpPr>
          <p:cNvPr id="11" name="Text 8"/>
          <p:cNvSpPr txBox="1"/>
          <p:nvPr/>
        </p:nvSpPr>
        <p:spPr>
          <a:xfrm>
            <a:off x="3291840" y="4901184"/>
            <a:ext cx="26517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Gradient-boosted tree ensemble</a:t>
            </a:r>
            <a:endParaRPr lang="en-US" sz="900" dirty="0"/>
          </a:p>
        </p:txBody>
      </p:sp>
      <p:sp>
        <p:nvSpPr>
          <p:cNvPr id="12" name="Shape 9"/>
          <p:cNvSpPr/>
          <p:nvPr/>
        </p:nvSpPr>
        <p:spPr>
          <a:xfrm>
            <a:off x="6080760" y="4901184"/>
            <a:ext cx="2651760" cy="274320"/>
          </a:xfrm>
          <a:prstGeom prst="roundRect">
            <a:avLst>
              <a:gd name="adj" fmla="val 50000"/>
            </a:avLst>
          </a:prstGeom>
          <a:solidFill>
            <a:srgbClr val="543110"/>
          </a:solidFill>
          <a:ln w="12700">
            <a:solidFill>
              <a:srgbClr val="3E6C8A"/>
            </a:solidFill>
            <a:prstDash val="solid"/>
          </a:ln>
        </p:spPr>
      </p:sp>
      <p:sp>
        <p:nvSpPr>
          <p:cNvPr id="13" name="Text 10"/>
          <p:cNvSpPr txBox="1"/>
          <p:nvPr/>
        </p:nvSpPr>
        <p:spPr>
          <a:xfrm>
            <a:off x="6080760" y="4901184"/>
            <a:ext cx="26517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Browser serial ingest</a:t>
            </a:r>
            <a:endParaRPr lang="en-US" sz="900" dirty="0"/>
          </a:p>
        </p:txBody>
      </p:sp>
      <p:sp>
        <p:nvSpPr>
          <p:cNvPr id="14" name="Shape 11"/>
          <p:cNvSpPr/>
          <p:nvPr/>
        </p:nvSpPr>
        <p:spPr>
          <a:xfrm>
            <a:off x="8869680" y="4901184"/>
            <a:ext cx="2651760" cy="274320"/>
          </a:xfrm>
          <a:prstGeom prst="roundRect">
            <a:avLst>
              <a:gd name="adj" fmla="val 50000"/>
            </a:avLst>
          </a:prstGeom>
          <a:solidFill>
            <a:srgbClr val="543110"/>
          </a:solidFill>
          <a:ln w="12700">
            <a:solidFill>
              <a:srgbClr val="3E6C8A"/>
            </a:solidFill>
            <a:prstDash val="solid"/>
          </a:ln>
        </p:spPr>
      </p:sp>
      <p:sp>
        <p:nvSpPr>
          <p:cNvPr id="15" name="Text 12"/>
          <p:cNvSpPr txBox="1"/>
          <p:nvPr/>
        </p:nvSpPr>
        <p:spPr>
          <a:xfrm>
            <a:off x="8869680" y="4901184"/>
            <a:ext cx="26517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0.127 ms per frame</a:t>
            </a:r>
            <a:endParaRPr lang="en-US" sz="900" dirty="0"/>
          </a:p>
        </p:txBody>
      </p:sp>
      <p:sp>
        <p:nvSpPr>
          <p:cNvPr id="16" name="Text 13"/>
          <p:cNvSpPr txBox="1"/>
          <p:nvPr/>
        </p:nvSpPr>
        <p:spPr>
          <a:xfrm>
            <a:off x="502920" y="5541264"/>
            <a:ext cx="6766560" cy="237744"/>
          </a:xfrm>
          <a:prstGeom prst="rect">
            <a:avLst/>
          </a:prstGeom>
          <a:noFill/>
          <a:ln/>
        </p:spPr>
        <p:txBody>
          <a:bodyPr wrap="square" lIns="0" tIns="0" rIns="0" bIns="0" rtlCol="0" anchor="ctr"/>
          <a:lstStyle/>
          <a:p>
            <a:pPr indent="0" marL="0">
              <a:buNone/>
            </a:pPr>
            <a:r>
              <a:rPr lang="en-US" sz="1100" b="1" dirty="0">
                <a:solidFill>
                  <a:srgbClr val="F5EBD8"/>
                </a:solidFill>
                <a:latin typeface="Poppins" pitchFamily="34" charset="0"/>
                <a:ea typeface="Poppins" pitchFamily="34" charset="-122"/>
                <a:cs typeface="Poppins" pitchFamily="34" charset="-120"/>
              </a:rPr>
              <a:t>Yuya Sakaguchi · Takayuki Fujita · Syoji Kobashi</a:t>
            </a:r>
            <a:endParaRPr lang="en-US" sz="1100" dirty="0"/>
          </a:p>
        </p:txBody>
      </p:sp>
      <p:sp>
        <p:nvSpPr>
          <p:cNvPr id="17" name="Text 14"/>
          <p:cNvSpPr txBox="1"/>
          <p:nvPr/>
        </p:nvSpPr>
        <p:spPr>
          <a:xfrm>
            <a:off x="502920" y="5779008"/>
            <a:ext cx="7680960" cy="237744"/>
          </a:xfrm>
          <a:prstGeom prst="rect">
            <a:avLst/>
          </a:prstGeom>
          <a:noFill/>
          <a:ln/>
        </p:spPr>
        <p:txBody>
          <a:bodyPr wrap="square" lIns="0" tIns="0" rIns="0" bIns="0" rtlCol="0" anchor="ctr"/>
          <a:lstStyle/>
          <a:p>
            <a:pPr indent="0" marL="0">
              <a:buNone/>
            </a:pPr>
            <a:r>
              <a:rPr lang="en-US" sz="1000" dirty="0">
                <a:solidFill>
                  <a:srgbClr val="C9AE86"/>
                </a:solidFill>
                <a:latin typeface="Poppins" pitchFamily="34" charset="0"/>
                <a:ea typeface="Poppins" pitchFamily="34" charset="-122"/>
                <a:cs typeface="Poppins" pitchFamily="34" charset="-120"/>
              </a:rPr>
              <a:t>University of Hyogo — Graduate School of Engineering / Advanced Medical Research Institute</a:t>
            </a:r>
            <a:endParaRPr lang="en-US" sz="1000" dirty="0"/>
          </a:p>
        </p:txBody>
      </p:sp>
      <p:sp>
        <p:nvSpPr>
          <p:cNvPr id="18" name="Text 15"/>
          <p:cNvSpPr txBox="1"/>
          <p:nvPr/>
        </p:nvSpPr>
        <p:spPr>
          <a:xfrm>
            <a:off x="7452360" y="5779008"/>
            <a:ext cx="4206240" cy="237744"/>
          </a:xfrm>
          <a:prstGeom prst="rect">
            <a:avLst/>
          </a:prstGeom>
          <a:noFill/>
          <a:ln/>
        </p:spPr>
        <p:txBody>
          <a:bodyPr wrap="square" lIns="0" tIns="0" rIns="0" bIns="0" rtlCol="0" anchor="ctr"/>
          <a:lstStyle/>
          <a:p>
            <a:pPr algn="r" indent="0" marL="0">
              <a:buNone/>
            </a:pPr>
            <a:r>
              <a:rPr lang="en-US" sz="1000" dirty="0">
                <a:solidFill>
                  <a:srgbClr val="8A6A4F"/>
                </a:solidFill>
                <a:latin typeface="Poppins" pitchFamily="34" charset="0"/>
                <a:ea typeface="Poppins" pitchFamily="34" charset="-122"/>
                <a:cs typeface="Poppins" pitchFamily="34" charset="-120"/>
              </a:rPr>
              <a:t>Biomedical Engineering Seminar · France · 12 September 2026</a:t>
            </a:r>
            <a:endParaRPr lang="en-US" sz="1000" dirty="0"/>
          </a:p>
        </p:txBody>
      </p:sp>
      <p:sp>
        <p:nvSpPr>
          <p:cNvPr id="19" name="Text 16"/>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C9AE86"/>
                </a:solidFill>
                <a:latin typeface="Poppins" pitchFamily="34" charset="0"/>
                <a:ea typeface="Poppins" pitchFamily="34" charset="-122"/>
                <a:cs typeface="Poppins" pitchFamily="34" charset="-120"/>
              </a:rPr>
              <a:t>The 25-pad dressing and its microcontroller board, from our own bench.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Background (1/2)</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What an unplanned extubation costs</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2</a:t>
            </a:r>
            <a:endParaRPr lang="en-US" sz="1500" dirty="0"/>
          </a:p>
        </p:txBody>
      </p:sp>
      <p:sp>
        <p:nvSpPr>
          <p:cNvPr id="8" name="Shape 6"/>
          <p:cNvSpPr/>
          <p:nvPr/>
        </p:nvSpPr>
        <p:spPr>
          <a:xfrm>
            <a:off x="502920" y="1554480"/>
            <a:ext cx="11155680" cy="1234440"/>
          </a:xfrm>
          <a:prstGeom prst="roundRect">
            <a:avLst>
              <a:gd name="adj" fmla="val 4444"/>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Shape 7"/>
          <p:cNvSpPr/>
          <p:nvPr/>
        </p:nvSpPr>
        <p:spPr>
          <a:xfrm>
            <a:off x="502920" y="1554480"/>
            <a:ext cx="82296" cy="1234440"/>
          </a:xfrm>
          <a:prstGeom prst="roundRect">
            <a:avLst>
              <a:gd name="adj" fmla="val 33333"/>
            </a:avLst>
          </a:prstGeom>
          <a:solidFill>
            <a:srgbClr val="8A6A4F"/>
          </a:solidFill>
          <a:ln w="12700">
            <a:solidFill>
              <a:srgbClr val="333333"/>
            </a:solidFill>
            <a:prstDash val="solid"/>
          </a:ln>
        </p:spPr>
      </p:sp>
      <p:sp>
        <p:nvSpPr>
          <p:cNvPr id="10" name="Text 8"/>
          <p:cNvSpPr txBox="1"/>
          <p:nvPr/>
        </p:nvSpPr>
        <p:spPr>
          <a:xfrm>
            <a:off x="886968" y="1792224"/>
            <a:ext cx="3108960" cy="365760"/>
          </a:xfrm>
          <a:prstGeom prst="rect">
            <a:avLst/>
          </a:prstGeom>
          <a:noFill/>
          <a:ln/>
        </p:spPr>
        <p:txBody>
          <a:bodyPr wrap="square" lIns="0" tIns="0" rIns="0" bIns="0" rtlCol="0" anchor="ctr"/>
          <a:lstStyle/>
          <a:p>
            <a:pPr indent="0" marL="0">
              <a:buNone/>
            </a:pPr>
            <a:r>
              <a:rPr lang="en-US" sz="1700" b="1" dirty="0">
                <a:solidFill>
                  <a:srgbClr val="3D1700"/>
                </a:solidFill>
                <a:latin typeface="Poppins" pitchFamily="34" charset="0"/>
                <a:ea typeface="Poppins" pitchFamily="34" charset="-122"/>
                <a:cs typeface="Poppins" pitchFamily="34" charset="-120"/>
              </a:rPr>
              <a:t>What it is</a:t>
            </a:r>
            <a:endParaRPr lang="en-US" sz="1700" dirty="0"/>
          </a:p>
        </p:txBody>
      </p:sp>
      <p:sp>
        <p:nvSpPr>
          <p:cNvPr id="11" name="Text 9"/>
          <p:cNvSpPr txBox="1"/>
          <p:nvPr/>
        </p:nvSpPr>
        <p:spPr>
          <a:xfrm>
            <a:off x="4160520" y="1792224"/>
            <a:ext cx="7452360" cy="768096"/>
          </a:xfrm>
          <a:prstGeom prst="rect">
            <a:avLst/>
          </a:prstGeom>
          <a:noFill/>
          <a:ln/>
        </p:spPr>
        <p:txBody>
          <a:bodyPr wrap="square" lIns="0" tIns="0" rIns="0" bIns="0" rtlCol="0" anchor="ctr"/>
          <a:lstStyle/>
          <a:p>
            <a:pPr indent="0" marL="0">
              <a:lnSpc>
                <a:spcPct val="120000"/>
              </a:lnSpc>
              <a:buNone/>
            </a:pPr>
            <a:r>
              <a:rPr lang="en-US" sz="1300" dirty="0">
                <a:solidFill>
                  <a:srgbClr val="543110"/>
                </a:solidFill>
                <a:latin typeface="Poppins" pitchFamily="34" charset="0"/>
                <a:ea typeface="Poppins" pitchFamily="34" charset="-122"/>
                <a:cs typeface="Poppins" pitchFamily="34" charset="-120"/>
              </a:rPr>
              <a:t>A patient removes their own breathing tube.</a:t>
            </a:r>
            <a:endParaRPr lang="en-US" sz="1300" dirty="0"/>
          </a:p>
        </p:txBody>
      </p:sp>
      <p:sp>
        <p:nvSpPr>
          <p:cNvPr id="12" name="Shape 10"/>
          <p:cNvSpPr/>
          <p:nvPr/>
        </p:nvSpPr>
        <p:spPr>
          <a:xfrm>
            <a:off x="502920" y="2971800"/>
            <a:ext cx="11155680" cy="1234440"/>
          </a:xfrm>
          <a:prstGeom prst="roundRect">
            <a:avLst>
              <a:gd name="adj" fmla="val 4444"/>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3" name="Shape 11"/>
          <p:cNvSpPr/>
          <p:nvPr/>
        </p:nvSpPr>
        <p:spPr>
          <a:xfrm>
            <a:off x="502920" y="2971800"/>
            <a:ext cx="82296" cy="1234440"/>
          </a:xfrm>
          <a:prstGeom prst="roundRect">
            <a:avLst>
              <a:gd name="adj" fmla="val 33333"/>
            </a:avLst>
          </a:prstGeom>
          <a:solidFill>
            <a:srgbClr val="B4762A"/>
          </a:solidFill>
          <a:ln w="12700">
            <a:solidFill>
              <a:srgbClr val="333333"/>
            </a:solidFill>
            <a:prstDash val="solid"/>
          </a:ln>
        </p:spPr>
      </p:sp>
      <p:sp>
        <p:nvSpPr>
          <p:cNvPr id="14" name="Text 12"/>
          <p:cNvSpPr txBox="1"/>
          <p:nvPr/>
        </p:nvSpPr>
        <p:spPr>
          <a:xfrm>
            <a:off x="886968" y="3209544"/>
            <a:ext cx="3108960" cy="365760"/>
          </a:xfrm>
          <a:prstGeom prst="rect">
            <a:avLst/>
          </a:prstGeom>
          <a:noFill/>
          <a:ln/>
        </p:spPr>
        <p:txBody>
          <a:bodyPr wrap="square" lIns="0" tIns="0" rIns="0" bIns="0" rtlCol="0" anchor="ctr"/>
          <a:lstStyle/>
          <a:p>
            <a:pPr indent="0" marL="0">
              <a:buNone/>
            </a:pPr>
            <a:r>
              <a:rPr lang="en-US" sz="1700" b="1" dirty="0">
                <a:solidFill>
                  <a:srgbClr val="3D1700"/>
                </a:solidFill>
                <a:latin typeface="Poppins" pitchFamily="34" charset="0"/>
                <a:ea typeface="Poppins" pitchFamily="34" charset="-122"/>
                <a:cs typeface="Poppins" pitchFamily="34" charset="-120"/>
              </a:rPr>
              <a:t>What follows</a:t>
            </a:r>
            <a:endParaRPr lang="en-US" sz="1700" dirty="0"/>
          </a:p>
        </p:txBody>
      </p:sp>
      <p:sp>
        <p:nvSpPr>
          <p:cNvPr id="15" name="Text 13"/>
          <p:cNvSpPr txBox="1"/>
          <p:nvPr/>
        </p:nvSpPr>
        <p:spPr>
          <a:xfrm>
            <a:off x="4160520" y="3209544"/>
            <a:ext cx="7452360" cy="768096"/>
          </a:xfrm>
          <a:prstGeom prst="rect">
            <a:avLst/>
          </a:prstGeom>
          <a:noFill/>
          <a:ln/>
        </p:spPr>
        <p:txBody>
          <a:bodyPr wrap="square" lIns="0" tIns="0" rIns="0" bIns="0" rtlCol="0" anchor="ctr"/>
          <a:lstStyle/>
          <a:p>
            <a:pPr indent="0" marL="0">
              <a:lnSpc>
                <a:spcPct val="120000"/>
              </a:lnSpc>
              <a:buNone/>
            </a:pPr>
            <a:r>
              <a:rPr lang="en-US" sz="1300" dirty="0">
                <a:solidFill>
                  <a:srgbClr val="543110"/>
                </a:solidFill>
                <a:latin typeface="Poppins" pitchFamily="34" charset="0"/>
                <a:ea typeface="Poppins" pitchFamily="34" charset="-122"/>
                <a:cs typeface="Poppins" pitchFamily="34" charset="-120"/>
              </a:rPr>
              <a:t>Bleeding and infection. Re-intervention, and the cost that comes with it.</a:t>
            </a:r>
            <a:endParaRPr lang="en-US" sz="1300" dirty="0"/>
          </a:p>
        </p:txBody>
      </p:sp>
      <p:sp>
        <p:nvSpPr>
          <p:cNvPr id="16" name="Shape 14"/>
          <p:cNvSpPr/>
          <p:nvPr/>
        </p:nvSpPr>
        <p:spPr>
          <a:xfrm>
            <a:off x="502920" y="4389120"/>
            <a:ext cx="11155680" cy="1234440"/>
          </a:xfrm>
          <a:prstGeom prst="roundRect">
            <a:avLst>
              <a:gd name="adj" fmla="val 4444"/>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7" name="Shape 15"/>
          <p:cNvSpPr/>
          <p:nvPr/>
        </p:nvSpPr>
        <p:spPr>
          <a:xfrm>
            <a:off x="502920" y="4389120"/>
            <a:ext cx="82296" cy="1234440"/>
          </a:xfrm>
          <a:prstGeom prst="roundRect">
            <a:avLst>
              <a:gd name="adj" fmla="val 33333"/>
            </a:avLst>
          </a:prstGeom>
          <a:solidFill>
            <a:srgbClr val="A3301F"/>
          </a:solidFill>
          <a:ln w="12700">
            <a:solidFill>
              <a:srgbClr val="333333"/>
            </a:solidFill>
            <a:prstDash val="solid"/>
          </a:ln>
        </p:spPr>
      </p:sp>
      <p:sp>
        <p:nvSpPr>
          <p:cNvPr id="18" name="Text 16"/>
          <p:cNvSpPr txBox="1"/>
          <p:nvPr/>
        </p:nvSpPr>
        <p:spPr>
          <a:xfrm>
            <a:off x="886968" y="4626864"/>
            <a:ext cx="3108960" cy="365760"/>
          </a:xfrm>
          <a:prstGeom prst="rect">
            <a:avLst/>
          </a:prstGeom>
          <a:noFill/>
          <a:ln/>
        </p:spPr>
        <p:txBody>
          <a:bodyPr wrap="square" lIns="0" tIns="0" rIns="0" bIns="0" rtlCol="0" anchor="ctr"/>
          <a:lstStyle/>
          <a:p>
            <a:pPr indent="0" marL="0">
              <a:buNone/>
            </a:pPr>
            <a:r>
              <a:rPr lang="en-US" sz="1700" b="1" dirty="0">
                <a:solidFill>
                  <a:srgbClr val="3D1700"/>
                </a:solidFill>
                <a:latin typeface="Poppins" pitchFamily="34" charset="0"/>
                <a:ea typeface="Poppins" pitchFamily="34" charset="-122"/>
                <a:cs typeface="Poppins" pitchFamily="34" charset="-120"/>
              </a:rPr>
              <a:t>Why it cannot wait</a:t>
            </a:r>
            <a:endParaRPr lang="en-US" sz="1700" dirty="0"/>
          </a:p>
        </p:txBody>
      </p:sp>
      <p:sp>
        <p:nvSpPr>
          <p:cNvPr id="19" name="Text 17"/>
          <p:cNvSpPr txBox="1"/>
          <p:nvPr/>
        </p:nvSpPr>
        <p:spPr>
          <a:xfrm>
            <a:off x="4160520" y="4626864"/>
            <a:ext cx="7452360" cy="768096"/>
          </a:xfrm>
          <a:prstGeom prst="rect">
            <a:avLst/>
          </a:prstGeom>
          <a:noFill/>
          <a:ln/>
        </p:spPr>
        <p:txBody>
          <a:bodyPr wrap="square" lIns="0" tIns="0" rIns="0" bIns="0" rtlCol="0" anchor="ctr"/>
          <a:lstStyle/>
          <a:p>
            <a:pPr indent="0" marL="0">
              <a:lnSpc>
                <a:spcPct val="120000"/>
              </a:lnSpc>
              <a:buNone/>
            </a:pPr>
            <a:r>
              <a:rPr lang="en-US" sz="1300" dirty="0">
                <a:solidFill>
                  <a:srgbClr val="543110"/>
                </a:solidFill>
                <a:latin typeface="Poppins" pitchFamily="34" charset="0"/>
                <a:ea typeface="Poppins" pitchFamily="34" charset="-122"/>
                <a:cs typeface="Poppins" pitchFamily="34" charset="-120"/>
              </a:rPr>
              <a:t>With an endotracheal tube, removal can be serious immediately.</a:t>
            </a:r>
            <a:endParaRPr lang="en-US" sz="1300" dirty="0"/>
          </a:p>
        </p:txBody>
      </p:sp>
      <p:sp>
        <p:nvSpPr>
          <p:cNvPr id="20" name="Text 18"/>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Background as set out in this group's KES 2025 presentation.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Background (2/2)</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Every countermeasure in use today trades one harm for another</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3</a:t>
            </a:r>
            <a:endParaRPr lang="en-US" sz="1500" dirty="0"/>
          </a:p>
        </p:txBody>
      </p:sp>
      <p:sp>
        <p:nvSpPr>
          <p:cNvPr id="8" name="Shape 6"/>
          <p:cNvSpPr/>
          <p:nvPr/>
        </p:nvSpPr>
        <p:spPr>
          <a:xfrm>
            <a:off x="502920" y="1737360"/>
            <a:ext cx="3547872" cy="2286000"/>
          </a:xfrm>
          <a:prstGeom prst="roundRect">
            <a:avLst>
              <a:gd name="adj" fmla="val 2400"/>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777240" y="2148840"/>
            <a:ext cx="2999232" cy="822960"/>
          </a:xfrm>
          <a:prstGeom prst="rect">
            <a:avLst/>
          </a:prstGeom>
          <a:noFill/>
          <a:ln/>
        </p:spPr>
        <p:txBody>
          <a:bodyPr wrap="square" lIns="0" tIns="0" rIns="0" bIns="0" rtlCol="0" anchor="ctr"/>
          <a:lstStyle/>
          <a:p>
            <a:pPr algn="ctr" indent="0" marL="0">
              <a:buNone/>
            </a:pPr>
            <a:r>
              <a:rPr lang="en-US" sz="2000" b="1" dirty="0">
                <a:solidFill>
                  <a:srgbClr val="3D1700"/>
                </a:solidFill>
                <a:latin typeface="Poppins" pitchFamily="34" charset="0"/>
                <a:ea typeface="Poppins" pitchFamily="34" charset="-122"/>
                <a:cs typeface="Poppins" pitchFamily="34" charset="-120"/>
              </a:rPr>
              <a:t>Nursing rounds</a:t>
            </a:r>
            <a:endParaRPr lang="en-US" sz="2000" dirty="0"/>
          </a:p>
        </p:txBody>
      </p:sp>
      <p:sp>
        <p:nvSpPr>
          <p:cNvPr id="10" name="Shape 8"/>
          <p:cNvSpPr/>
          <p:nvPr/>
        </p:nvSpPr>
        <p:spPr>
          <a:xfrm>
            <a:off x="1819656" y="3017520"/>
            <a:ext cx="914400" cy="10973"/>
          </a:xfrm>
          <a:prstGeom prst="rect">
            <a:avLst/>
          </a:prstGeom>
          <a:solidFill>
            <a:srgbClr val="DFCEA9"/>
          </a:solidFill>
          <a:ln w="12700">
            <a:solidFill>
              <a:srgbClr val="333333"/>
            </a:solidFill>
            <a:prstDash val="solid"/>
          </a:ln>
        </p:spPr>
      </p:sp>
      <p:sp>
        <p:nvSpPr>
          <p:cNvPr id="11" name="Text 9"/>
          <p:cNvSpPr txBox="1"/>
          <p:nvPr/>
        </p:nvSpPr>
        <p:spPr>
          <a:xfrm>
            <a:off x="777240" y="3200400"/>
            <a:ext cx="2999232" cy="457200"/>
          </a:xfrm>
          <a:prstGeom prst="rect">
            <a:avLst/>
          </a:prstGeom>
          <a:noFill/>
          <a:ln/>
        </p:spPr>
        <p:txBody>
          <a:bodyPr wrap="square" lIns="0" tIns="0" rIns="0" bIns="0" rtlCol="0" anchor="ctr"/>
          <a:lstStyle/>
          <a:p>
            <a:pPr algn="ctr" indent="0" marL="0">
              <a:buNone/>
            </a:pPr>
            <a:r>
              <a:rPr lang="en-US" sz="1300" b="1" dirty="0">
                <a:solidFill>
                  <a:srgbClr val="B4762A"/>
                </a:solidFill>
                <a:latin typeface="Poppins" pitchFamily="34" charset="0"/>
                <a:ea typeface="Poppins" pitchFamily="34" charset="-122"/>
                <a:cs typeface="Poppins" pitchFamily="34" charset="-120"/>
              </a:rPr>
              <a:t>High burden on staff</a:t>
            </a:r>
            <a:endParaRPr lang="en-US" sz="1300" dirty="0"/>
          </a:p>
        </p:txBody>
      </p:sp>
      <p:sp>
        <p:nvSpPr>
          <p:cNvPr id="12" name="Shape 10"/>
          <p:cNvSpPr/>
          <p:nvPr/>
        </p:nvSpPr>
        <p:spPr>
          <a:xfrm>
            <a:off x="4306824" y="1737360"/>
            <a:ext cx="3547872" cy="2286000"/>
          </a:xfrm>
          <a:prstGeom prst="roundRect">
            <a:avLst>
              <a:gd name="adj" fmla="val 2400"/>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3" name="Text 11"/>
          <p:cNvSpPr txBox="1"/>
          <p:nvPr/>
        </p:nvSpPr>
        <p:spPr>
          <a:xfrm>
            <a:off x="4581144" y="2148840"/>
            <a:ext cx="2999232" cy="822960"/>
          </a:xfrm>
          <a:prstGeom prst="rect">
            <a:avLst/>
          </a:prstGeom>
          <a:noFill/>
          <a:ln/>
        </p:spPr>
        <p:txBody>
          <a:bodyPr wrap="square" lIns="0" tIns="0" rIns="0" bIns="0" rtlCol="0" anchor="ctr"/>
          <a:lstStyle/>
          <a:p>
            <a:pPr algn="ctr" indent="0" marL="0">
              <a:buNone/>
            </a:pPr>
            <a:r>
              <a:rPr lang="en-US" sz="2000" b="1" dirty="0">
                <a:solidFill>
                  <a:srgbClr val="3D1700"/>
                </a:solidFill>
                <a:latin typeface="Poppins" pitchFamily="34" charset="0"/>
                <a:ea typeface="Poppins" pitchFamily="34" charset="-122"/>
                <a:cs typeface="Poppins" pitchFamily="34" charset="-120"/>
              </a:rPr>
              <a:t>Reinforced fixation</a:t>
            </a:r>
            <a:endParaRPr lang="en-US" sz="2000" dirty="0"/>
          </a:p>
        </p:txBody>
      </p:sp>
      <p:sp>
        <p:nvSpPr>
          <p:cNvPr id="14" name="Shape 12"/>
          <p:cNvSpPr/>
          <p:nvPr/>
        </p:nvSpPr>
        <p:spPr>
          <a:xfrm>
            <a:off x="5623560" y="3017520"/>
            <a:ext cx="914400" cy="10973"/>
          </a:xfrm>
          <a:prstGeom prst="rect">
            <a:avLst/>
          </a:prstGeom>
          <a:solidFill>
            <a:srgbClr val="DFCEA9"/>
          </a:solidFill>
          <a:ln w="12700">
            <a:solidFill>
              <a:srgbClr val="333333"/>
            </a:solidFill>
            <a:prstDash val="solid"/>
          </a:ln>
        </p:spPr>
      </p:sp>
      <p:sp>
        <p:nvSpPr>
          <p:cNvPr id="15" name="Text 13"/>
          <p:cNvSpPr txBox="1"/>
          <p:nvPr/>
        </p:nvSpPr>
        <p:spPr>
          <a:xfrm>
            <a:off x="4581144" y="3200400"/>
            <a:ext cx="2999232" cy="457200"/>
          </a:xfrm>
          <a:prstGeom prst="rect">
            <a:avLst/>
          </a:prstGeom>
          <a:noFill/>
          <a:ln/>
        </p:spPr>
        <p:txBody>
          <a:bodyPr wrap="square" lIns="0" tIns="0" rIns="0" bIns="0" rtlCol="0" anchor="ctr"/>
          <a:lstStyle/>
          <a:p>
            <a:pPr algn="ctr" indent="0" marL="0">
              <a:buNone/>
            </a:pPr>
            <a:r>
              <a:rPr lang="en-US" sz="1300" b="1" dirty="0">
                <a:solidFill>
                  <a:srgbClr val="B4762A"/>
                </a:solidFill>
                <a:latin typeface="Poppins" pitchFamily="34" charset="0"/>
                <a:ea typeface="Poppins" pitchFamily="34" charset="-122"/>
                <a:cs typeface="Poppins" pitchFamily="34" charset="-120"/>
              </a:rPr>
              <a:t>Skin inflammation</a:t>
            </a:r>
            <a:endParaRPr lang="en-US" sz="1300" dirty="0"/>
          </a:p>
        </p:txBody>
      </p:sp>
      <p:sp>
        <p:nvSpPr>
          <p:cNvPr id="16" name="Shape 14"/>
          <p:cNvSpPr/>
          <p:nvPr/>
        </p:nvSpPr>
        <p:spPr>
          <a:xfrm>
            <a:off x="8110728" y="1737360"/>
            <a:ext cx="3547872" cy="2286000"/>
          </a:xfrm>
          <a:prstGeom prst="roundRect">
            <a:avLst>
              <a:gd name="adj" fmla="val 2400"/>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7" name="Text 15"/>
          <p:cNvSpPr txBox="1"/>
          <p:nvPr/>
        </p:nvSpPr>
        <p:spPr>
          <a:xfrm>
            <a:off x="8385048" y="2148840"/>
            <a:ext cx="2999232" cy="822960"/>
          </a:xfrm>
          <a:prstGeom prst="rect">
            <a:avLst/>
          </a:prstGeom>
          <a:noFill/>
          <a:ln/>
        </p:spPr>
        <p:txBody>
          <a:bodyPr wrap="square" lIns="0" tIns="0" rIns="0" bIns="0" rtlCol="0" anchor="ctr"/>
          <a:lstStyle/>
          <a:p>
            <a:pPr algn="ctr" indent="0" marL="0">
              <a:buNone/>
            </a:pPr>
            <a:r>
              <a:rPr lang="en-US" sz="2000" b="1" dirty="0">
                <a:solidFill>
                  <a:srgbClr val="3D1700"/>
                </a:solidFill>
                <a:latin typeface="Poppins" pitchFamily="34" charset="0"/>
                <a:ea typeface="Poppins" pitchFamily="34" charset="-122"/>
                <a:cs typeface="Poppins" pitchFamily="34" charset="-120"/>
              </a:rPr>
              <a:t>Physical restraint</a:t>
            </a:r>
            <a:endParaRPr lang="en-US" sz="2000" dirty="0"/>
          </a:p>
        </p:txBody>
      </p:sp>
      <p:sp>
        <p:nvSpPr>
          <p:cNvPr id="18" name="Shape 16"/>
          <p:cNvSpPr/>
          <p:nvPr/>
        </p:nvSpPr>
        <p:spPr>
          <a:xfrm>
            <a:off x="9427464" y="3017520"/>
            <a:ext cx="914400" cy="10973"/>
          </a:xfrm>
          <a:prstGeom prst="rect">
            <a:avLst/>
          </a:prstGeom>
          <a:solidFill>
            <a:srgbClr val="DFCEA9"/>
          </a:solidFill>
          <a:ln w="12700">
            <a:solidFill>
              <a:srgbClr val="333333"/>
            </a:solidFill>
            <a:prstDash val="solid"/>
          </a:ln>
        </p:spPr>
      </p:sp>
      <p:sp>
        <p:nvSpPr>
          <p:cNvPr id="19" name="Text 17"/>
          <p:cNvSpPr txBox="1"/>
          <p:nvPr/>
        </p:nvSpPr>
        <p:spPr>
          <a:xfrm>
            <a:off x="8385048" y="3200400"/>
            <a:ext cx="2999232" cy="457200"/>
          </a:xfrm>
          <a:prstGeom prst="rect">
            <a:avLst/>
          </a:prstGeom>
          <a:noFill/>
          <a:ln/>
        </p:spPr>
        <p:txBody>
          <a:bodyPr wrap="square" lIns="0" tIns="0" rIns="0" bIns="0" rtlCol="0" anchor="ctr"/>
          <a:lstStyle/>
          <a:p>
            <a:pPr algn="ctr" indent="0" marL="0">
              <a:buNone/>
            </a:pPr>
            <a:r>
              <a:rPr lang="en-US" sz="1300" b="1" dirty="0">
                <a:solidFill>
                  <a:srgbClr val="A3301F"/>
                </a:solidFill>
                <a:latin typeface="Poppins" pitchFamily="34" charset="0"/>
                <a:ea typeface="Poppins" pitchFamily="34" charset="-122"/>
                <a:cs typeface="Poppins" pitchFamily="34" charset="-120"/>
              </a:rPr>
              <a:t>Ethical problems</a:t>
            </a:r>
            <a:endParaRPr lang="en-US" sz="1300" dirty="0"/>
          </a:p>
        </p:txBody>
      </p:sp>
      <p:sp>
        <p:nvSpPr>
          <p:cNvPr id="20" name="Shape 18"/>
          <p:cNvSpPr/>
          <p:nvPr/>
        </p:nvSpPr>
        <p:spPr>
          <a:xfrm>
            <a:off x="502920" y="4480560"/>
            <a:ext cx="11155680" cy="1097280"/>
          </a:xfrm>
          <a:prstGeom prst="roundRect">
            <a:avLst>
              <a:gd name="adj" fmla="val 5000"/>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1" name="Text 19"/>
          <p:cNvSpPr txBox="1"/>
          <p:nvPr/>
        </p:nvSpPr>
        <p:spPr>
          <a:xfrm>
            <a:off x="868680" y="4645152"/>
            <a:ext cx="10424160" cy="365760"/>
          </a:xfrm>
          <a:prstGeom prst="rect">
            <a:avLst/>
          </a:prstGeom>
          <a:noFill/>
          <a:ln/>
        </p:spPr>
        <p:txBody>
          <a:bodyPr wrap="square" lIns="0" tIns="0" rIns="0" bIns="0" rtlCol="0" anchor="ctr"/>
          <a:lstStyle/>
          <a:p>
            <a:pPr indent="0" marL="0">
              <a:buNone/>
            </a:pPr>
            <a:r>
              <a:rPr lang="en-US" sz="2000" b="1" dirty="0">
                <a:solidFill>
                  <a:srgbClr val="3D1700"/>
                </a:solidFill>
                <a:latin typeface="Poppins" pitchFamily="34" charset="0"/>
                <a:ea typeface="Poppins" pitchFamily="34" charset="-122"/>
                <a:cs typeface="Poppins" pitchFamily="34" charset="-120"/>
              </a:rPr>
              <a:t>There are limits to what the ward can do on its own.</a:t>
            </a:r>
            <a:endParaRPr lang="en-US" sz="2000" dirty="0"/>
          </a:p>
        </p:txBody>
      </p:sp>
      <p:sp>
        <p:nvSpPr>
          <p:cNvPr id="22" name="Text 20"/>
          <p:cNvSpPr txBox="1"/>
          <p:nvPr/>
        </p:nvSpPr>
        <p:spPr>
          <a:xfrm>
            <a:off x="868680" y="5047488"/>
            <a:ext cx="10424160" cy="365760"/>
          </a:xfrm>
          <a:prstGeom prst="rect">
            <a:avLst/>
          </a:prstGeom>
          <a:noFill/>
          <a:ln/>
        </p:spPr>
        <p:txBody>
          <a:bodyPr wrap="square" lIns="0" tIns="0" rIns="0" bIns="0" rtlCol="0" anchor="ctr"/>
          <a:lstStyle/>
          <a:p>
            <a:pPr indent="0" marL="0">
              <a:buNone/>
            </a:pPr>
            <a:r>
              <a:rPr lang="en-US" sz="1300" dirty="0">
                <a:solidFill>
                  <a:srgbClr val="543110"/>
                </a:solidFill>
                <a:latin typeface="Poppins" pitchFamily="34" charset="0"/>
                <a:ea typeface="Poppins" pitchFamily="34" charset="-122"/>
                <a:cs typeface="Poppins" pitchFamily="34" charset="-120"/>
              </a:rPr>
              <a:t>Automatic detection is the remaining route.</a:t>
            </a:r>
            <a:endParaRPr lang="en-US" sz="1300" dirty="0"/>
          </a:p>
        </p:txBody>
      </p:sp>
      <p:sp>
        <p:nvSpPr>
          <p:cNvPr id="23" name="Text 21"/>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Countermeasures and their costs as set out in this group's KES 2025 presentation.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Previous Research</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Three attempts, and what each one leaves open</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4</a:t>
            </a:r>
            <a:endParaRPr lang="en-US" sz="1500" dirty="0"/>
          </a:p>
        </p:txBody>
      </p:sp>
      <p:sp>
        <p:nvSpPr>
          <p:cNvPr id="8" name="Shape 6"/>
          <p:cNvSpPr/>
          <p:nvPr/>
        </p:nvSpPr>
        <p:spPr>
          <a:xfrm>
            <a:off x="502920" y="1481328"/>
            <a:ext cx="11155680" cy="1078992"/>
          </a:xfrm>
          <a:prstGeom prst="roundRect">
            <a:avLst>
              <a:gd name="adj" fmla="val 5085"/>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795528" y="1664208"/>
            <a:ext cx="3749040" cy="329184"/>
          </a:xfrm>
          <a:prstGeom prst="rect">
            <a:avLst/>
          </a:prstGeom>
          <a:noFill/>
          <a:ln/>
        </p:spPr>
        <p:txBody>
          <a:bodyPr wrap="square" lIns="0" tIns="0" rIns="0" bIns="0" rtlCol="0" anchor="ctr"/>
          <a:lstStyle/>
          <a:p>
            <a:pPr indent="0" marL="0">
              <a:buNone/>
            </a:pPr>
            <a:r>
              <a:rPr lang="en-US" sz="1500" b="1" dirty="0">
                <a:solidFill>
                  <a:srgbClr val="3D1700"/>
                </a:solidFill>
                <a:latin typeface="Poppins" pitchFamily="34" charset="0"/>
                <a:ea typeface="Poppins" pitchFamily="34" charset="-122"/>
                <a:cs typeface="Poppins" pitchFamily="34" charset="-120"/>
              </a:rPr>
              <a:t>RFID tag on the line</a:t>
            </a:r>
            <a:endParaRPr lang="en-US" sz="1500" dirty="0"/>
          </a:p>
        </p:txBody>
      </p:sp>
      <p:sp>
        <p:nvSpPr>
          <p:cNvPr id="10" name="Text 8"/>
          <p:cNvSpPr txBox="1"/>
          <p:nvPr/>
        </p:nvSpPr>
        <p:spPr>
          <a:xfrm>
            <a:off x="795528" y="2029968"/>
            <a:ext cx="3749040" cy="274320"/>
          </a:xfrm>
          <a:prstGeom prst="rect">
            <a:avLst/>
          </a:prstGeom>
          <a:noFill/>
          <a:ln/>
        </p:spPr>
        <p:txBody>
          <a:bodyPr wrap="square" lIns="0" tIns="0" rIns="0" bIns="0" rtlCol="0" anchor="ctr"/>
          <a:lstStyle/>
          <a:p>
            <a:pPr indent="0" marL="0">
              <a:buNone/>
            </a:pPr>
            <a:r>
              <a:rPr lang="en-US" sz="950" i="1" dirty="0">
                <a:solidFill>
                  <a:srgbClr val="7A5A3F"/>
                </a:solidFill>
                <a:latin typeface="Poppins" pitchFamily="34" charset="0"/>
                <a:ea typeface="Poppins" pitchFamily="34" charset="-122"/>
                <a:cs typeface="Poppins" pitchFamily="34" charset="-120"/>
              </a:rPr>
              <a:t>Nakajima &amp; Takahashi, 2015</a:t>
            </a:r>
            <a:endParaRPr lang="en-US" sz="950" dirty="0"/>
          </a:p>
        </p:txBody>
      </p:sp>
      <p:sp>
        <p:nvSpPr>
          <p:cNvPr id="11" name="Text 9"/>
          <p:cNvSpPr txBox="1"/>
          <p:nvPr/>
        </p:nvSpPr>
        <p:spPr>
          <a:xfrm>
            <a:off x="4800600" y="1664208"/>
            <a:ext cx="6812280" cy="731520"/>
          </a:xfrm>
          <a:prstGeom prst="rect">
            <a:avLst/>
          </a:prstGeom>
          <a:noFill/>
          <a:ln/>
        </p:spPr>
        <p:txBody>
          <a:bodyPr wrap="square" lIns="0" tIns="0" rIns="0" bIns="0" rtlCol="0" anchor="ctr"/>
          <a:lstStyle/>
          <a:p>
            <a:pPr indent="0" marL="0">
              <a:lnSpc>
                <a:spcPct val="118000"/>
              </a:lnSpc>
              <a:buNone/>
            </a:pPr>
            <a:r>
              <a:rPr lang="en-US" sz="1250" dirty="0">
                <a:solidFill>
                  <a:srgbClr val="543110"/>
                </a:solidFill>
                <a:latin typeface="Poppins" pitchFamily="34" charset="0"/>
                <a:ea typeface="Poppins" pitchFamily="34" charset="-122"/>
                <a:cs typeface="Poppins" pitchFamily="34" charset="-120"/>
              </a:rPr>
              <a:t>Detects removal, not the approach to it.</a:t>
            </a:r>
            <a:endParaRPr lang="en-US" sz="1250" dirty="0"/>
          </a:p>
        </p:txBody>
      </p:sp>
      <p:sp>
        <p:nvSpPr>
          <p:cNvPr id="12" name="Shape 10"/>
          <p:cNvSpPr/>
          <p:nvPr/>
        </p:nvSpPr>
        <p:spPr>
          <a:xfrm>
            <a:off x="502920" y="2724912"/>
            <a:ext cx="11155680" cy="1078992"/>
          </a:xfrm>
          <a:prstGeom prst="roundRect">
            <a:avLst>
              <a:gd name="adj" fmla="val 5085"/>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3" name="Text 11"/>
          <p:cNvSpPr txBox="1"/>
          <p:nvPr/>
        </p:nvSpPr>
        <p:spPr>
          <a:xfrm>
            <a:off x="795528" y="2907792"/>
            <a:ext cx="3749040" cy="329184"/>
          </a:xfrm>
          <a:prstGeom prst="rect">
            <a:avLst/>
          </a:prstGeom>
          <a:noFill/>
          <a:ln/>
        </p:spPr>
        <p:txBody>
          <a:bodyPr wrap="square" lIns="0" tIns="0" rIns="0" bIns="0" rtlCol="0" anchor="ctr"/>
          <a:lstStyle/>
          <a:p>
            <a:pPr indent="0" marL="0">
              <a:buNone/>
            </a:pPr>
            <a:r>
              <a:rPr lang="en-US" sz="1500" b="1" dirty="0">
                <a:solidFill>
                  <a:srgbClr val="3D1700"/>
                </a:solidFill>
                <a:latin typeface="Poppins" pitchFamily="34" charset="0"/>
                <a:ea typeface="Poppins" pitchFamily="34" charset="-122"/>
                <a:cs typeface="Poppins" pitchFamily="34" charset="-120"/>
              </a:rPr>
              <a:t>Camera and deep learning</a:t>
            </a:r>
            <a:endParaRPr lang="en-US" sz="1500" dirty="0"/>
          </a:p>
        </p:txBody>
      </p:sp>
      <p:sp>
        <p:nvSpPr>
          <p:cNvPr id="14" name="Text 12"/>
          <p:cNvSpPr txBox="1"/>
          <p:nvPr/>
        </p:nvSpPr>
        <p:spPr>
          <a:xfrm>
            <a:off x="795528" y="3273552"/>
            <a:ext cx="3749040" cy="274320"/>
          </a:xfrm>
          <a:prstGeom prst="rect">
            <a:avLst/>
          </a:prstGeom>
          <a:noFill/>
          <a:ln/>
        </p:spPr>
        <p:txBody>
          <a:bodyPr wrap="square" lIns="0" tIns="0" rIns="0" bIns="0" rtlCol="0" anchor="ctr"/>
          <a:lstStyle/>
          <a:p>
            <a:pPr indent="0" marL="0">
              <a:buNone/>
            </a:pPr>
            <a:r>
              <a:rPr lang="en-US" sz="950" i="1" dirty="0">
                <a:solidFill>
                  <a:srgbClr val="7A5A3F"/>
                </a:solidFill>
                <a:latin typeface="Poppins" pitchFamily="34" charset="0"/>
                <a:ea typeface="Poppins" pitchFamily="34" charset="-122"/>
                <a:cs typeface="Poppins" pitchFamily="34" charset="-120"/>
              </a:rPr>
              <a:t>Yang et al.</a:t>
            </a:r>
            <a:endParaRPr lang="en-US" sz="950" dirty="0"/>
          </a:p>
        </p:txBody>
      </p:sp>
      <p:sp>
        <p:nvSpPr>
          <p:cNvPr id="15" name="Text 13"/>
          <p:cNvSpPr txBox="1"/>
          <p:nvPr/>
        </p:nvSpPr>
        <p:spPr>
          <a:xfrm>
            <a:off x="4800600" y="2907792"/>
            <a:ext cx="6812280" cy="731520"/>
          </a:xfrm>
          <a:prstGeom prst="rect">
            <a:avLst/>
          </a:prstGeom>
          <a:noFill/>
          <a:ln/>
        </p:spPr>
        <p:txBody>
          <a:bodyPr wrap="square" lIns="0" tIns="0" rIns="0" bIns="0" rtlCol="0" anchor="ctr"/>
          <a:lstStyle/>
          <a:p>
            <a:pPr indent="0" marL="0">
              <a:lnSpc>
                <a:spcPct val="118000"/>
              </a:lnSpc>
              <a:buNone/>
            </a:pPr>
            <a:r>
              <a:rPr lang="en-US" sz="1250" dirty="0">
                <a:solidFill>
                  <a:srgbClr val="543110"/>
                </a:solidFill>
                <a:latin typeface="Poppins" pitchFamily="34" charset="0"/>
                <a:ea typeface="Poppins" pitchFamily="34" charset="-122"/>
                <a:cs typeface="Poppins" pitchFamily="34" charset="-120"/>
              </a:rPr>
              <a:t>Early warning shown, at the cost of continuous video of a patient.</a:t>
            </a:r>
            <a:endParaRPr lang="en-US" sz="1250" dirty="0"/>
          </a:p>
        </p:txBody>
      </p:sp>
      <p:sp>
        <p:nvSpPr>
          <p:cNvPr id="16" name="Shape 14"/>
          <p:cNvSpPr/>
          <p:nvPr/>
        </p:nvSpPr>
        <p:spPr>
          <a:xfrm>
            <a:off x="502920" y="3968496"/>
            <a:ext cx="11155680" cy="1078992"/>
          </a:xfrm>
          <a:prstGeom prst="roundRect">
            <a:avLst>
              <a:gd name="adj" fmla="val 5085"/>
            </a:avLst>
          </a:prstGeom>
          <a:solidFill>
            <a:srgbClr val="F4EAD2"/>
          </a:solidFill>
          <a:ln w="12700">
            <a:solidFill>
              <a:srgbClr val="8A6A4F"/>
            </a:solidFill>
            <a:prstDash val="solid"/>
          </a:ln>
          <a:effectLst>
            <a:outerShdw sx="100000" sy="100000" kx="0" ky="0" algn="bl" rotWithShape="0" blurRad="127000" dist="25400" dir="5400000">
              <a:srgbClr val="3D1700">
                <a:alpha val="13000"/>
              </a:srgbClr>
            </a:outerShdw>
          </a:effectLst>
        </p:spPr>
      </p:sp>
      <p:sp>
        <p:nvSpPr>
          <p:cNvPr id="17" name="Text 15"/>
          <p:cNvSpPr txBox="1"/>
          <p:nvPr/>
        </p:nvSpPr>
        <p:spPr>
          <a:xfrm>
            <a:off x="795528" y="4151376"/>
            <a:ext cx="3749040" cy="329184"/>
          </a:xfrm>
          <a:prstGeom prst="rect">
            <a:avLst/>
          </a:prstGeom>
          <a:noFill/>
          <a:ln/>
        </p:spPr>
        <p:txBody>
          <a:bodyPr wrap="square" lIns="0" tIns="0" rIns="0" bIns="0" rtlCol="0" anchor="ctr"/>
          <a:lstStyle/>
          <a:p>
            <a:pPr indent="0" marL="0">
              <a:buNone/>
            </a:pPr>
            <a:r>
              <a:rPr lang="en-US" sz="1500" b="1" dirty="0">
                <a:solidFill>
                  <a:srgbClr val="3D1700"/>
                </a:solidFill>
                <a:latin typeface="Poppins" pitchFamily="34" charset="0"/>
                <a:ea typeface="Poppins" pitchFamily="34" charset="-122"/>
                <a:cs typeface="Poppins" pitchFamily="34" charset="-120"/>
              </a:rPr>
              <a:t>Our own capacitive dressing</a:t>
            </a:r>
            <a:endParaRPr lang="en-US" sz="1500" dirty="0"/>
          </a:p>
        </p:txBody>
      </p:sp>
      <p:sp>
        <p:nvSpPr>
          <p:cNvPr id="18" name="Text 16"/>
          <p:cNvSpPr txBox="1"/>
          <p:nvPr/>
        </p:nvSpPr>
        <p:spPr>
          <a:xfrm>
            <a:off x="795528" y="4517136"/>
            <a:ext cx="3749040" cy="274320"/>
          </a:xfrm>
          <a:prstGeom prst="rect">
            <a:avLst/>
          </a:prstGeom>
          <a:noFill/>
          <a:ln/>
        </p:spPr>
        <p:txBody>
          <a:bodyPr wrap="square" lIns="0" tIns="0" rIns="0" bIns="0" rtlCol="0" anchor="ctr"/>
          <a:lstStyle/>
          <a:p>
            <a:pPr indent="0" marL="0">
              <a:buNone/>
            </a:pPr>
            <a:r>
              <a:rPr lang="en-US" sz="950" i="1" dirty="0">
                <a:solidFill>
                  <a:srgbClr val="7A5A3F"/>
                </a:solidFill>
                <a:latin typeface="Poppins" pitchFamily="34" charset="0"/>
                <a:ea typeface="Poppins" pitchFamily="34" charset="-122"/>
                <a:cs typeface="Poppins" pitchFamily="34" charset="-120"/>
              </a:rPr>
              <a:t>KES 2025</a:t>
            </a:r>
            <a:endParaRPr lang="en-US" sz="950" dirty="0"/>
          </a:p>
        </p:txBody>
      </p:sp>
      <p:sp>
        <p:nvSpPr>
          <p:cNvPr id="19" name="Text 17"/>
          <p:cNvSpPr txBox="1"/>
          <p:nvPr/>
        </p:nvSpPr>
        <p:spPr>
          <a:xfrm>
            <a:off x="4800600" y="4151376"/>
            <a:ext cx="6812280" cy="731520"/>
          </a:xfrm>
          <a:prstGeom prst="rect">
            <a:avLst/>
          </a:prstGeom>
          <a:noFill/>
          <a:ln/>
        </p:spPr>
        <p:txBody>
          <a:bodyPr wrap="square" lIns="0" tIns="0" rIns="0" bIns="0" rtlCol="0" anchor="ctr"/>
          <a:lstStyle/>
          <a:p>
            <a:pPr indent="0" marL="0">
              <a:lnSpc>
                <a:spcPct val="118000"/>
              </a:lnSpc>
              <a:buNone/>
            </a:pPr>
            <a:r>
              <a:rPr lang="en-US" sz="1250" dirty="0">
                <a:solidFill>
                  <a:srgbClr val="543110"/>
                </a:solidFill>
                <a:latin typeface="Poppins" pitchFamily="34" charset="0"/>
                <a:ea typeface="Poppins" pitchFamily="34" charset="-122"/>
                <a:cs typeface="Poppins" pitchFamily="34" charset="-120"/>
              </a:rPr>
              <a:t>Autoencoder anomaly detection. F1 0.882 vertical, 0.833 horizontal, with false detections.</a:t>
            </a:r>
            <a:endParaRPr lang="en-US" sz="1250" dirty="0"/>
          </a:p>
        </p:txBody>
      </p:sp>
      <p:sp>
        <p:nvSpPr>
          <p:cNvPr id="20" name="Shape 18"/>
          <p:cNvSpPr/>
          <p:nvPr/>
        </p:nvSpPr>
        <p:spPr>
          <a:xfrm>
            <a:off x="502920" y="5358384"/>
            <a:ext cx="11155680" cy="786384"/>
          </a:xfrm>
          <a:prstGeom prst="roundRect">
            <a:avLst>
              <a:gd name="adj" fmla="val 6977"/>
            </a:avLst>
          </a:prstGeom>
          <a:solidFill>
            <a:srgbClr val="F6E4DC"/>
          </a:solidFill>
          <a:ln w="12700">
            <a:solidFill>
              <a:srgbClr val="A3301F"/>
            </a:solidFill>
            <a:prstDash val="solid"/>
          </a:ln>
          <a:effectLst>
            <a:outerShdw sx="100000" sy="100000" kx="0" ky="0" algn="bl" rotWithShape="0" blurRad="127000" dist="25400" dir="5400000">
              <a:srgbClr val="3D1700">
                <a:alpha val="13000"/>
              </a:srgbClr>
            </a:outerShdw>
          </a:effectLst>
        </p:spPr>
      </p:sp>
      <p:sp>
        <p:nvSpPr>
          <p:cNvPr id="21" name="Text 19"/>
          <p:cNvSpPr txBox="1"/>
          <p:nvPr/>
        </p:nvSpPr>
        <p:spPr>
          <a:xfrm>
            <a:off x="795528" y="5468112"/>
            <a:ext cx="10570464" cy="566928"/>
          </a:xfrm>
          <a:prstGeom prst="rect">
            <a:avLst/>
          </a:prstGeom>
          <a:noFill/>
          <a:ln/>
        </p:spPr>
        <p:txBody>
          <a:bodyPr wrap="square" lIns="0" tIns="0" rIns="0" bIns="0" rtlCol="0" anchor="ctr"/>
          <a:lstStyle/>
          <a:p>
            <a:pPr indent="0" marL="0">
              <a:lnSpc>
                <a:spcPct val="116000"/>
              </a:lnSpc>
              <a:buNone/>
            </a:pPr>
            <a:r>
              <a:rPr lang="en-US" sz="1250" b="1" dirty="0">
                <a:solidFill>
                  <a:srgbClr val="6B2015"/>
                </a:solidFill>
                <a:latin typeface="Poppins" pitchFamily="34" charset="0"/>
                <a:ea typeface="Poppins" pitchFamily="34" charset="-122"/>
                <a:cs typeface="Poppins" pitchFamily="34" charset="-120"/>
              </a:rPr>
              <a:t>The sensor has never been characterised as a sensor. Every result so far is an algorithm result on an uncharacterised front end.</a:t>
            </a:r>
            <a:endParaRPr lang="en-US" sz="1250" dirty="0"/>
          </a:p>
        </p:txBody>
      </p:sp>
      <p:sp>
        <p:nvSpPr>
          <p:cNvPr id="22" name="Text 20"/>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Prior-method scores read from this group's own earlier autoencoder study on the same dressing.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Purpose</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What this half of the work sets out to do</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5</a:t>
            </a:r>
            <a:endParaRPr lang="en-US" sz="1500" dirty="0"/>
          </a:p>
        </p:txBody>
      </p:sp>
      <p:sp>
        <p:nvSpPr>
          <p:cNvPr id="8" name="Shape 6"/>
          <p:cNvSpPr/>
          <p:nvPr/>
        </p:nvSpPr>
        <p:spPr>
          <a:xfrm>
            <a:off x="502920" y="1691640"/>
            <a:ext cx="11155680" cy="1874520"/>
          </a:xfrm>
          <a:prstGeom prst="roundRect">
            <a:avLst>
              <a:gd name="adj" fmla="val 292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868680" y="1965960"/>
            <a:ext cx="1188720" cy="822960"/>
          </a:xfrm>
          <a:prstGeom prst="rect">
            <a:avLst/>
          </a:prstGeom>
          <a:noFill/>
          <a:ln/>
        </p:spPr>
        <p:txBody>
          <a:bodyPr wrap="square" lIns="0" tIns="0" rIns="0" bIns="0" rtlCol="0" anchor="ctr"/>
          <a:lstStyle/>
          <a:p>
            <a:pPr indent="0" marL="0">
              <a:buNone/>
            </a:pPr>
            <a:r>
              <a:rPr lang="en-US" sz="4000" b="1" dirty="0">
                <a:solidFill>
                  <a:srgbClr val="6B4423"/>
                </a:solidFill>
                <a:latin typeface="Poppins" pitchFamily="34" charset="0"/>
                <a:ea typeface="Poppins" pitchFamily="34" charset="-122"/>
                <a:cs typeface="Poppins" pitchFamily="34" charset="-120"/>
              </a:rPr>
              <a:t>01</a:t>
            </a:r>
            <a:endParaRPr lang="en-US" sz="4000" dirty="0"/>
          </a:p>
        </p:txBody>
      </p:sp>
      <p:sp>
        <p:nvSpPr>
          <p:cNvPr id="10" name="Text 8"/>
          <p:cNvSpPr txBox="1"/>
          <p:nvPr/>
        </p:nvSpPr>
        <p:spPr>
          <a:xfrm>
            <a:off x="2240280" y="1984248"/>
            <a:ext cx="9372600" cy="457200"/>
          </a:xfrm>
          <a:prstGeom prst="rect">
            <a:avLst/>
          </a:prstGeom>
          <a:noFill/>
          <a:ln/>
        </p:spPr>
        <p:txBody>
          <a:bodyPr wrap="square" lIns="0" tIns="0" rIns="0" bIns="0" rtlCol="0" anchor="ctr"/>
          <a:lstStyle/>
          <a:p>
            <a:pPr indent="0" marL="0">
              <a:buNone/>
            </a:pPr>
            <a:r>
              <a:rPr lang="en-US" sz="1900" b="1" dirty="0">
                <a:solidFill>
                  <a:srgbClr val="3D1700"/>
                </a:solidFill>
                <a:latin typeface="Poppins" pitchFamily="34" charset="0"/>
                <a:ea typeface="Poppins" pitchFamily="34" charset="-122"/>
                <a:cs typeface="Poppins" pitchFamily="34" charset="-120"/>
              </a:rPr>
              <a:t>Turn 25 numbers into one clinical decision</a:t>
            </a:r>
            <a:endParaRPr lang="en-US" sz="1900" dirty="0"/>
          </a:p>
        </p:txBody>
      </p:sp>
      <p:sp>
        <p:nvSpPr>
          <p:cNvPr id="11" name="Text 9"/>
          <p:cNvSpPr txBox="1"/>
          <p:nvPr/>
        </p:nvSpPr>
        <p:spPr>
          <a:xfrm>
            <a:off x="2240280" y="2532888"/>
            <a:ext cx="9372600" cy="731520"/>
          </a:xfrm>
          <a:prstGeom prst="rect">
            <a:avLst/>
          </a:prstGeom>
          <a:noFill/>
          <a:ln/>
        </p:spPr>
        <p:txBody>
          <a:bodyPr wrap="square" lIns="0" tIns="0" rIns="0" bIns="0" rtlCol="0" anchor="ctr"/>
          <a:lstStyle/>
          <a:p>
            <a:pPr indent="0" marL="0">
              <a:lnSpc>
                <a:spcPct val="120000"/>
              </a:lnSpc>
              <a:buNone/>
            </a:pPr>
            <a:r>
              <a:rPr lang="en-US" sz="1250" dirty="0">
                <a:solidFill>
                  <a:srgbClr val="543110"/>
                </a:solidFill>
                <a:latin typeface="Poppins" pitchFamily="34" charset="0"/>
                <a:ea typeface="Poppins" pitchFamily="34" charset="-122"/>
                <a:cs typeface="Poppins" pitchFamily="34" charset="-120"/>
              </a:rPr>
              <a:t>A pipeline that reads the dressing continuously, judges every frame, and decides when the bedside should hear about it.</a:t>
            </a:r>
            <a:endParaRPr lang="en-US" sz="1250" dirty="0"/>
          </a:p>
        </p:txBody>
      </p:sp>
      <p:sp>
        <p:nvSpPr>
          <p:cNvPr id="12" name="Shape 10"/>
          <p:cNvSpPr/>
          <p:nvPr/>
        </p:nvSpPr>
        <p:spPr>
          <a:xfrm>
            <a:off x="502920" y="3840480"/>
            <a:ext cx="11155680" cy="1874520"/>
          </a:xfrm>
          <a:prstGeom prst="roundRect">
            <a:avLst>
              <a:gd name="adj" fmla="val 2927"/>
            </a:avLst>
          </a:prstGeom>
          <a:solidFill>
            <a:srgbClr val="F4EAD2"/>
          </a:solidFill>
          <a:ln w="12700">
            <a:solidFill>
              <a:srgbClr val="8A6A4F"/>
            </a:solidFill>
            <a:prstDash val="solid"/>
          </a:ln>
          <a:effectLst>
            <a:outerShdw sx="100000" sy="100000" kx="0" ky="0" algn="bl" rotWithShape="0" blurRad="127000" dist="25400" dir="5400000">
              <a:srgbClr val="3D1700">
                <a:alpha val="13000"/>
              </a:srgbClr>
            </a:outerShdw>
          </a:effectLst>
        </p:spPr>
      </p:sp>
      <p:sp>
        <p:nvSpPr>
          <p:cNvPr id="13" name="Text 11"/>
          <p:cNvSpPr txBox="1"/>
          <p:nvPr/>
        </p:nvSpPr>
        <p:spPr>
          <a:xfrm>
            <a:off x="868680" y="4114800"/>
            <a:ext cx="1188720" cy="822960"/>
          </a:xfrm>
          <a:prstGeom prst="rect">
            <a:avLst/>
          </a:prstGeom>
          <a:noFill/>
          <a:ln/>
        </p:spPr>
        <p:txBody>
          <a:bodyPr wrap="square" lIns="0" tIns="0" rIns="0" bIns="0" rtlCol="0" anchor="ctr"/>
          <a:lstStyle/>
          <a:p>
            <a:pPr indent="0" marL="0">
              <a:buNone/>
            </a:pPr>
            <a:r>
              <a:rPr lang="en-US" sz="4000" b="1" dirty="0">
                <a:solidFill>
                  <a:srgbClr val="A3301F"/>
                </a:solidFill>
                <a:latin typeface="Poppins" pitchFamily="34" charset="0"/>
                <a:ea typeface="Poppins" pitchFamily="34" charset="-122"/>
                <a:cs typeface="Poppins" pitchFamily="34" charset="-120"/>
              </a:rPr>
              <a:t>02</a:t>
            </a:r>
            <a:endParaRPr lang="en-US" sz="4000" dirty="0"/>
          </a:p>
        </p:txBody>
      </p:sp>
      <p:sp>
        <p:nvSpPr>
          <p:cNvPr id="14" name="Text 12"/>
          <p:cNvSpPr txBox="1"/>
          <p:nvPr/>
        </p:nvSpPr>
        <p:spPr>
          <a:xfrm>
            <a:off x="2240280" y="4133088"/>
            <a:ext cx="9372600" cy="457200"/>
          </a:xfrm>
          <a:prstGeom prst="rect">
            <a:avLst/>
          </a:prstGeom>
          <a:noFill/>
          <a:ln/>
        </p:spPr>
        <p:txBody>
          <a:bodyPr wrap="square" lIns="0" tIns="0" rIns="0" bIns="0" rtlCol="0" anchor="ctr"/>
          <a:lstStyle/>
          <a:p>
            <a:pPr indent="0" marL="0">
              <a:buNone/>
            </a:pPr>
            <a:r>
              <a:rPr lang="en-US" sz="1900" b="1" dirty="0">
                <a:solidFill>
                  <a:srgbClr val="3D1700"/>
                </a:solidFill>
                <a:latin typeface="Poppins" pitchFamily="34" charset="0"/>
                <a:ea typeface="Poppins" pitchFamily="34" charset="-122"/>
                <a:cs typeface="Poppins" pitchFamily="34" charset="-120"/>
              </a:rPr>
              <a:t>Report what the signal actually supports</a:t>
            </a:r>
            <a:endParaRPr lang="en-US" sz="1900" dirty="0"/>
          </a:p>
        </p:txBody>
      </p:sp>
      <p:sp>
        <p:nvSpPr>
          <p:cNvPr id="15" name="Text 13"/>
          <p:cNvSpPr txBox="1"/>
          <p:nvPr/>
        </p:nvSpPr>
        <p:spPr>
          <a:xfrm>
            <a:off x="2240280" y="4681728"/>
            <a:ext cx="9372600" cy="731520"/>
          </a:xfrm>
          <a:prstGeom prst="rect">
            <a:avLst/>
          </a:prstGeom>
          <a:noFill/>
          <a:ln/>
        </p:spPr>
        <p:txBody>
          <a:bodyPr wrap="square" lIns="0" tIns="0" rIns="0" bIns="0" rtlCol="0" anchor="ctr"/>
          <a:lstStyle/>
          <a:p>
            <a:pPr indent="0" marL="0">
              <a:lnSpc>
                <a:spcPct val="120000"/>
              </a:lnSpc>
              <a:buNone/>
            </a:pPr>
            <a:r>
              <a:rPr lang="en-US" sz="1250" dirty="0">
                <a:solidFill>
                  <a:srgbClr val="543110"/>
                </a:solidFill>
                <a:latin typeface="Poppins" pitchFamily="34" charset="0"/>
                <a:ea typeface="Poppins" pitchFamily="34" charset="-122"/>
                <a:cs typeface="Poppins" pitchFamily="34" charset="-120"/>
              </a:rPr>
              <a:t>Including a negative result. Where the sensor cannot see, the deck says so rather than reporting an accuracy around it.</a:t>
            </a:r>
            <a:endParaRPr lang="en-US" sz="1250" dirty="0"/>
          </a:p>
        </p:txBody>
      </p:sp>
      <p:sp>
        <p:nvSpPr>
          <p:cNvPr id="16" name="Text 14"/>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The hardware characterisation is the companion deck; this one is the software and the evaluation.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Sensor Structure</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What the pad measures, and the physics the algorithm is anchored in</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6</a:t>
            </a:r>
            <a:endParaRPr lang="en-US" sz="1500" dirty="0"/>
          </a:p>
        </p:txBody>
      </p:sp>
      <p:sp>
        <p:nvSpPr>
          <p:cNvPr id="8" name="Shape 6"/>
          <p:cNvSpPr/>
          <p:nvPr/>
        </p:nvSpPr>
        <p:spPr>
          <a:xfrm>
            <a:off x="502920" y="1371600"/>
            <a:ext cx="5029200" cy="3703320"/>
          </a:xfrm>
          <a:prstGeom prst="roundRect">
            <a:avLst>
              <a:gd name="adj" fmla="val 1481"/>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Shape 7"/>
          <p:cNvSpPr/>
          <p:nvPr/>
        </p:nvSpPr>
        <p:spPr>
          <a:xfrm>
            <a:off x="813816" y="1591056"/>
            <a:ext cx="1975104" cy="274320"/>
          </a:xfrm>
          <a:prstGeom prst="roundRect">
            <a:avLst>
              <a:gd name="adj" fmla="val 50000"/>
            </a:avLst>
          </a:prstGeom>
          <a:solidFill>
            <a:srgbClr val="F4EAD2"/>
          </a:solidFill>
          <a:ln w="12700">
            <a:solidFill>
              <a:srgbClr val="5A7247"/>
            </a:solidFill>
            <a:prstDash val="solid"/>
          </a:ln>
        </p:spPr>
      </p:sp>
      <p:sp>
        <p:nvSpPr>
          <p:cNvPr id="10" name="Text 8"/>
          <p:cNvSpPr txBox="1"/>
          <p:nvPr/>
        </p:nvSpPr>
        <p:spPr>
          <a:xfrm>
            <a:off x="813816" y="1591056"/>
            <a:ext cx="1975104"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ATTACHED</a:t>
            </a:r>
            <a:endParaRPr lang="en-US" sz="900" dirty="0"/>
          </a:p>
        </p:txBody>
      </p:sp>
      <p:sp>
        <p:nvSpPr>
          <p:cNvPr id="11" name="Shape 9"/>
          <p:cNvSpPr/>
          <p:nvPr/>
        </p:nvSpPr>
        <p:spPr>
          <a:xfrm>
            <a:off x="1490472" y="2121408"/>
            <a:ext cx="621792" cy="237744"/>
          </a:xfrm>
          <a:prstGeom prst="roundRect">
            <a:avLst>
              <a:gd name="adj" fmla="val 46154"/>
            </a:avLst>
          </a:prstGeom>
          <a:solidFill>
            <a:srgbClr val="7A5A3F"/>
          </a:solidFill>
          <a:ln w="12700">
            <a:solidFill>
              <a:srgbClr val="333333"/>
            </a:solidFill>
            <a:prstDash val="solid"/>
          </a:ln>
        </p:spPr>
      </p:sp>
      <p:sp>
        <p:nvSpPr>
          <p:cNvPr id="12" name="Shape 10"/>
          <p:cNvSpPr/>
          <p:nvPr/>
        </p:nvSpPr>
        <p:spPr>
          <a:xfrm>
            <a:off x="813816" y="2395728"/>
            <a:ext cx="1975104" cy="137160"/>
          </a:xfrm>
          <a:prstGeom prst="rect">
            <a:avLst/>
          </a:prstGeom>
          <a:solidFill>
            <a:srgbClr val="8A6A4F"/>
          </a:solidFill>
          <a:ln w="12700">
            <a:solidFill>
              <a:srgbClr val="333333"/>
            </a:solidFill>
            <a:prstDash val="solid"/>
          </a:ln>
        </p:spPr>
      </p:sp>
      <p:sp>
        <p:nvSpPr>
          <p:cNvPr id="13" name="Shape 11"/>
          <p:cNvSpPr/>
          <p:nvPr/>
        </p:nvSpPr>
        <p:spPr>
          <a:xfrm>
            <a:off x="960120" y="2532888"/>
            <a:ext cx="310896" cy="118872"/>
          </a:xfrm>
          <a:prstGeom prst="rect">
            <a:avLst/>
          </a:prstGeom>
          <a:solidFill>
            <a:srgbClr val="B4762A"/>
          </a:solidFill>
          <a:ln w="12700">
            <a:solidFill>
              <a:srgbClr val="333333"/>
            </a:solidFill>
            <a:prstDash val="solid"/>
          </a:ln>
        </p:spPr>
      </p:sp>
      <p:sp>
        <p:nvSpPr>
          <p:cNvPr id="14" name="Shape 12"/>
          <p:cNvSpPr/>
          <p:nvPr/>
        </p:nvSpPr>
        <p:spPr>
          <a:xfrm>
            <a:off x="1417320" y="2532888"/>
            <a:ext cx="310896" cy="118872"/>
          </a:xfrm>
          <a:prstGeom prst="rect">
            <a:avLst/>
          </a:prstGeom>
          <a:solidFill>
            <a:srgbClr val="B4762A"/>
          </a:solidFill>
          <a:ln w="12700">
            <a:solidFill>
              <a:srgbClr val="333333"/>
            </a:solidFill>
            <a:prstDash val="solid"/>
          </a:ln>
        </p:spPr>
      </p:sp>
      <p:sp>
        <p:nvSpPr>
          <p:cNvPr id="15" name="Shape 13"/>
          <p:cNvSpPr/>
          <p:nvPr/>
        </p:nvSpPr>
        <p:spPr>
          <a:xfrm>
            <a:off x="1874520" y="2532888"/>
            <a:ext cx="310896" cy="118872"/>
          </a:xfrm>
          <a:prstGeom prst="rect">
            <a:avLst/>
          </a:prstGeom>
          <a:solidFill>
            <a:srgbClr val="B4762A"/>
          </a:solidFill>
          <a:ln w="12700">
            <a:solidFill>
              <a:srgbClr val="333333"/>
            </a:solidFill>
            <a:prstDash val="solid"/>
          </a:ln>
        </p:spPr>
      </p:sp>
      <p:sp>
        <p:nvSpPr>
          <p:cNvPr id="16" name="Shape 14"/>
          <p:cNvSpPr/>
          <p:nvPr/>
        </p:nvSpPr>
        <p:spPr>
          <a:xfrm>
            <a:off x="2331720" y="2532888"/>
            <a:ext cx="310896" cy="118872"/>
          </a:xfrm>
          <a:prstGeom prst="rect">
            <a:avLst/>
          </a:prstGeom>
          <a:solidFill>
            <a:srgbClr val="B4762A"/>
          </a:solidFill>
          <a:ln w="12700">
            <a:solidFill>
              <a:srgbClr val="333333"/>
            </a:solidFill>
            <a:prstDash val="solid"/>
          </a:ln>
        </p:spPr>
      </p:sp>
      <p:sp>
        <p:nvSpPr>
          <p:cNvPr id="17" name="Shape 15"/>
          <p:cNvSpPr/>
          <p:nvPr/>
        </p:nvSpPr>
        <p:spPr>
          <a:xfrm>
            <a:off x="813816" y="2651760"/>
            <a:ext cx="1975104" cy="137160"/>
          </a:xfrm>
          <a:prstGeom prst="rect">
            <a:avLst/>
          </a:prstGeom>
          <a:solidFill>
            <a:srgbClr val="8A6A4F"/>
          </a:solidFill>
          <a:ln w="12700">
            <a:solidFill>
              <a:srgbClr val="333333"/>
            </a:solidFill>
            <a:prstDash val="solid"/>
          </a:ln>
        </p:spPr>
      </p:sp>
      <p:sp>
        <p:nvSpPr>
          <p:cNvPr id="18" name="Shape 16"/>
          <p:cNvSpPr/>
          <p:nvPr/>
        </p:nvSpPr>
        <p:spPr>
          <a:xfrm>
            <a:off x="813816" y="2788920"/>
            <a:ext cx="1975104" cy="384048"/>
          </a:xfrm>
          <a:prstGeom prst="rect">
            <a:avLst/>
          </a:prstGeom>
          <a:solidFill>
            <a:srgbClr val="E3C9B4"/>
          </a:solidFill>
          <a:ln w="12700">
            <a:solidFill>
              <a:srgbClr val="333333"/>
            </a:solidFill>
            <a:prstDash val="solid"/>
          </a:ln>
        </p:spPr>
      </p:sp>
      <p:sp>
        <p:nvSpPr>
          <p:cNvPr id="19" name="Text 17"/>
          <p:cNvSpPr txBox="1"/>
          <p:nvPr/>
        </p:nvSpPr>
        <p:spPr>
          <a:xfrm>
            <a:off x="813816" y="2788920"/>
            <a:ext cx="1975104" cy="384048"/>
          </a:xfrm>
          <a:prstGeom prst="rect">
            <a:avLst/>
          </a:prstGeom>
          <a:noFill/>
          <a:ln/>
        </p:spPr>
        <p:txBody>
          <a:bodyPr wrap="square" lIns="0" tIns="0" rIns="0" bIns="0" rtlCol="0" anchor="ctr"/>
          <a:lstStyle/>
          <a:p>
            <a:pPr algn="ctr" indent="0" marL="0">
              <a:buNone/>
            </a:pPr>
            <a:r>
              <a:rPr lang="en-US" sz="850" b="1" dirty="0">
                <a:solidFill>
                  <a:srgbClr val="7A4B33"/>
                </a:solidFill>
                <a:latin typeface="Poppins" pitchFamily="34" charset="0"/>
                <a:ea typeface="Poppins" pitchFamily="34" charset="-122"/>
                <a:cs typeface="Poppins" pitchFamily="34" charset="-120"/>
              </a:rPr>
              <a:t>skin</a:t>
            </a:r>
            <a:endParaRPr lang="en-US" sz="850" dirty="0"/>
          </a:p>
        </p:txBody>
      </p:sp>
      <p:sp>
        <p:nvSpPr>
          <p:cNvPr id="20" name="Text 18"/>
          <p:cNvSpPr txBox="1"/>
          <p:nvPr/>
        </p:nvSpPr>
        <p:spPr>
          <a:xfrm>
            <a:off x="813816" y="3236976"/>
            <a:ext cx="1975104" cy="219456"/>
          </a:xfrm>
          <a:prstGeom prst="rect">
            <a:avLst/>
          </a:prstGeom>
          <a:noFill/>
          <a:ln/>
        </p:spPr>
        <p:txBody>
          <a:bodyPr wrap="square" lIns="0" tIns="0" rIns="0" bIns="0" rtlCol="0" anchor="ctr"/>
          <a:lstStyle/>
          <a:p>
            <a:pPr algn="ctr" indent="0" marL="0">
              <a:buNone/>
            </a:pPr>
            <a:r>
              <a:rPr lang="en-US" sz="800" b="1" dirty="0">
                <a:solidFill>
                  <a:srgbClr val="5A7247"/>
                </a:solidFill>
                <a:latin typeface="Poppins" pitchFamily="34" charset="0"/>
                <a:ea typeface="Poppins" pitchFamily="34" charset="-122"/>
                <a:cs typeface="Poppins" pitchFamily="34" charset="-120"/>
              </a:rPr>
              <a:t>no gap  →  steady reading</a:t>
            </a:r>
            <a:endParaRPr lang="en-US" sz="800" dirty="0"/>
          </a:p>
        </p:txBody>
      </p:sp>
      <p:sp>
        <p:nvSpPr>
          <p:cNvPr id="21" name="Shape 19"/>
          <p:cNvSpPr/>
          <p:nvPr/>
        </p:nvSpPr>
        <p:spPr>
          <a:xfrm>
            <a:off x="3172968" y="1591056"/>
            <a:ext cx="1975104" cy="274320"/>
          </a:xfrm>
          <a:prstGeom prst="roundRect">
            <a:avLst>
              <a:gd name="adj" fmla="val 50000"/>
            </a:avLst>
          </a:prstGeom>
          <a:solidFill>
            <a:srgbClr val="F4EAD2"/>
          </a:solidFill>
          <a:ln w="12700">
            <a:solidFill>
              <a:srgbClr val="3E6C8A"/>
            </a:solidFill>
            <a:prstDash val="solid"/>
          </a:ln>
        </p:spPr>
      </p:sp>
      <p:sp>
        <p:nvSpPr>
          <p:cNvPr id="22" name="Text 20"/>
          <p:cNvSpPr txBox="1"/>
          <p:nvPr/>
        </p:nvSpPr>
        <p:spPr>
          <a:xfrm>
            <a:off x="3172968" y="1591056"/>
            <a:ext cx="1975104"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LIFTING AT ONE EDGE</a:t>
            </a:r>
            <a:endParaRPr lang="en-US" sz="900" dirty="0"/>
          </a:p>
        </p:txBody>
      </p:sp>
      <p:sp>
        <p:nvSpPr>
          <p:cNvPr id="23" name="Shape 21"/>
          <p:cNvSpPr/>
          <p:nvPr/>
        </p:nvSpPr>
        <p:spPr>
          <a:xfrm>
            <a:off x="3849624" y="2121408"/>
            <a:ext cx="621792" cy="237744"/>
          </a:xfrm>
          <a:prstGeom prst="roundRect">
            <a:avLst>
              <a:gd name="adj" fmla="val 46154"/>
            </a:avLst>
          </a:prstGeom>
          <a:solidFill>
            <a:srgbClr val="7A5A3F"/>
          </a:solidFill>
          <a:ln w="12700">
            <a:solidFill>
              <a:srgbClr val="333333"/>
            </a:solidFill>
            <a:prstDash val="solid"/>
          </a:ln>
        </p:spPr>
      </p:sp>
      <p:sp>
        <p:nvSpPr>
          <p:cNvPr id="24" name="Shape 22"/>
          <p:cNvSpPr/>
          <p:nvPr/>
        </p:nvSpPr>
        <p:spPr>
          <a:xfrm>
            <a:off x="3172968" y="2395728"/>
            <a:ext cx="1975104" cy="137160"/>
          </a:xfrm>
          <a:prstGeom prst="rect">
            <a:avLst/>
          </a:prstGeom>
          <a:solidFill>
            <a:srgbClr val="8A6A4F"/>
          </a:solidFill>
          <a:ln w="12700">
            <a:solidFill>
              <a:srgbClr val="333333"/>
            </a:solidFill>
            <a:prstDash val="solid"/>
          </a:ln>
        </p:spPr>
      </p:sp>
      <p:sp>
        <p:nvSpPr>
          <p:cNvPr id="25" name="Shape 23"/>
          <p:cNvSpPr/>
          <p:nvPr/>
        </p:nvSpPr>
        <p:spPr>
          <a:xfrm>
            <a:off x="3319272" y="2532888"/>
            <a:ext cx="310896" cy="118872"/>
          </a:xfrm>
          <a:prstGeom prst="rect">
            <a:avLst/>
          </a:prstGeom>
          <a:solidFill>
            <a:srgbClr val="B4762A"/>
          </a:solidFill>
          <a:ln w="12700">
            <a:solidFill>
              <a:srgbClr val="333333"/>
            </a:solidFill>
            <a:prstDash val="solid"/>
          </a:ln>
        </p:spPr>
      </p:sp>
      <p:sp>
        <p:nvSpPr>
          <p:cNvPr id="26" name="Shape 24"/>
          <p:cNvSpPr/>
          <p:nvPr/>
        </p:nvSpPr>
        <p:spPr>
          <a:xfrm>
            <a:off x="3776472" y="2532888"/>
            <a:ext cx="310896" cy="118872"/>
          </a:xfrm>
          <a:prstGeom prst="rect">
            <a:avLst/>
          </a:prstGeom>
          <a:solidFill>
            <a:srgbClr val="B4762A"/>
          </a:solidFill>
          <a:ln w="12700">
            <a:solidFill>
              <a:srgbClr val="333333"/>
            </a:solidFill>
            <a:prstDash val="solid"/>
          </a:ln>
        </p:spPr>
      </p:sp>
      <p:sp>
        <p:nvSpPr>
          <p:cNvPr id="27" name="Shape 25"/>
          <p:cNvSpPr/>
          <p:nvPr/>
        </p:nvSpPr>
        <p:spPr>
          <a:xfrm>
            <a:off x="4233672" y="2532888"/>
            <a:ext cx="310896" cy="118872"/>
          </a:xfrm>
          <a:prstGeom prst="rect">
            <a:avLst/>
          </a:prstGeom>
          <a:solidFill>
            <a:srgbClr val="B4762A"/>
          </a:solidFill>
          <a:ln w="12700">
            <a:solidFill>
              <a:srgbClr val="333333"/>
            </a:solidFill>
            <a:prstDash val="solid"/>
          </a:ln>
        </p:spPr>
      </p:sp>
      <p:sp>
        <p:nvSpPr>
          <p:cNvPr id="28" name="Shape 26"/>
          <p:cNvSpPr/>
          <p:nvPr/>
        </p:nvSpPr>
        <p:spPr>
          <a:xfrm>
            <a:off x="4690872" y="2532888"/>
            <a:ext cx="310896" cy="118872"/>
          </a:xfrm>
          <a:prstGeom prst="rect">
            <a:avLst/>
          </a:prstGeom>
          <a:solidFill>
            <a:srgbClr val="B4762A"/>
          </a:solidFill>
          <a:ln w="12700">
            <a:solidFill>
              <a:srgbClr val="333333"/>
            </a:solidFill>
            <a:prstDash val="solid"/>
          </a:ln>
        </p:spPr>
      </p:sp>
      <p:sp>
        <p:nvSpPr>
          <p:cNvPr id="29" name="Shape 27"/>
          <p:cNvSpPr/>
          <p:nvPr/>
        </p:nvSpPr>
        <p:spPr>
          <a:xfrm>
            <a:off x="3172968" y="2651760"/>
            <a:ext cx="1975104" cy="137160"/>
          </a:xfrm>
          <a:prstGeom prst="rect">
            <a:avLst/>
          </a:prstGeom>
          <a:solidFill>
            <a:srgbClr val="8A6A4F"/>
          </a:solidFill>
          <a:ln w="12700">
            <a:solidFill>
              <a:srgbClr val="333333"/>
            </a:solidFill>
            <a:prstDash val="solid"/>
          </a:ln>
        </p:spPr>
      </p:sp>
      <p:sp>
        <p:nvSpPr>
          <p:cNvPr id="30" name="Shape 28"/>
          <p:cNvSpPr/>
          <p:nvPr/>
        </p:nvSpPr>
        <p:spPr>
          <a:xfrm rot="10800000">
            <a:off x="3172968" y="2788920"/>
            <a:ext cx="1224564" cy="173736"/>
          </a:xfrm>
          <a:prstGeom prst="triangle">
            <a:avLst/>
          </a:prstGeom>
          <a:solidFill>
            <a:srgbClr val="FDF8EA"/>
          </a:solidFill>
          <a:ln w="12700">
            <a:solidFill>
              <a:srgbClr val="3E6C8A"/>
            </a:solidFill>
            <a:prstDash val="solid"/>
          </a:ln>
        </p:spPr>
      </p:sp>
      <p:sp>
        <p:nvSpPr>
          <p:cNvPr id="31" name="Text 29"/>
          <p:cNvSpPr txBox="1"/>
          <p:nvPr/>
        </p:nvSpPr>
        <p:spPr>
          <a:xfrm>
            <a:off x="3282696" y="2798064"/>
            <a:ext cx="457200" cy="155448"/>
          </a:xfrm>
          <a:prstGeom prst="rect">
            <a:avLst/>
          </a:prstGeom>
          <a:noFill/>
          <a:ln/>
        </p:spPr>
        <p:txBody>
          <a:bodyPr wrap="square" lIns="0" tIns="0" rIns="0" bIns="0" rtlCol="0" anchor="ctr"/>
          <a:lstStyle/>
          <a:p>
            <a:pPr indent="0" marL="0">
              <a:buNone/>
            </a:pPr>
            <a:r>
              <a:rPr lang="en-US" sz="700" b="1" dirty="0">
                <a:solidFill>
                  <a:srgbClr val="3E6C8A"/>
                </a:solidFill>
                <a:latin typeface="Poppins" pitchFamily="34" charset="0"/>
                <a:ea typeface="Poppins" pitchFamily="34" charset="-122"/>
                <a:cs typeface="Poppins" pitchFamily="34" charset="-120"/>
              </a:rPr>
              <a:t>air</a:t>
            </a:r>
            <a:endParaRPr lang="en-US" sz="700" dirty="0"/>
          </a:p>
        </p:txBody>
      </p:sp>
      <p:sp>
        <p:nvSpPr>
          <p:cNvPr id="32" name="Shape 30"/>
          <p:cNvSpPr/>
          <p:nvPr/>
        </p:nvSpPr>
        <p:spPr>
          <a:xfrm>
            <a:off x="3172968" y="2962656"/>
            <a:ext cx="1975104" cy="384048"/>
          </a:xfrm>
          <a:prstGeom prst="rect">
            <a:avLst/>
          </a:prstGeom>
          <a:solidFill>
            <a:srgbClr val="E3C9B4"/>
          </a:solidFill>
          <a:ln w="12700">
            <a:solidFill>
              <a:srgbClr val="333333"/>
            </a:solidFill>
            <a:prstDash val="solid"/>
          </a:ln>
        </p:spPr>
      </p:sp>
      <p:sp>
        <p:nvSpPr>
          <p:cNvPr id="33" name="Text 31"/>
          <p:cNvSpPr txBox="1"/>
          <p:nvPr/>
        </p:nvSpPr>
        <p:spPr>
          <a:xfrm>
            <a:off x="3172968" y="2962656"/>
            <a:ext cx="1975104" cy="384048"/>
          </a:xfrm>
          <a:prstGeom prst="rect">
            <a:avLst/>
          </a:prstGeom>
          <a:noFill/>
          <a:ln/>
        </p:spPr>
        <p:txBody>
          <a:bodyPr wrap="square" lIns="0" tIns="0" rIns="0" bIns="0" rtlCol="0" anchor="ctr"/>
          <a:lstStyle/>
          <a:p>
            <a:pPr algn="ctr" indent="0" marL="0">
              <a:buNone/>
            </a:pPr>
            <a:r>
              <a:rPr lang="en-US" sz="850" b="1" dirty="0">
                <a:solidFill>
                  <a:srgbClr val="7A4B33"/>
                </a:solidFill>
                <a:latin typeface="Poppins" pitchFamily="34" charset="0"/>
                <a:ea typeface="Poppins" pitchFamily="34" charset="-122"/>
                <a:cs typeface="Poppins" pitchFamily="34" charset="-120"/>
              </a:rPr>
              <a:t>skin</a:t>
            </a:r>
            <a:endParaRPr lang="en-US" sz="850" dirty="0"/>
          </a:p>
        </p:txBody>
      </p:sp>
      <p:sp>
        <p:nvSpPr>
          <p:cNvPr id="34" name="Text 32"/>
          <p:cNvSpPr txBox="1"/>
          <p:nvPr/>
        </p:nvSpPr>
        <p:spPr>
          <a:xfrm>
            <a:off x="3172968" y="3410712"/>
            <a:ext cx="1975104" cy="219456"/>
          </a:xfrm>
          <a:prstGeom prst="rect">
            <a:avLst/>
          </a:prstGeom>
          <a:noFill/>
          <a:ln/>
        </p:spPr>
        <p:txBody>
          <a:bodyPr wrap="square" lIns="0" tIns="0" rIns="0" bIns="0" rtlCol="0" anchor="ctr"/>
          <a:lstStyle/>
          <a:p>
            <a:pPr algn="ctr" indent="0" marL="0">
              <a:buNone/>
            </a:pPr>
            <a:r>
              <a:rPr lang="en-US" sz="800" b="1" dirty="0">
                <a:solidFill>
                  <a:srgbClr val="3E6C8A"/>
                </a:solidFill>
                <a:latin typeface="Poppins" pitchFamily="34" charset="0"/>
                <a:ea typeface="Poppins" pitchFamily="34" charset="-122"/>
                <a:cs typeface="Poppins" pitchFamily="34" charset="-120"/>
              </a:rPr>
              <a:t>gap opens  →  reading collapses</a:t>
            </a:r>
            <a:endParaRPr lang="en-US" sz="800" dirty="0"/>
          </a:p>
        </p:txBody>
      </p:sp>
      <p:sp>
        <p:nvSpPr>
          <p:cNvPr id="35" name="Shape 33"/>
          <p:cNvSpPr/>
          <p:nvPr/>
        </p:nvSpPr>
        <p:spPr>
          <a:xfrm>
            <a:off x="886968" y="3621024"/>
            <a:ext cx="128016" cy="109728"/>
          </a:xfrm>
          <a:prstGeom prst="rect">
            <a:avLst/>
          </a:prstGeom>
          <a:solidFill>
            <a:srgbClr val="7A5A3F"/>
          </a:solidFill>
          <a:ln w="12700">
            <a:solidFill>
              <a:srgbClr val="333333"/>
            </a:solidFill>
            <a:prstDash val="solid"/>
          </a:ln>
        </p:spPr>
      </p:sp>
      <p:sp>
        <p:nvSpPr>
          <p:cNvPr id="36" name="Text 34"/>
          <p:cNvSpPr txBox="1"/>
          <p:nvPr/>
        </p:nvSpPr>
        <p:spPr>
          <a:xfrm>
            <a:off x="1088136" y="3566160"/>
            <a:ext cx="1234440" cy="219456"/>
          </a:xfrm>
          <a:prstGeom prst="rect">
            <a:avLst/>
          </a:prstGeom>
          <a:noFill/>
          <a:ln/>
        </p:spPr>
        <p:txBody>
          <a:bodyPr wrap="square" lIns="0" tIns="0" rIns="0" bIns="0" rtlCol="0" anchor="ctr"/>
          <a:lstStyle/>
          <a:p>
            <a:pPr indent="0" marL="0">
              <a:buNone/>
            </a:pPr>
            <a:r>
              <a:rPr lang="en-US" sz="800" dirty="0">
                <a:solidFill>
                  <a:srgbClr val="7A5A3F"/>
                </a:solidFill>
                <a:latin typeface="Poppins" pitchFamily="34" charset="0"/>
                <a:ea typeface="Poppins" pitchFamily="34" charset="-122"/>
                <a:cs typeface="Poppins" pitchFamily="34" charset="-120"/>
              </a:rPr>
              <a:t>medical tube</a:t>
            </a:r>
            <a:endParaRPr lang="en-US" sz="800" dirty="0"/>
          </a:p>
        </p:txBody>
      </p:sp>
      <p:sp>
        <p:nvSpPr>
          <p:cNvPr id="37" name="Shape 35"/>
          <p:cNvSpPr/>
          <p:nvPr/>
        </p:nvSpPr>
        <p:spPr>
          <a:xfrm>
            <a:off x="2368296" y="3621024"/>
            <a:ext cx="128016" cy="109728"/>
          </a:xfrm>
          <a:prstGeom prst="rect">
            <a:avLst/>
          </a:prstGeom>
          <a:solidFill>
            <a:srgbClr val="8A6A4F"/>
          </a:solidFill>
          <a:ln w="12700">
            <a:solidFill>
              <a:srgbClr val="333333"/>
            </a:solidFill>
            <a:prstDash val="solid"/>
          </a:ln>
        </p:spPr>
      </p:sp>
      <p:sp>
        <p:nvSpPr>
          <p:cNvPr id="38" name="Text 36"/>
          <p:cNvSpPr txBox="1"/>
          <p:nvPr/>
        </p:nvSpPr>
        <p:spPr>
          <a:xfrm>
            <a:off x="2569464" y="3566160"/>
            <a:ext cx="1234440" cy="219456"/>
          </a:xfrm>
          <a:prstGeom prst="rect">
            <a:avLst/>
          </a:prstGeom>
          <a:noFill/>
          <a:ln/>
        </p:spPr>
        <p:txBody>
          <a:bodyPr wrap="square" lIns="0" tIns="0" rIns="0" bIns="0" rtlCol="0" anchor="ctr"/>
          <a:lstStyle/>
          <a:p>
            <a:pPr indent="0" marL="0">
              <a:buNone/>
            </a:pPr>
            <a:r>
              <a:rPr lang="en-US" sz="800" dirty="0">
                <a:solidFill>
                  <a:srgbClr val="7A5A3F"/>
                </a:solidFill>
                <a:latin typeface="Poppins" pitchFamily="34" charset="0"/>
                <a:ea typeface="Poppins" pitchFamily="34" charset="-122"/>
                <a:cs typeface="Poppins" pitchFamily="34" charset="-120"/>
              </a:rPr>
              <a:t>dressing</a:t>
            </a:r>
            <a:endParaRPr lang="en-US" sz="800" dirty="0"/>
          </a:p>
        </p:txBody>
      </p:sp>
      <p:sp>
        <p:nvSpPr>
          <p:cNvPr id="39" name="Shape 37"/>
          <p:cNvSpPr/>
          <p:nvPr/>
        </p:nvSpPr>
        <p:spPr>
          <a:xfrm>
            <a:off x="3849624" y="3621024"/>
            <a:ext cx="128016" cy="109728"/>
          </a:xfrm>
          <a:prstGeom prst="rect">
            <a:avLst/>
          </a:prstGeom>
          <a:solidFill>
            <a:srgbClr val="B4762A"/>
          </a:solidFill>
          <a:ln w="12700">
            <a:solidFill>
              <a:srgbClr val="333333"/>
            </a:solidFill>
            <a:prstDash val="solid"/>
          </a:ln>
        </p:spPr>
      </p:sp>
      <p:sp>
        <p:nvSpPr>
          <p:cNvPr id="40" name="Text 38"/>
          <p:cNvSpPr txBox="1"/>
          <p:nvPr/>
        </p:nvSpPr>
        <p:spPr>
          <a:xfrm>
            <a:off x="4050792" y="3566160"/>
            <a:ext cx="1234440" cy="219456"/>
          </a:xfrm>
          <a:prstGeom prst="rect">
            <a:avLst/>
          </a:prstGeom>
          <a:noFill/>
          <a:ln/>
        </p:spPr>
        <p:txBody>
          <a:bodyPr wrap="square" lIns="0" tIns="0" rIns="0" bIns="0" rtlCol="0" anchor="ctr"/>
          <a:lstStyle/>
          <a:p>
            <a:pPr indent="0" marL="0">
              <a:buNone/>
            </a:pPr>
            <a:r>
              <a:rPr lang="en-US" sz="800" dirty="0">
                <a:solidFill>
                  <a:srgbClr val="7A5A3F"/>
                </a:solidFill>
                <a:latin typeface="Poppins" pitchFamily="34" charset="0"/>
                <a:ea typeface="Poppins" pitchFamily="34" charset="-122"/>
                <a:cs typeface="Poppins" pitchFamily="34" charset="-120"/>
              </a:rPr>
              <a:t>sensor pad</a:t>
            </a:r>
            <a:endParaRPr lang="en-US" sz="800" dirty="0"/>
          </a:p>
        </p:txBody>
      </p:sp>
      <p:sp>
        <p:nvSpPr>
          <p:cNvPr id="41" name="Text 39"/>
          <p:cNvSpPr txBox="1"/>
          <p:nvPr/>
        </p:nvSpPr>
        <p:spPr>
          <a:xfrm>
            <a:off x="704088" y="3822192"/>
            <a:ext cx="4626864" cy="329184"/>
          </a:xfrm>
          <a:prstGeom prst="rect">
            <a:avLst/>
          </a:prstGeom>
          <a:noFill/>
          <a:ln/>
        </p:spPr>
        <p:txBody>
          <a:bodyPr wrap="square" lIns="0" tIns="0" rIns="0" bIns="0" rtlCol="0" anchor="ctr"/>
          <a:lstStyle/>
          <a:p>
            <a:pPr algn="ctr" indent="0" marL="0">
              <a:buNone/>
            </a:pPr>
            <a:r>
              <a:rPr lang="en-US" sz="1900" b="1" dirty="0">
                <a:solidFill>
                  <a:srgbClr val="543110"/>
                </a:solidFill>
                <a:latin typeface="Poppins" pitchFamily="34" charset="0"/>
                <a:ea typeface="Poppins" pitchFamily="34" charset="-122"/>
                <a:cs typeface="Poppins" pitchFamily="34" charset="-120"/>
              </a:rPr>
              <a:t>C   =   ε · A / d</a:t>
            </a:r>
            <a:endParaRPr lang="en-US" sz="1900" dirty="0"/>
          </a:p>
        </p:txBody>
      </p:sp>
      <p:sp>
        <p:nvSpPr>
          <p:cNvPr id="42" name="Text 40"/>
          <p:cNvSpPr txBox="1"/>
          <p:nvPr/>
        </p:nvSpPr>
        <p:spPr>
          <a:xfrm>
            <a:off x="704088" y="4187952"/>
            <a:ext cx="4626864" cy="768096"/>
          </a:xfrm>
          <a:prstGeom prst="rect">
            <a:avLst/>
          </a:prstGeom>
          <a:noFill/>
          <a:ln/>
        </p:spPr>
        <p:txBody>
          <a:bodyPr wrap="square" lIns="0" tIns="0" rIns="0" bIns="0" rtlCol="0" anchor="ctr"/>
          <a:lstStyle/>
          <a:p>
            <a:pPr indent="0" marL="0">
              <a:lnSpc>
                <a:spcPct val="115000"/>
              </a:lnSpc>
              <a:buNone/>
            </a:pPr>
            <a:r>
              <a:rPr lang="en-US" sz="950" dirty="0">
                <a:solidFill>
                  <a:srgbClr val="7A5A3F"/>
                </a:solidFill>
                <a:latin typeface="Poppins" pitchFamily="34" charset="0"/>
                <a:ea typeface="Poppins" pitchFamily="34" charset="-122"/>
                <a:cs typeface="Poppins" pitchFamily="34" charset="-120"/>
              </a:rPr>
              <a:t>Rises with permittivity and pad area. Falls as the gap opens.</a:t>
            </a:r>
            <a:endParaRPr lang="en-US" sz="950" dirty="0"/>
          </a:p>
        </p:txBody>
      </p:sp>
      <p:sp>
        <p:nvSpPr>
          <p:cNvPr id="43" name="Shape 41"/>
          <p:cNvSpPr/>
          <p:nvPr/>
        </p:nvSpPr>
        <p:spPr>
          <a:xfrm>
            <a:off x="5806440" y="1371600"/>
            <a:ext cx="5852160" cy="859536"/>
          </a:xfrm>
          <a:prstGeom prst="roundRect">
            <a:avLst>
              <a:gd name="adj" fmla="val 6383"/>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44" name="Shape 42"/>
          <p:cNvSpPr/>
          <p:nvPr/>
        </p:nvSpPr>
        <p:spPr>
          <a:xfrm>
            <a:off x="5806440" y="1371600"/>
            <a:ext cx="68580" cy="859536"/>
          </a:xfrm>
          <a:prstGeom prst="roundRect">
            <a:avLst>
              <a:gd name="adj" fmla="val 40000"/>
            </a:avLst>
          </a:prstGeom>
          <a:solidFill>
            <a:srgbClr val="8A6A4F"/>
          </a:solidFill>
          <a:ln w="12700">
            <a:solidFill>
              <a:srgbClr val="333333"/>
            </a:solidFill>
            <a:prstDash val="solid"/>
          </a:ln>
        </p:spPr>
      </p:sp>
      <p:sp>
        <p:nvSpPr>
          <p:cNvPr id="45" name="Text 43"/>
          <p:cNvSpPr txBox="1"/>
          <p:nvPr/>
        </p:nvSpPr>
        <p:spPr>
          <a:xfrm>
            <a:off x="6016752" y="1472184"/>
            <a:ext cx="5440680" cy="228600"/>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No public benchmark exists</a:t>
            </a:r>
            <a:endParaRPr lang="en-US" sz="1150" dirty="0"/>
          </a:p>
        </p:txBody>
      </p:sp>
      <p:sp>
        <p:nvSpPr>
          <p:cNvPr id="46" name="Text 44"/>
          <p:cNvSpPr txBox="1"/>
          <p:nvPr/>
        </p:nvSpPr>
        <p:spPr>
          <a:xfrm>
            <a:off x="6016752" y="1709928"/>
            <a:ext cx="5440680" cy="457200"/>
          </a:xfrm>
          <a:prstGeom prst="rect">
            <a:avLst/>
          </a:prstGeom>
          <a:noFill/>
          <a:ln/>
        </p:spPr>
        <p:txBody>
          <a:bodyPr wrap="square" lIns="0" tIns="0" rIns="0" bIns="0" rtlCol="0" anchor="ctr"/>
          <a:lstStyle/>
          <a:p>
            <a:pPr indent="0" marL="0">
              <a:lnSpc>
                <a:spcPct val="112000"/>
              </a:lnSpc>
              <a:buNone/>
            </a:pPr>
            <a:r>
              <a:rPr lang="en-US" sz="1050" dirty="0">
                <a:solidFill>
                  <a:srgbClr val="543110"/>
                </a:solidFill>
                <a:latin typeface="Poppins" pitchFamily="34" charset="0"/>
                <a:ea typeface="Poppins" pitchFamily="34" charset="-122"/>
                <a:cs typeface="Poppins" pitchFamily="34" charset="-120"/>
              </a:rPr>
              <a:t>No open dataset exists. Every choice is justified by measured physics on this patch.</a:t>
            </a:r>
            <a:endParaRPr lang="en-US" sz="1050" dirty="0"/>
          </a:p>
        </p:txBody>
      </p:sp>
      <p:sp>
        <p:nvSpPr>
          <p:cNvPr id="47" name="Shape 45"/>
          <p:cNvSpPr/>
          <p:nvPr/>
        </p:nvSpPr>
        <p:spPr>
          <a:xfrm>
            <a:off x="5806440" y="2313432"/>
            <a:ext cx="5852160" cy="859536"/>
          </a:xfrm>
          <a:prstGeom prst="roundRect">
            <a:avLst>
              <a:gd name="adj" fmla="val 6383"/>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48" name="Shape 46"/>
          <p:cNvSpPr/>
          <p:nvPr/>
        </p:nvSpPr>
        <p:spPr>
          <a:xfrm>
            <a:off x="5806440" y="2313432"/>
            <a:ext cx="68580" cy="859536"/>
          </a:xfrm>
          <a:prstGeom prst="roundRect">
            <a:avLst>
              <a:gd name="adj" fmla="val 40000"/>
            </a:avLst>
          </a:prstGeom>
          <a:solidFill>
            <a:srgbClr val="B4762A"/>
          </a:solidFill>
          <a:ln w="12700">
            <a:solidFill>
              <a:srgbClr val="333333"/>
            </a:solidFill>
            <a:prstDash val="solid"/>
          </a:ln>
        </p:spPr>
      </p:sp>
      <p:sp>
        <p:nvSpPr>
          <p:cNvPr id="49" name="Text 47"/>
          <p:cNvSpPr txBox="1"/>
          <p:nvPr/>
        </p:nvSpPr>
        <p:spPr>
          <a:xfrm>
            <a:off x="6016752" y="2414016"/>
            <a:ext cx="5440680" cy="228600"/>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Dielectric loading — touch</a:t>
            </a:r>
            <a:endParaRPr lang="en-US" sz="1150" dirty="0"/>
          </a:p>
        </p:txBody>
      </p:sp>
      <p:sp>
        <p:nvSpPr>
          <p:cNvPr id="50" name="Text 48"/>
          <p:cNvSpPr txBox="1"/>
          <p:nvPr/>
        </p:nvSpPr>
        <p:spPr>
          <a:xfrm>
            <a:off x="6016752" y="2651760"/>
            <a:ext cx="5440680" cy="457200"/>
          </a:xfrm>
          <a:prstGeom prst="rect">
            <a:avLst/>
          </a:prstGeom>
          <a:noFill/>
          <a:ln/>
        </p:spPr>
        <p:txBody>
          <a:bodyPr wrap="square" lIns="0" tIns="0" rIns="0" bIns="0" rtlCol="0" anchor="ctr"/>
          <a:lstStyle/>
          <a:p>
            <a:pPr indent="0" marL="0">
              <a:lnSpc>
                <a:spcPct val="112000"/>
              </a:lnSpc>
              <a:buNone/>
            </a:pPr>
            <a:r>
              <a:rPr lang="en-US" sz="1050" dirty="0">
                <a:solidFill>
                  <a:srgbClr val="543110"/>
                </a:solidFill>
                <a:latin typeface="Poppins" pitchFamily="34" charset="0"/>
                <a:ea typeface="Poppins" pitchFamily="34" charset="-122"/>
                <a:cs typeface="Poppins" pitchFamily="34" charset="-120"/>
              </a:rPr>
              <a:t>Tissue permittivity ≈50–80 against ≈1 for air. Presses measure +456 to +1,717 counts.</a:t>
            </a:r>
            <a:endParaRPr lang="en-US" sz="1050" dirty="0"/>
          </a:p>
        </p:txBody>
      </p:sp>
      <p:sp>
        <p:nvSpPr>
          <p:cNvPr id="51" name="Shape 49"/>
          <p:cNvSpPr/>
          <p:nvPr/>
        </p:nvSpPr>
        <p:spPr>
          <a:xfrm>
            <a:off x="5806440" y="3255264"/>
            <a:ext cx="5852160" cy="859536"/>
          </a:xfrm>
          <a:prstGeom prst="roundRect">
            <a:avLst>
              <a:gd name="adj" fmla="val 6383"/>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52" name="Shape 50"/>
          <p:cNvSpPr/>
          <p:nvPr/>
        </p:nvSpPr>
        <p:spPr>
          <a:xfrm>
            <a:off x="5806440" y="3255264"/>
            <a:ext cx="68580" cy="859536"/>
          </a:xfrm>
          <a:prstGeom prst="roundRect">
            <a:avLst>
              <a:gd name="adj" fmla="val 40000"/>
            </a:avLst>
          </a:prstGeom>
          <a:solidFill>
            <a:srgbClr val="3E6C8A"/>
          </a:solidFill>
          <a:ln w="12700">
            <a:solidFill>
              <a:srgbClr val="333333"/>
            </a:solidFill>
            <a:prstDash val="solid"/>
          </a:ln>
        </p:spPr>
      </p:sp>
      <p:sp>
        <p:nvSpPr>
          <p:cNvPr id="53" name="Text 51"/>
          <p:cNvSpPr txBox="1"/>
          <p:nvPr/>
        </p:nvSpPr>
        <p:spPr>
          <a:xfrm>
            <a:off x="6016752" y="3355848"/>
            <a:ext cx="5440680" cy="228600"/>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Air gap opens — peel</a:t>
            </a:r>
            <a:endParaRPr lang="en-US" sz="1150" dirty="0"/>
          </a:p>
        </p:txBody>
      </p:sp>
      <p:sp>
        <p:nvSpPr>
          <p:cNvPr id="54" name="Text 52"/>
          <p:cNvSpPr txBox="1"/>
          <p:nvPr/>
        </p:nvSpPr>
        <p:spPr>
          <a:xfrm>
            <a:off x="6016752" y="3593592"/>
            <a:ext cx="5440680" cy="457200"/>
          </a:xfrm>
          <a:prstGeom prst="rect">
            <a:avLst/>
          </a:prstGeom>
          <a:noFill/>
          <a:ln/>
        </p:spPr>
        <p:txBody>
          <a:bodyPr wrap="square" lIns="0" tIns="0" rIns="0" bIns="0" rtlCol="0" anchor="ctr"/>
          <a:lstStyle/>
          <a:p>
            <a:pPr indent="0" marL="0">
              <a:lnSpc>
                <a:spcPct val="112000"/>
              </a:lnSpc>
              <a:buNone/>
            </a:pPr>
            <a:r>
              <a:rPr lang="en-US" sz="1050" dirty="0">
                <a:solidFill>
                  <a:srgbClr val="543110"/>
                </a:solidFill>
                <a:latin typeface="Poppins" pitchFamily="34" charset="0"/>
                <a:ea typeface="Poppins" pitchFamily="34" charset="-122"/>
                <a:cs typeface="Poppins" pitchFamily="34" charset="-120"/>
              </a:rPr>
              <a:t>Air under the pad, and the reading collapses. Median −866 counts, 10 of 10 cross −300.</a:t>
            </a:r>
            <a:endParaRPr lang="en-US" sz="1050" dirty="0"/>
          </a:p>
        </p:txBody>
      </p:sp>
      <p:sp>
        <p:nvSpPr>
          <p:cNvPr id="55" name="Shape 53"/>
          <p:cNvSpPr/>
          <p:nvPr/>
        </p:nvSpPr>
        <p:spPr>
          <a:xfrm>
            <a:off x="5806440" y="4197096"/>
            <a:ext cx="5852160" cy="859536"/>
          </a:xfrm>
          <a:prstGeom prst="roundRect">
            <a:avLst>
              <a:gd name="adj" fmla="val 6383"/>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56" name="Shape 54"/>
          <p:cNvSpPr/>
          <p:nvPr/>
        </p:nvSpPr>
        <p:spPr>
          <a:xfrm>
            <a:off x="5806440" y="4197096"/>
            <a:ext cx="68580" cy="859536"/>
          </a:xfrm>
          <a:prstGeom prst="roundRect">
            <a:avLst>
              <a:gd name="adj" fmla="val 40000"/>
            </a:avLst>
          </a:prstGeom>
          <a:solidFill>
            <a:srgbClr val="A3301F"/>
          </a:solidFill>
          <a:ln w="12700">
            <a:solidFill>
              <a:srgbClr val="333333"/>
            </a:solidFill>
            <a:prstDash val="solid"/>
          </a:ln>
        </p:spPr>
      </p:sp>
      <p:sp>
        <p:nvSpPr>
          <p:cNvPr id="57" name="Text 55"/>
          <p:cNvSpPr txBox="1"/>
          <p:nvPr/>
        </p:nvSpPr>
        <p:spPr>
          <a:xfrm>
            <a:off x="6016752" y="4297680"/>
            <a:ext cx="5440680" cy="228600"/>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Shear without lift-off — horizontal pull</a:t>
            </a:r>
            <a:endParaRPr lang="en-US" sz="1150" dirty="0"/>
          </a:p>
        </p:txBody>
      </p:sp>
      <p:sp>
        <p:nvSpPr>
          <p:cNvPr id="58" name="Text 56"/>
          <p:cNvSpPr txBox="1"/>
          <p:nvPr/>
        </p:nvSpPr>
        <p:spPr>
          <a:xfrm>
            <a:off x="6016752" y="4535424"/>
            <a:ext cx="5440680" cy="457200"/>
          </a:xfrm>
          <a:prstGeom prst="rect">
            <a:avLst/>
          </a:prstGeom>
          <a:noFill/>
          <a:ln/>
        </p:spPr>
        <p:txBody>
          <a:bodyPr wrap="square" lIns="0" tIns="0" rIns="0" bIns="0" rtlCol="0" anchor="ctr"/>
          <a:lstStyle/>
          <a:p>
            <a:pPr indent="0" marL="0">
              <a:lnSpc>
                <a:spcPct val="112000"/>
              </a:lnSpc>
              <a:buNone/>
            </a:pPr>
            <a:r>
              <a:rPr lang="en-US" sz="1050" dirty="0">
                <a:solidFill>
                  <a:srgbClr val="543110"/>
                </a:solidFill>
                <a:latin typeface="Poppins" pitchFamily="34" charset="0"/>
                <a:ea typeface="Poppins" pitchFamily="34" charset="-122"/>
                <a:cs typeface="Poppins" pitchFamily="34" charset="-120"/>
              </a:rPr>
              <a:t>Tension travels, but no gap opens. Median −64 counts, 0 of 10 cross −300.</a:t>
            </a:r>
            <a:endParaRPr lang="en-US" sz="1050" dirty="0"/>
          </a:p>
        </p:txBody>
      </p:sp>
      <p:sp>
        <p:nvSpPr>
          <p:cNvPr id="59" name="Text 57"/>
          <p:cNvSpPr txBox="1"/>
          <p:nvPr/>
        </p:nvSpPr>
        <p:spPr>
          <a:xfrm>
            <a:off x="502920" y="5230368"/>
            <a:ext cx="11155680" cy="384048"/>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59.85 counts per picofarad — so −300 counts is about −5 pF, and the +60 gate about +1 pF.</a:t>
            </a:r>
            <a:endParaRPr lang="en-US" sz="1000" dirty="0"/>
          </a:p>
        </p:txBody>
      </p:sp>
      <p:sp>
        <p:nvSpPr>
          <p:cNvPr id="60" name="Text 58"/>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Counts-per-pF is the published figure; every delta measured on our own 81-recording corpus.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Proposed Method (1/7)</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Four physical interaction classes, and the physical scenario that refuses to separate</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7</a:t>
            </a:r>
            <a:endParaRPr lang="en-US" sz="1500" dirty="0"/>
          </a:p>
        </p:txBody>
      </p:sp>
      <p:sp>
        <p:nvSpPr>
          <p:cNvPr id="8" name="Shape 6"/>
          <p:cNvSpPr/>
          <p:nvPr/>
        </p:nvSpPr>
        <p:spPr>
          <a:xfrm>
            <a:off x="502920" y="1371600"/>
            <a:ext cx="2679192" cy="2103120"/>
          </a:xfrm>
          <a:prstGeom prst="roundRect">
            <a:avLst>
              <a:gd name="adj" fmla="val 260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Shape 7"/>
          <p:cNvSpPr/>
          <p:nvPr/>
        </p:nvSpPr>
        <p:spPr>
          <a:xfrm>
            <a:off x="649224" y="1536192"/>
            <a:ext cx="329184" cy="329184"/>
          </a:xfrm>
          <a:prstGeom prst="ellipse">
            <a:avLst/>
          </a:prstGeom>
          <a:solidFill>
            <a:srgbClr val="5A7247"/>
          </a:solidFill>
          <a:ln w="12700">
            <a:solidFill>
              <a:srgbClr val="333333"/>
            </a:solidFill>
            <a:prstDash val="solid"/>
          </a:ln>
        </p:spPr>
      </p:sp>
      <p:sp>
        <p:nvSpPr>
          <p:cNvPr id="10" name="Text 8"/>
          <p:cNvSpPr txBox="1"/>
          <p:nvPr/>
        </p:nvSpPr>
        <p:spPr>
          <a:xfrm>
            <a:off x="649224" y="1536192"/>
            <a:ext cx="329184" cy="329184"/>
          </a:xfrm>
          <a:prstGeom prst="rect">
            <a:avLst/>
          </a:prstGeom>
          <a:noFill/>
          <a:ln/>
        </p:spPr>
        <p:txBody>
          <a:bodyPr wrap="square" lIns="0" tIns="0" rIns="0" bIns="0" rtlCol="0" anchor="ctr"/>
          <a:lstStyle/>
          <a:p>
            <a:pPr algn="ctr" indent="0" marL="0">
              <a:buNone/>
            </a:pPr>
            <a:r>
              <a:rPr lang="en-US" sz="1100" b="1" dirty="0">
                <a:solidFill>
                  <a:srgbClr val="FDF8EA"/>
                </a:solidFill>
                <a:latin typeface="Poppins" pitchFamily="34" charset="0"/>
                <a:ea typeface="Poppins" pitchFamily="34" charset="-122"/>
                <a:cs typeface="Poppins" pitchFamily="34" charset="-120"/>
              </a:rPr>
              <a:t>1</a:t>
            </a:r>
            <a:endParaRPr lang="en-US" sz="1100" dirty="0"/>
          </a:p>
        </p:txBody>
      </p:sp>
      <p:sp>
        <p:nvSpPr>
          <p:cNvPr id="11" name="Text 9"/>
          <p:cNvSpPr txBox="1"/>
          <p:nvPr/>
        </p:nvSpPr>
        <p:spPr>
          <a:xfrm>
            <a:off x="649224" y="1956816"/>
            <a:ext cx="2386584" cy="256032"/>
          </a:xfrm>
          <a:prstGeom prst="rect">
            <a:avLst/>
          </a:prstGeom>
          <a:noFill/>
          <a:ln/>
        </p:spPr>
        <p:txBody>
          <a:bodyPr wrap="square" lIns="0" tIns="0" rIns="0" bIns="0" rtlCol="0" anchor="ctr"/>
          <a:lstStyle/>
          <a:p>
            <a:pPr indent="0" marL="0">
              <a:buNone/>
            </a:pPr>
            <a:r>
              <a:rPr lang="en-US" sz="1400" b="1" dirty="0">
                <a:solidFill>
                  <a:srgbClr val="3D1700"/>
                </a:solidFill>
                <a:latin typeface="Poppins" pitchFamily="34" charset="0"/>
                <a:ea typeface="Poppins" pitchFamily="34" charset="-122"/>
                <a:cs typeface="Poppins" pitchFamily="34" charset="-120"/>
              </a:rPr>
              <a:t>Baseline</a:t>
            </a:r>
            <a:endParaRPr lang="en-US" sz="1400" dirty="0"/>
          </a:p>
        </p:txBody>
      </p:sp>
      <p:sp>
        <p:nvSpPr>
          <p:cNvPr id="12" name="Text 10"/>
          <p:cNvSpPr txBox="1"/>
          <p:nvPr/>
        </p:nvSpPr>
        <p:spPr>
          <a:xfrm>
            <a:off x="649224" y="2231136"/>
            <a:ext cx="2386584" cy="310896"/>
          </a:xfrm>
          <a:prstGeom prst="rect">
            <a:avLst/>
          </a:prstGeom>
          <a:noFill/>
          <a:ln/>
        </p:spPr>
        <p:txBody>
          <a:bodyPr wrap="square" lIns="0" tIns="0" rIns="0" bIns="0" rtlCol="0" anchor="ctr"/>
          <a:lstStyle/>
          <a:p>
            <a:pPr indent="0" marL="0">
              <a:lnSpc>
                <a:spcPct val="110000"/>
              </a:lnSpc>
              <a:buNone/>
            </a:pPr>
            <a:r>
              <a:rPr lang="en-US" sz="900" dirty="0">
                <a:solidFill>
                  <a:srgbClr val="7A5A3F"/>
                </a:solidFill>
                <a:latin typeface="Poppins" pitchFamily="34" charset="0"/>
                <a:ea typeface="Poppins" pitchFamily="34" charset="-122"/>
                <a:cs typeface="Poppins" pitchFamily="34" charset="-120"/>
              </a:rPr>
              <a:t>Patient at rest</a:t>
            </a:r>
            <a:endParaRPr lang="en-US" sz="900" dirty="0"/>
          </a:p>
        </p:txBody>
      </p:sp>
      <p:sp>
        <p:nvSpPr>
          <p:cNvPr id="13" name="Text 11"/>
          <p:cNvSpPr txBox="1"/>
          <p:nvPr/>
        </p:nvSpPr>
        <p:spPr>
          <a:xfrm>
            <a:off x="649224" y="2596896"/>
            <a:ext cx="2386584" cy="51206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Thermal drift only,</a:t>
            </a:r>
            <a:endParaRPr lang="en-US" sz="1050" dirty="0"/>
          </a:p>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within 60 counts</a:t>
            </a:r>
            <a:endParaRPr lang="en-US" sz="1050" dirty="0"/>
          </a:p>
        </p:txBody>
      </p:sp>
      <p:sp>
        <p:nvSpPr>
          <p:cNvPr id="14" name="Shape 12"/>
          <p:cNvSpPr/>
          <p:nvPr/>
        </p:nvSpPr>
        <p:spPr>
          <a:xfrm>
            <a:off x="649224" y="3145536"/>
            <a:ext cx="2386584" cy="274320"/>
          </a:xfrm>
          <a:prstGeom prst="roundRect">
            <a:avLst>
              <a:gd name="adj" fmla="val 50000"/>
            </a:avLst>
          </a:prstGeom>
          <a:solidFill>
            <a:srgbClr val="F4EAD2"/>
          </a:solidFill>
          <a:ln w="12700">
            <a:solidFill>
              <a:srgbClr val="5A7247"/>
            </a:solidFill>
            <a:prstDash val="solid"/>
          </a:ln>
        </p:spPr>
      </p:sp>
      <p:sp>
        <p:nvSpPr>
          <p:cNvPr id="15" name="Text 13"/>
          <p:cNvSpPr txBox="1"/>
          <p:nvPr/>
        </p:nvSpPr>
        <p:spPr>
          <a:xfrm>
            <a:off x="649224" y="3145536"/>
            <a:ext cx="2386584"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Safe · Level 0</a:t>
            </a:r>
            <a:endParaRPr lang="en-US" sz="900" dirty="0"/>
          </a:p>
        </p:txBody>
      </p:sp>
      <p:sp>
        <p:nvSpPr>
          <p:cNvPr id="16" name="Shape 14"/>
          <p:cNvSpPr/>
          <p:nvPr/>
        </p:nvSpPr>
        <p:spPr>
          <a:xfrm>
            <a:off x="3328416" y="1371600"/>
            <a:ext cx="2679192" cy="2103120"/>
          </a:xfrm>
          <a:prstGeom prst="roundRect">
            <a:avLst>
              <a:gd name="adj" fmla="val 260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7" name="Shape 15"/>
          <p:cNvSpPr/>
          <p:nvPr/>
        </p:nvSpPr>
        <p:spPr>
          <a:xfrm>
            <a:off x="3474720" y="1536192"/>
            <a:ext cx="329184" cy="329184"/>
          </a:xfrm>
          <a:prstGeom prst="ellipse">
            <a:avLst/>
          </a:prstGeom>
          <a:solidFill>
            <a:srgbClr val="B4762A"/>
          </a:solidFill>
          <a:ln w="12700">
            <a:solidFill>
              <a:srgbClr val="333333"/>
            </a:solidFill>
            <a:prstDash val="solid"/>
          </a:ln>
        </p:spPr>
      </p:sp>
      <p:sp>
        <p:nvSpPr>
          <p:cNvPr id="18" name="Text 16"/>
          <p:cNvSpPr txBox="1"/>
          <p:nvPr/>
        </p:nvSpPr>
        <p:spPr>
          <a:xfrm>
            <a:off x="3474720" y="1536192"/>
            <a:ext cx="329184" cy="329184"/>
          </a:xfrm>
          <a:prstGeom prst="rect">
            <a:avLst/>
          </a:prstGeom>
          <a:noFill/>
          <a:ln/>
        </p:spPr>
        <p:txBody>
          <a:bodyPr wrap="square" lIns="0" tIns="0" rIns="0" bIns="0" rtlCol="0" anchor="ctr"/>
          <a:lstStyle/>
          <a:p>
            <a:pPr algn="ctr" indent="0" marL="0">
              <a:buNone/>
            </a:pPr>
            <a:r>
              <a:rPr lang="en-US" sz="1100" b="1" dirty="0">
                <a:solidFill>
                  <a:srgbClr val="FDF8EA"/>
                </a:solidFill>
                <a:latin typeface="Poppins" pitchFamily="34" charset="0"/>
                <a:ea typeface="Poppins" pitchFamily="34" charset="-122"/>
                <a:cs typeface="Poppins" pitchFamily="34" charset="-120"/>
              </a:rPr>
              <a:t>2</a:t>
            </a:r>
            <a:endParaRPr lang="en-US" sz="1100" dirty="0"/>
          </a:p>
        </p:txBody>
      </p:sp>
      <p:sp>
        <p:nvSpPr>
          <p:cNvPr id="19" name="Text 17"/>
          <p:cNvSpPr txBox="1"/>
          <p:nvPr/>
        </p:nvSpPr>
        <p:spPr>
          <a:xfrm>
            <a:off x="3474720" y="1956816"/>
            <a:ext cx="2386584" cy="256032"/>
          </a:xfrm>
          <a:prstGeom prst="rect">
            <a:avLst/>
          </a:prstGeom>
          <a:noFill/>
          <a:ln/>
        </p:spPr>
        <p:txBody>
          <a:bodyPr wrap="square" lIns="0" tIns="0" rIns="0" bIns="0" rtlCol="0" anchor="ctr"/>
          <a:lstStyle/>
          <a:p>
            <a:pPr indent="0" marL="0">
              <a:buNone/>
            </a:pPr>
            <a:r>
              <a:rPr lang="en-US" sz="1400" b="1" dirty="0">
                <a:solidFill>
                  <a:srgbClr val="3D1700"/>
                </a:solidFill>
                <a:latin typeface="Poppins" pitchFamily="34" charset="0"/>
                <a:ea typeface="Poppins" pitchFamily="34" charset="-122"/>
                <a:cs typeface="Poppins" pitchFamily="34" charset="-120"/>
              </a:rPr>
              <a:t>Touch &amp; Rubbing</a:t>
            </a:r>
            <a:endParaRPr lang="en-US" sz="1400" dirty="0"/>
          </a:p>
        </p:txBody>
      </p:sp>
      <p:sp>
        <p:nvSpPr>
          <p:cNvPr id="20" name="Text 18"/>
          <p:cNvSpPr txBox="1"/>
          <p:nvPr/>
        </p:nvSpPr>
        <p:spPr>
          <a:xfrm>
            <a:off x="3474720" y="2231136"/>
            <a:ext cx="2386584" cy="310896"/>
          </a:xfrm>
          <a:prstGeom prst="rect">
            <a:avLst/>
          </a:prstGeom>
          <a:noFill/>
          <a:ln/>
        </p:spPr>
        <p:txBody>
          <a:bodyPr wrap="square" lIns="0" tIns="0" rIns="0" bIns="0" rtlCol="0" anchor="ctr"/>
          <a:lstStyle/>
          <a:p>
            <a:pPr indent="0" marL="0">
              <a:lnSpc>
                <a:spcPct val="110000"/>
              </a:lnSpc>
              <a:buNone/>
            </a:pPr>
            <a:r>
              <a:rPr lang="en-US" sz="900" dirty="0">
                <a:solidFill>
                  <a:srgbClr val="7A5A3F"/>
                </a:solidFill>
                <a:latin typeface="Poppins" pitchFamily="34" charset="0"/>
                <a:ea typeface="Poppins" pitchFamily="34" charset="-122"/>
                <a:cs typeface="Poppins" pitchFamily="34" charset="-120"/>
              </a:rPr>
              <a:t>Accidental tap &amp; gown friction</a:t>
            </a:r>
            <a:endParaRPr lang="en-US" sz="900" dirty="0"/>
          </a:p>
        </p:txBody>
      </p:sp>
      <p:sp>
        <p:nvSpPr>
          <p:cNvPr id="21" name="Text 19"/>
          <p:cNvSpPr txBox="1"/>
          <p:nvPr/>
        </p:nvSpPr>
        <p:spPr>
          <a:xfrm>
            <a:off x="3474720" y="2596896"/>
            <a:ext cx="2386584" cy="51206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Transient localized peak or</a:t>
            </a:r>
            <a:endParaRPr lang="en-US" sz="1050" dirty="0"/>
          </a:p>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travelling wave; fast recovery</a:t>
            </a:r>
            <a:endParaRPr lang="en-US" sz="1050" dirty="0"/>
          </a:p>
        </p:txBody>
      </p:sp>
      <p:sp>
        <p:nvSpPr>
          <p:cNvPr id="22" name="Shape 20"/>
          <p:cNvSpPr/>
          <p:nvPr/>
        </p:nvSpPr>
        <p:spPr>
          <a:xfrm>
            <a:off x="3474720" y="3145536"/>
            <a:ext cx="2386584" cy="274320"/>
          </a:xfrm>
          <a:prstGeom prst="roundRect">
            <a:avLst>
              <a:gd name="adj" fmla="val 50000"/>
            </a:avLst>
          </a:prstGeom>
          <a:solidFill>
            <a:srgbClr val="F4EAD2"/>
          </a:solidFill>
          <a:ln w="12700">
            <a:solidFill>
              <a:srgbClr val="B4762A"/>
            </a:solidFill>
            <a:prstDash val="solid"/>
          </a:ln>
        </p:spPr>
      </p:sp>
      <p:sp>
        <p:nvSpPr>
          <p:cNvPr id="23" name="Text 21"/>
          <p:cNvSpPr txBox="1"/>
          <p:nvPr/>
        </p:nvSpPr>
        <p:spPr>
          <a:xfrm>
            <a:off x="3474720" y="3145536"/>
            <a:ext cx="2386584"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Advisory · Level 1</a:t>
            </a:r>
            <a:endParaRPr lang="en-US" sz="900" dirty="0"/>
          </a:p>
        </p:txBody>
      </p:sp>
      <p:sp>
        <p:nvSpPr>
          <p:cNvPr id="40" name="Shape 38"/>
          <p:cNvSpPr/>
          <p:nvPr/>
        </p:nvSpPr>
        <p:spPr>
          <a:xfrm>
            <a:off x="6153912" y="1371600"/>
            <a:ext cx="2679192" cy="2103120"/>
          </a:xfrm>
          <a:prstGeom prst="roundRect">
            <a:avLst>
              <a:gd name="adj" fmla="val 260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41" name="Shape 39"/>
          <p:cNvSpPr/>
          <p:nvPr/>
        </p:nvSpPr>
        <p:spPr>
          <a:xfrm>
            <a:off x="6300216" y="1536192"/>
            <a:ext cx="329184" cy="329184"/>
          </a:xfrm>
          <a:prstGeom prst="ellipse">
            <a:avLst/>
          </a:prstGeom>
          <a:solidFill>
            <a:srgbClr val="3E6C8A"/>
          </a:solidFill>
          <a:ln w="12700">
            <a:solidFill>
              <a:srgbClr val="333333"/>
            </a:solidFill>
            <a:prstDash val="solid"/>
          </a:ln>
        </p:spPr>
      </p:sp>
      <p:sp>
        <p:nvSpPr>
          <p:cNvPr id="42" name="Text 40"/>
          <p:cNvSpPr txBox="1"/>
          <p:nvPr/>
        </p:nvSpPr>
        <p:spPr>
          <a:xfrm>
            <a:off x="6300216" y="1536192"/>
            <a:ext cx="329184" cy="329184"/>
          </a:xfrm>
          <a:prstGeom prst="rect">
            <a:avLst/>
          </a:prstGeom>
          <a:noFill/>
          <a:ln/>
        </p:spPr>
        <p:txBody>
          <a:bodyPr wrap="square" lIns="0" tIns="0" rIns="0" bIns="0" rtlCol="0" anchor="ctr"/>
          <a:lstStyle/>
          <a:p>
            <a:pPr algn="ctr" indent="0" marL="0">
              <a:buNone/>
            </a:pPr>
            <a:r>
              <a:rPr lang="en-US" sz="1100" b="1" dirty="0">
                <a:solidFill>
                  <a:srgbClr val="FDF8EA"/>
                </a:solidFill>
                <a:latin typeface="Poppins" pitchFamily="34" charset="0"/>
                <a:ea typeface="Poppins" pitchFamily="34" charset="-122"/>
                <a:cs typeface="Poppins" pitchFamily="34" charset="-120"/>
              </a:rPr>
              <a:t>3</a:t>
            </a:r>
            <a:endParaRPr lang="en-US" sz="1100" dirty="0"/>
          </a:p>
        </p:txBody>
      </p:sp>
      <p:sp>
        <p:nvSpPr>
          <p:cNvPr id="43" name="Text 41"/>
          <p:cNvSpPr txBox="1"/>
          <p:nvPr/>
        </p:nvSpPr>
        <p:spPr>
          <a:xfrm>
            <a:off x="6300216" y="1956816"/>
            <a:ext cx="2386584" cy="256032"/>
          </a:xfrm>
          <a:prstGeom prst="rect">
            <a:avLst/>
          </a:prstGeom>
          <a:noFill/>
          <a:ln/>
        </p:spPr>
        <p:txBody>
          <a:bodyPr wrap="square" lIns="0" tIns="0" rIns="0" bIns="0" rtlCol="0" anchor="ctr"/>
          <a:lstStyle/>
          <a:p>
            <a:pPr indent="0" marL="0">
              <a:buNone/>
            </a:pPr>
            <a:r>
              <a:rPr lang="en-US" sz="1400" b="1" dirty="0">
                <a:solidFill>
                  <a:srgbClr val="3D1700"/>
                </a:solidFill>
                <a:latin typeface="Poppins" pitchFamily="34" charset="0"/>
                <a:ea typeface="Poppins" pitchFamily="34" charset="-122"/>
                <a:cs typeface="Poppins" pitchFamily="34" charset="-120"/>
              </a:rPr>
              <a:t>Peeling</a:t>
            </a:r>
            <a:endParaRPr lang="en-US" sz="1400" dirty="0"/>
          </a:p>
        </p:txBody>
      </p:sp>
      <p:sp>
        <p:nvSpPr>
          <p:cNvPr id="44" name="Text 42"/>
          <p:cNvSpPr txBox="1"/>
          <p:nvPr/>
        </p:nvSpPr>
        <p:spPr>
          <a:xfrm>
            <a:off x="6300216" y="2231136"/>
            <a:ext cx="2386584" cy="310896"/>
          </a:xfrm>
          <a:prstGeom prst="rect">
            <a:avLst/>
          </a:prstGeom>
          <a:noFill/>
          <a:ln/>
        </p:spPr>
        <p:txBody>
          <a:bodyPr wrap="square" lIns="0" tIns="0" rIns="0" bIns="0" rtlCol="0" anchor="ctr"/>
          <a:lstStyle/>
          <a:p>
            <a:pPr indent="0" marL="0">
              <a:lnSpc>
                <a:spcPct val="110000"/>
              </a:lnSpc>
              <a:buNone/>
            </a:pPr>
            <a:r>
              <a:rPr lang="en-US" sz="900" dirty="0">
                <a:solidFill>
                  <a:srgbClr val="7A5A3F"/>
                </a:solidFill>
                <a:latin typeface="Poppins" pitchFamily="34" charset="0"/>
                <a:ea typeface="Poppins" pitchFamily="34" charset="-122"/>
                <a:cs typeface="Poppins" pitchFamily="34" charset="-120"/>
              </a:rPr>
              <a:t>Edge detachment</a:t>
            </a:r>
            <a:endParaRPr lang="en-US" sz="900" dirty="0"/>
          </a:p>
        </p:txBody>
      </p:sp>
      <p:sp>
        <p:nvSpPr>
          <p:cNvPr id="45" name="Text 43"/>
          <p:cNvSpPr txBox="1"/>
          <p:nvPr/>
        </p:nvSpPr>
        <p:spPr>
          <a:xfrm>
            <a:off x="6300216" y="2596896"/>
            <a:ext cx="2386584" cy="51206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Deep negative trough,</a:t>
            </a:r>
            <a:endParaRPr lang="en-US" sz="1050" dirty="0"/>
          </a:p>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below -300 counts</a:t>
            </a:r>
            <a:endParaRPr lang="en-US" sz="1050" dirty="0"/>
          </a:p>
        </p:txBody>
      </p:sp>
      <p:sp>
        <p:nvSpPr>
          <p:cNvPr id="46" name="Shape 44"/>
          <p:cNvSpPr/>
          <p:nvPr/>
        </p:nvSpPr>
        <p:spPr>
          <a:xfrm>
            <a:off x="6300216" y="3145536"/>
            <a:ext cx="2386584" cy="274320"/>
          </a:xfrm>
          <a:prstGeom prst="roundRect">
            <a:avLst>
              <a:gd name="adj" fmla="val 50000"/>
            </a:avLst>
          </a:prstGeom>
          <a:solidFill>
            <a:srgbClr val="F4EAD2"/>
          </a:solidFill>
          <a:ln w="12700">
            <a:solidFill>
              <a:srgbClr val="3E6C8A"/>
            </a:solidFill>
            <a:prstDash val="solid"/>
          </a:ln>
        </p:spPr>
      </p:sp>
      <p:sp>
        <p:nvSpPr>
          <p:cNvPr id="47" name="Text 45"/>
          <p:cNvSpPr txBox="1"/>
          <p:nvPr/>
        </p:nvSpPr>
        <p:spPr>
          <a:xfrm>
            <a:off x="6300216" y="3145536"/>
            <a:ext cx="2386584"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Warning · Level 2</a:t>
            </a:r>
            <a:endParaRPr lang="en-US" sz="900" dirty="0"/>
          </a:p>
        </p:txBody>
      </p:sp>
      <p:sp>
        <p:nvSpPr>
          <p:cNvPr id="32" name="Shape 30"/>
          <p:cNvSpPr/>
          <p:nvPr/>
        </p:nvSpPr>
        <p:spPr>
          <a:xfrm>
            <a:off x="8979408" y="1371600"/>
            <a:ext cx="2679192" cy="2103120"/>
          </a:xfrm>
          <a:prstGeom prst="roundRect">
            <a:avLst>
              <a:gd name="adj" fmla="val 260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33" name="Shape 31"/>
          <p:cNvSpPr/>
          <p:nvPr/>
        </p:nvSpPr>
        <p:spPr>
          <a:xfrm>
            <a:off x="9125712" y="1536192"/>
            <a:ext cx="329184" cy="329184"/>
          </a:xfrm>
          <a:prstGeom prst="ellipse">
            <a:avLst/>
          </a:prstGeom>
          <a:solidFill>
            <a:srgbClr val="A3301F"/>
          </a:solidFill>
          <a:ln w="12700">
            <a:solidFill>
              <a:srgbClr val="333333"/>
            </a:solidFill>
            <a:prstDash val="solid"/>
          </a:ln>
        </p:spPr>
      </p:sp>
      <p:sp>
        <p:nvSpPr>
          <p:cNvPr id="34" name="Text 32"/>
          <p:cNvSpPr txBox="1"/>
          <p:nvPr/>
        </p:nvSpPr>
        <p:spPr>
          <a:xfrm>
            <a:off x="9125712" y="1536192"/>
            <a:ext cx="329184" cy="329184"/>
          </a:xfrm>
          <a:prstGeom prst="rect">
            <a:avLst/>
          </a:prstGeom>
          <a:noFill/>
          <a:ln/>
        </p:spPr>
        <p:txBody>
          <a:bodyPr wrap="square" lIns="0" tIns="0" rIns="0" bIns="0" rtlCol="0" anchor="ctr"/>
          <a:lstStyle/>
          <a:p>
            <a:pPr algn="ctr" indent="0" marL="0">
              <a:buNone/>
            </a:pPr>
            <a:r>
              <a:rPr lang="en-US" sz="1100" b="1" dirty="0">
                <a:solidFill>
                  <a:srgbClr val="FDF8EA"/>
                </a:solidFill>
                <a:latin typeface="Poppins" pitchFamily="34" charset="0"/>
                <a:ea typeface="Poppins" pitchFamily="34" charset="-122"/>
                <a:cs typeface="Poppins" pitchFamily="34" charset="-120"/>
              </a:rPr>
              <a:t>4</a:t>
            </a:r>
            <a:endParaRPr lang="en-US" sz="1100" dirty="0"/>
          </a:p>
        </p:txBody>
      </p:sp>
      <p:sp>
        <p:nvSpPr>
          <p:cNvPr id="35" name="Text 33"/>
          <p:cNvSpPr txBox="1"/>
          <p:nvPr/>
        </p:nvSpPr>
        <p:spPr>
          <a:xfrm>
            <a:off x="9125712" y="1956816"/>
            <a:ext cx="2386584" cy="256032"/>
          </a:xfrm>
          <a:prstGeom prst="rect">
            <a:avLst/>
          </a:prstGeom>
          <a:noFill/>
          <a:ln/>
        </p:spPr>
        <p:txBody>
          <a:bodyPr wrap="square" lIns="0" tIns="0" rIns="0" bIns="0" rtlCol="0" anchor="ctr"/>
          <a:lstStyle/>
          <a:p>
            <a:pPr indent="0" marL="0">
              <a:buNone/>
            </a:pPr>
            <a:r>
              <a:rPr lang="en-US" sz="1400" b="1" dirty="0">
                <a:solidFill>
                  <a:srgbClr val="3D1700"/>
                </a:solidFill>
                <a:latin typeface="Poppins" pitchFamily="34" charset="0"/>
                <a:ea typeface="Poppins" pitchFamily="34" charset="-122"/>
                <a:cs typeface="Poppins" pitchFamily="34" charset="-120"/>
              </a:rPr>
              <a:t>Pulling</a:t>
            </a:r>
            <a:endParaRPr lang="en-US" sz="1400" dirty="0"/>
          </a:p>
        </p:txBody>
      </p:sp>
      <p:sp>
        <p:nvSpPr>
          <p:cNvPr id="36" name="Text 34"/>
          <p:cNvSpPr txBox="1"/>
          <p:nvPr/>
        </p:nvSpPr>
        <p:spPr>
          <a:xfrm>
            <a:off x="9125712" y="2231136"/>
            <a:ext cx="2386584" cy="310896"/>
          </a:xfrm>
          <a:prstGeom prst="rect">
            <a:avLst/>
          </a:prstGeom>
          <a:noFill/>
          <a:ln/>
        </p:spPr>
        <p:txBody>
          <a:bodyPr wrap="square" lIns="0" tIns="0" rIns="0" bIns="0" rtlCol="0" anchor="ctr"/>
          <a:lstStyle/>
          <a:p>
            <a:pPr indent="0" marL="0">
              <a:lnSpc>
                <a:spcPct val="110000"/>
              </a:lnSpc>
              <a:buNone/>
            </a:pPr>
            <a:r>
              <a:rPr lang="en-US" sz="900" dirty="0">
                <a:solidFill>
                  <a:srgbClr val="7A5A3F"/>
                </a:solidFill>
                <a:latin typeface="Poppins" pitchFamily="34" charset="0"/>
                <a:ea typeface="Poppins" pitchFamily="34" charset="-122"/>
                <a:cs typeface="Poppins" pitchFamily="34" charset="-120"/>
              </a:rPr>
              <a:t>Grasping and pulling the tube</a:t>
            </a:r>
            <a:endParaRPr lang="en-US" sz="900" dirty="0"/>
          </a:p>
        </p:txBody>
      </p:sp>
      <p:sp>
        <p:nvSpPr>
          <p:cNvPr id="37" name="Text 35"/>
          <p:cNvSpPr txBox="1"/>
          <p:nvPr/>
        </p:nvSpPr>
        <p:spPr>
          <a:xfrm>
            <a:off x="9125712" y="2596896"/>
            <a:ext cx="2386584" cy="51206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Sustained multi-pad load,</a:t>
            </a:r>
            <a:endParaRPr lang="en-US" sz="1050" dirty="0"/>
          </a:p>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high signal energy</a:t>
            </a:r>
            <a:endParaRPr lang="en-US" sz="1050" dirty="0"/>
          </a:p>
        </p:txBody>
      </p:sp>
      <p:sp>
        <p:nvSpPr>
          <p:cNvPr id="38" name="Shape 36"/>
          <p:cNvSpPr/>
          <p:nvPr/>
        </p:nvSpPr>
        <p:spPr>
          <a:xfrm>
            <a:off x="9125712" y="3145536"/>
            <a:ext cx="2386584" cy="274320"/>
          </a:xfrm>
          <a:prstGeom prst="roundRect">
            <a:avLst>
              <a:gd name="adj" fmla="val 50000"/>
            </a:avLst>
          </a:prstGeom>
          <a:solidFill>
            <a:srgbClr val="F4EAD2"/>
          </a:solidFill>
          <a:ln w="12700">
            <a:solidFill>
              <a:srgbClr val="A3301F"/>
            </a:solidFill>
            <a:prstDash val="solid"/>
          </a:ln>
        </p:spPr>
      </p:sp>
      <p:sp>
        <p:nvSpPr>
          <p:cNvPr id="39" name="Text 37"/>
          <p:cNvSpPr txBox="1"/>
          <p:nvPr/>
        </p:nvSpPr>
        <p:spPr>
          <a:xfrm>
            <a:off x="9125712" y="3145536"/>
            <a:ext cx="2386584"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Critical · Level 3</a:t>
            </a:r>
            <a:endParaRPr lang="en-US" sz="900" dirty="0"/>
          </a:p>
        </p:txBody>
      </p:sp>
      <p:sp>
        <p:nvSpPr>
          <p:cNvPr id="48" name="Shape 46"/>
          <p:cNvSpPr/>
          <p:nvPr/>
        </p:nvSpPr>
        <p:spPr>
          <a:xfrm>
            <a:off x="502920" y="3611880"/>
            <a:ext cx="4983480" cy="2450592"/>
          </a:xfrm>
          <a:prstGeom prst="roundRect">
            <a:avLst>
              <a:gd name="adj" fmla="val 223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49" name="Text 47"/>
          <p:cNvSpPr txBox="1"/>
          <p:nvPr/>
        </p:nvSpPr>
        <p:spPr>
          <a:xfrm>
            <a:off x="685800" y="3685032"/>
            <a:ext cx="4617720" cy="219456"/>
          </a:xfrm>
          <a:prstGeom prst="rect">
            <a:avLst/>
          </a:prstGeom>
          <a:noFill/>
          <a:ln/>
        </p:spPr>
        <p:txBody>
          <a:bodyPr wrap="square" lIns="0" tIns="0" rIns="0" bIns="0" rtlCol="0" anchor="ctr"/>
          <a:lstStyle/>
          <a:p>
            <a:pPr indent="0" marL="0">
              <a:buNone/>
            </a:pPr>
            <a:r>
              <a:rPr lang="en-US" sz="1050" b="1" dirty="0">
                <a:solidFill>
                  <a:srgbClr val="3D1700"/>
                </a:solidFill>
                <a:latin typeface="Poppins" pitchFamily="34" charset="0"/>
                <a:ea typeface="Poppins" pitchFamily="34" charset="-122"/>
                <a:cs typeface="Poppins" pitchFamily="34" charset="-120"/>
              </a:rPr>
              <a:t>Three of them, measured on our own recordings</a:t>
            </a:r>
            <a:endParaRPr lang="en-US" sz="1050" dirty="0"/>
          </a:p>
        </p:txBody>
      </p:sp>
      <p:pic>
        <p:nvPicPr>
          <p:cNvPr id="50" name="Image 0" descr="/home/claude/deck/img/fig_heatmaps.png">    </p:cNvPr>
          <p:cNvPicPr>
            <a:picLocks noChangeAspect="1"/>
          </p:cNvPicPr>
          <p:nvPr/>
        </p:nvPicPr>
        <p:blipFill>
          <a:blip r:embed="rId2"/>
          <a:stretch>
            <a:fillRect/>
          </a:stretch>
        </p:blipFill>
        <p:spPr>
          <a:xfrm>
            <a:off x="685800" y="3895344"/>
            <a:ext cx="4590288" cy="1965960"/>
          </a:xfrm>
          <a:prstGeom prst="rect">
            <a:avLst/>
          </a:prstGeom>
        </p:spPr>
      </p:pic>
      <p:sp>
        <p:nvSpPr>
          <p:cNvPr id="51" name="Shape 48"/>
          <p:cNvSpPr/>
          <p:nvPr/>
        </p:nvSpPr>
        <p:spPr>
          <a:xfrm>
            <a:off x="5943600" y="3611880"/>
            <a:ext cx="5715000" cy="2450592"/>
          </a:xfrm>
          <a:prstGeom prst="roundRect">
            <a:avLst>
              <a:gd name="adj" fmla="val 2239"/>
            </a:avLst>
          </a:prstGeom>
          <a:solidFill>
            <a:srgbClr val="F6E4DC"/>
          </a:solidFill>
          <a:ln w="12700">
            <a:solidFill>
              <a:srgbClr val="A3301F"/>
            </a:solidFill>
            <a:prstDash val="solid"/>
          </a:ln>
          <a:effectLst>
            <a:outerShdw sx="100000" sy="100000" kx="0" ky="0" algn="bl" rotWithShape="0" blurRad="127000" dist="25400" dir="5400000">
              <a:srgbClr val="3D1700">
                <a:alpha val="13000"/>
              </a:srgbClr>
            </a:outerShdw>
          </a:effectLst>
        </p:spPr>
      </p:sp>
      <p:sp>
        <p:nvSpPr>
          <p:cNvPr id="52" name="Text 49"/>
          <p:cNvSpPr txBox="1"/>
          <p:nvPr/>
        </p:nvSpPr>
        <p:spPr>
          <a:xfrm>
            <a:off x="6144768" y="3730752"/>
            <a:ext cx="5303520" cy="256032"/>
          </a:xfrm>
          <a:prstGeom prst="rect">
            <a:avLst/>
          </a:prstGeom>
          <a:noFill/>
          <a:ln/>
        </p:spPr>
        <p:txBody>
          <a:bodyPr wrap="square" lIns="0" tIns="0" rIns="0" bIns="0" rtlCol="0" anchor="ctr"/>
          <a:lstStyle/>
          <a:p>
            <a:pPr indent="0" marL="0">
              <a:buNone/>
            </a:pPr>
            <a:r>
              <a:rPr lang="en-US" sz="1200" b="1" dirty="0">
                <a:solidFill>
                  <a:srgbClr val="A3301F"/>
                </a:solidFill>
                <a:latin typeface="Poppins" pitchFamily="34" charset="0"/>
                <a:ea typeface="Poppins" pitchFamily="34" charset="-122"/>
                <a:cs typeface="Poppins" pitchFamily="34" charset="-120"/>
              </a:rPr>
              <a:t>The scenario that does not separate</a:t>
            </a:r>
            <a:endParaRPr lang="en-US" sz="1200" dirty="0"/>
          </a:p>
        </p:txBody>
      </p:sp>
      <p:sp>
        <p:nvSpPr>
          <p:cNvPr id="53" name="Text 50"/>
          <p:cNvSpPr txBox="1"/>
          <p:nvPr/>
        </p:nvSpPr>
        <p:spPr>
          <a:xfrm>
            <a:off x="6144768" y="4041648"/>
            <a:ext cx="5303520" cy="1371600"/>
          </a:xfrm>
          <a:prstGeom prst="rect">
            <a:avLst/>
          </a:prstGeom>
          <a:noFill/>
          <a:ln/>
        </p:spPr>
        <p:txBody>
          <a:bodyPr wrap="square" lIns="0" tIns="0" rIns="0" bIns="0" rtlCol="0" anchor="t"/>
          <a:lstStyle/>
          <a:p>
            <a:pPr indent="0" marL="0">
              <a:lnSpc>
                <a:spcPct val="117000"/>
              </a:lnSpc>
              <a:buNone/>
            </a:pPr>
            <a:r>
              <a:rPr lang="en-US" sz="950" dirty="0">
                <a:solidFill>
                  <a:srgbClr val="6B2015"/>
                </a:solidFill>
                <a:latin typeface="Poppins" pitchFamily="34" charset="0"/>
                <a:ea typeface="Poppins" pitchFamily="34" charset="-122"/>
                <a:cs typeface="Poppins" pitchFamily="34" charset="-120"/>
              </a:rPr>
              <a:t>Median deepest −64 counts — quieter than Friction, which is a normal class. 0 of 10 cross −300.</a:t>
            </a:r>
            <a:endParaRPr lang="en-US" sz="950" dirty="0"/>
          </a:p>
          <a:p>
            <a:pPr indent="0" marL="0">
              <a:lnSpc>
                <a:spcPct val="117000"/>
              </a:lnSpc>
              <a:buNone/>
            </a:pPr>
            <a:endParaRPr lang="en-US" sz="950" dirty="0"/>
          </a:p>
          <a:p>
            <a:pPr indent="0" marL="0">
              <a:lnSpc>
                <a:spcPct val="117000"/>
              </a:lnSpc>
              <a:buNone/>
            </a:pPr>
            <a:r>
              <a:rPr lang="en-US" sz="950" dirty="0">
                <a:solidFill>
                  <a:srgbClr val="6B2015"/>
                </a:solidFill>
                <a:latin typeface="Poppins" pitchFamily="34" charset="0"/>
                <a:ea typeface="Poppins" pitchFamily="34" charset="-122"/>
                <a:cs typeface="Poppins" pitchFamily="34" charset="-120"/>
              </a:rPr>
              <a:t>What moves is the contact side, +456. So it reads as a press, not a detachment.</a:t>
            </a:r>
            <a:endParaRPr lang="en-US" sz="950" dirty="0"/>
          </a:p>
          <a:p>
            <a:pPr indent="0" marL="0">
              <a:lnSpc>
                <a:spcPct val="117000"/>
              </a:lnSpc>
              <a:buNone/>
            </a:pPr>
            <a:endParaRPr lang="en-US" sz="950" dirty="0"/>
          </a:p>
          <a:p>
            <a:pPr indent="0" marL="0">
              <a:lnSpc>
                <a:spcPct val="117000"/>
              </a:lnSpc>
              <a:buNone/>
            </a:pPr>
            <a:r>
              <a:rPr lang="en-US" sz="950" dirty="0">
                <a:solidFill>
                  <a:srgbClr val="6B2015"/>
                </a:solidFill>
                <a:latin typeface="Poppins" pitchFamily="34" charset="0"/>
                <a:ea typeface="Poppins" pitchFamily="34" charset="-122"/>
                <a:cs typeface="Poppins" pitchFamily="34" charset="-120"/>
              </a:rPr>
              <a:t>And the separation runs on press magnitude: the heaviest presses produce no pull frames at all. Backwards, for a safety device.</a:t>
            </a:r>
            <a:endParaRPr lang="en-US" sz="950" dirty="0"/>
          </a:p>
        </p:txBody>
      </p:sp>
      <p:sp>
        <p:nvSpPr>
          <p:cNvPr id="54" name="Text 51"/>
          <p:cNvSpPr txBox="1"/>
          <p:nvPr/>
        </p:nvSpPr>
        <p:spPr>
          <a:xfrm>
            <a:off x="6144768" y="5230368"/>
            <a:ext cx="5303520" cy="786384"/>
          </a:xfrm>
          <a:prstGeom prst="rect">
            <a:avLst/>
          </a:prstGeom>
          <a:noFill/>
          <a:ln/>
        </p:spPr>
        <p:txBody>
          <a:bodyPr wrap="square" lIns="0" tIns="0" rIns="0" bIns="0" rtlCol="0" anchor="t"/>
          <a:lstStyle/>
          <a:p>
            <a:pPr indent="0" marL="0">
              <a:lnSpc>
                <a:spcPct val="116000"/>
              </a:lnSpc>
              <a:buNone/>
            </a:pPr>
            <a:r>
              <a:rPr lang="en-US" sz="900" i="1" dirty="0">
                <a:solidFill>
                  <a:srgbClr val="8A2A1C"/>
                </a:solidFill>
                <a:latin typeface="Poppins" pitchFamily="34" charset="0"/>
                <a:ea typeface="Poppins" pitchFamily="34" charset="-122"/>
                <a:cs typeface="Poppins" pitchFamily="34" charset="-120"/>
              </a:rPr>
              <a:t>In sample, 13.4% of normal frames already read as pull. The annunciator keeps them off the bedside.</a:t>
            </a:r>
            <a:endParaRPr lang="en-US" sz="900" dirty="0"/>
          </a:p>
        </p:txBody>
      </p:sp>
      <p:sp>
        <p:nvSpPr>
          <p:cNvPr id="55" name="Text 52"/>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Most active frame of one peel, one vertical-pull and one touch recording. The scale clips; horizontal pull is quantified on slide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Proposed Method (2/7)</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End-to-end pipeline: where each decision is made</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8</a:t>
            </a:r>
            <a:endParaRPr lang="en-US" sz="1500" dirty="0"/>
          </a:p>
        </p:txBody>
      </p:sp>
      <p:sp>
        <p:nvSpPr>
          <p:cNvPr id="8" name="Shape 6"/>
          <p:cNvSpPr/>
          <p:nvPr/>
        </p:nvSpPr>
        <p:spPr>
          <a:xfrm>
            <a:off x="502920" y="1417320"/>
            <a:ext cx="1306449" cy="2286000"/>
          </a:xfrm>
          <a:prstGeom prst="roundRect">
            <a:avLst>
              <a:gd name="adj" fmla="val 419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Shape 7"/>
          <p:cNvSpPr/>
          <p:nvPr/>
        </p:nvSpPr>
        <p:spPr>
          <a:xfrm>
            <a:off x="1000697" y="1572768"/>
            <a:ext cx="310896" cy="310896"/>
          </a:xfrm>
          <a:prstGeom prst="ellipse">
            <a:avLst/>
          </a:prstGeom>
          <a:solidFill>
            <a:srgbClr val="8A6A4F"/>
          </a:solidFill>
          <a:ln w="12700">
            <a:solidFill>
              <a:srgbClr val="333333"/>
            </a:solidFill>
            <a:prstDash val="solid"/>
          </a:ln>
        </p:spPr>
      </p:sp>
      <p:sp>
        <p:nvSpPr>
          <p:cNvPr id="10" name="Text 8"/>
          <p:cNvSpPr txBox="1"/>
          <p:nvPr/>
        </p:nvSpPr>
        <p:spPr>
          <a:xfrm>
            <a:off x="1000697"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1</a:t>
            </a:r>
            <a:endParaRPr lang="en-US" sz="1050" dirty="0"/>
          </a:p>
        </p:txBody>
      </p:sp>
      <p:sp>
        <p:nvSpPr>
          <p:cNvPr id="11" name="Text 9"/>
          <p:cNvSpPr txBox="1"/>
          <p:nvPr/>
        </p:nvSpPr>
        <p:spPr>
          <a:xfrm>
            <a:off x="594360"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Sense</a:t>
            </a:r>
            <a:endParaRPr lang="en-US" sz="1250" dirty="0"/>
          </a:p>
        </p:txBody>
      </p:sp>
      <p:sp>
        <p:nvSpPr>
          <p:cNvPr id="12" name="Text 10"/>
          <p:cNvSpPr txBox="1"/>
          <p:nvPr/>
        </p:nvSpPr>
        <p:spPr>
          <a:xfrm>
            <a:off x="594360"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25 pads report a reading about every 0.6 s.</a:t>
            </a:r>
            <a:endParaRPr lang="en-US" sz="850" dirty="0"/>
          </a:p>
        </p:txBody>
      </p:sp>
      <p:sp>
        <p:nvSpPr>
          <p:cNvPr id="13" name="Shape 11"/>
          <p:cNvSpPr/>
          <p:nvPr/>
        </p:nvSpPr>
        <p:spPr>
          <a:xfrm>
            <a:off x="1909953" y="1417320"/>
            <a:ext cx="1306449" cy="2286000"/>
          </a:xfrm>
          <a:prstGeom prst="roundRect">
            <a:avLst>
              <a:gd name="adj" fmla="val 419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4" name="Shape 12"/>
          <p:cNvSpPr/>
          <p:nvPr/>
        </p:nvSpPr>
        <p:spPr>
          <a:xfrm>
            <a:off x="2407730" y="1572768"/>
            <a:ext cx="310896" cy="310896"/>
          </a:xfrm>
          <a:prstGeom prst="ellipse">
            <a:avLst/>
          </a:prstGeom>
          <a:solidFill>
            <a:srgbClr val="8A6A4F"/>
          </a:solidFill>
          <a:ln w="12700">
            <a:solidFill>
              <a:srgbClr val="333333"/>
            </a:solidFill>
            <a:prstDash val="solid"/>
          </a:ln>
        </p:spPr>
      </p:sp>
      <p:sp>
        <p:nvSpPr>
          <p:cNvPr id="15" name="Text 13"/>
          <p:cNvSpPr txBox="1"/>
          <p:nvPr/>
        </p:nvSpPr>
        <p:spPr>
          <a:xfrm>
            <a:off x="2407730"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2</a:t>
            </a:r>
            <a:endParaRPr lang="en-US" sz="1050" dirty="0"/>
          </a:p>
        </p:txBody>
      </p:sp>
      <p:sp>
        <p:nvSpPr>
          <p:cNvPr id="16" name="Text 14"/>
          <p:cNvSpPr txBox="1"/>
          <p:nvPr/>
        </p:nvSpPr>
        <p:spPr>
          <a:xfrm>
            <a:off x="2001393"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Carry</a:t>
            </a:r>
            <a:endParaRPr lang="en-US" sz="1250" dirty="0"/>
          </a:p>
        </p:txBody>
      </p:sp>
      <p:sp>
        <p:nvSpPr>
          <p:cNvPr id="17" name="Text 15"/>
          <p:cNvSpPr txBox="1"/>
          <p:nvPr/>
        </p:nvSpPr>
        <p:spPr>
          <a:xfrm>
            <a:off x="2001393"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The browser forwards the raw numbers untouched.</a:t>
            </a:r>
            <a:endParaRPr lang="en-US" sz="850" dirty="0"/>
          </a:p>
        </p:txBody>
      </p:sp>
      <p:sp>
        <p:nvSpPr>
          <p:cNvPr id="18" name="Shape 16"/>
          <p:cNvSpPr/>
          <p:nvPr/>
        </p:nvSpPr>
        <p:spPr>
          <a:xfrm>
            <a:off x="3316986" y="1417320"/>
            <a:ext cx="1306449" cy="2286000"/>
          </a:xfrm>
          <a:prstGeom prst="roundRect">
            <a:avLst>
              <a:gd name="adj" fmla="val 419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9" name="Shape 17"/>
          <p:cNvSpPr/>
          <p:nvPr/>
        </p:nvSpPr>
        <p:spPr>
          <a:xfrm>
            <a:off x="3814763" y="1572768"/>
            <a:ext cx="310896" cy="310896"/>
          </a:xfrm>
          <a:prstGeom prst="ellipse">
            <a:avLst/>
          </a:prstGeom>
          <a:solidFill>
            <a:srgbClr val="6B4423"/>
          </a:solidFill>
          <a:ln w="12700">
            <a:solidFill>
              <a:srgbClr val="333333"/>
            </a:solidFill>
            <a:prstDash val="solid"/>
          </a:ln>
        </p:spPr>
      </p:sp>
      <p:sp>
        <p:nvSpPr>
          <p:cNvPr id="20" name="Text 18"/>
          <p:cNvSpPr txBox="1"/>
          <p:nvPr/>
        </p:nvSpPr>
        <p:spPr>
          <a:xfrm>
            <a:off x="3814763"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3</a:t>
            </a:r>
            <a:endParaRPr lang="en-US" sz="1050" dirty="0"/>
          </a:p>
        </p:txBody>
      </p:sp>
      <p:sp>
        <p:nvSpPr>
          <p:cNvPr id="21" name="Text 19"/>
          <p:cNvSpPr txBox="1"/>
          <p:nvPr/>
        </p:nvSpPr>
        <p:spPr>
          <a:xfrm>
            <a:off x="3408426"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Steady</a:t>
            </a:r>
            <a:endParaRPr lang="en-US" sz="1250" dirty="0"/>
          </a:p>
        </p:txBody>
      </p:sp>
      <p:sp>
        <p:nvSpPr>
          <p:cNvPr id="22" name="Text 20"/>
          <p:cNvSpPr txBox="1"/>
          <p:nvPr/>
        </p:nvSpPr>
        <p:spPr>
          <a:xfrm>
            <a:off x="3408426"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Cancel the slow drift. Only a sudden change counts.</a:t>
            </a:r>
            <a:endParaRPr lang="en-US" sz="850" dirty="0"/>
          </a:p>
        </p:txBody>
      </p:sp>
      <p:sp>
        <p:nvSpPr>
          <p:cNvPr id="23" name="Shape 21"/>
          <p:cNvSpPr/>
          <p:nvPr/>
        </p:nvSpPr>
        <p:spPr>
          <a:xfrm>
            <a:off x="4724019" y="1417320"/>
            <a:ext cx="1306449" cy="2286000"/>
          </a:xfrm>
          <a:prstGeom prst="roundRect">
            <a:avLst>
              <a:gd name="adj" fmla="val 419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4" name="Shape 22"/>
          <p:cNvSpPr/>
          <p:nvPr/>
        </p:nvSpPr>
        <p:spPr>
          <a:xfrm>
            <a:off x="5221796" y="1572768"/>
            <a:ext cx="310896" cy="310896"/>
          </a:xfrm>
          <a:prstGeom prst="ellipse">
            <a:avLst/>
          </a:prstGeom>
          <a:solidFill>
            <a:srgbClr val="6B4423"/>
          </a:solidFill>
          <a:ln w="12700">
            <a:solidFill>
              <a:srgbClr val="333333"/>
            </a:solidFill>
            <a:prstDash val="solid"/>
          </a:ln>
        </p:spPr>
      </p:sp>
      <p:sp>
        <p:nvSpPr>
          <p:cNvPr id="25" name="Text 23"/>
          <p:cNvSpPr txBox="1"/>
          <p:nvPr/>
        </p:nvSpPr>
        <p:spPr>
          <a:xfrm>
            <a:off x="5221796"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4</a:t>
            </a:r>
            <a:endParaRPr lang="en-US" sz="1050" dirty="0"/>
          </a:p>
        </p:txBody>
      </p:sp>
      <p:sp>
        <p:nvSpPr>
          <p:cNvPr id="26" name="Text 24"/>
          <p:cNvSpPr txBox="1"/>
          <p:nvPr/>
        </p:nvSpPr>
        <p:spPr>
          <a:xfrm>
            <a:off x="4815459"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Filter</a:t>
            </a:r>
            <a:endParaRPr lang="en-US" sz="1250" dirty="0"/>
          </a:p>
        </p:txBody>
      </p:sp>
      <p:sp>
        <p:nvSpPr>
          <p:cNvPr id="27" name="Text 25"/>
          <p:cNvSpPr txBox="1"/>
          <p:nvPr/>
        </p:nvSpPr>
        <p:spPr>
          <a:xfrm>
            <a:off x="4815459"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Throw away small wobble. Mark a deep collapse as lifting.</a:t>
            </a:r>
            <a:endParaRPr lang="en-US" sz="850" dirty="0"/>
          </a:p>
        </p:txBody>
      </p:sp>
      <p:sp>
        <p:nvSpPr>
          <p:cNvPr id="28" name="Shape 26"/>
          <p:cNvSpPr/>
          <p:nvPr/>
        </p:nvSpPr>
        <p:spPr>
          <a:xfrm>
            <a:off x="6131052" y="1417320"/>
            <a:ext cx="1306449" cy="2286000"/>
          </a:xfrm>
          <a:prstGeom prst="roundRect">
            <a:avLst>
              <a:gd name="adj" fmla="val 419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9" name="Shape 27"/>
          <p:cNvSpPr/>
          <p:nvPr/>
        </p:nvSpPr>
        <p:spPr>
          <a:xfrm>
            <a:off x="6628829" y="1572768"/>
            <a:ext cx="310896" cy="310896"/>
          </a:xfrm>
          <a:prstGeom prst="ellipse">
            <a:avLst/>
          </a:prstGeom>
          <a:solidFill>
            <a:srgbClr val="543110"/>
          </a:solidFill>
          <a:ln w="12700">
            <a:solidFill>
              <a:srgbClr val="333333"/>
            </a:solidFill>
            <a:prstDash val="solid"/>
          </a:ln>
        </p:spPr>
      </p:sp>
      <p:sp>
        <p:nvSpPr>
          <p:cNvPr id="30" name="Text 28"/>
          <p:cNvSpPr txBox="1"/>
          <p:nvPr/>
        </p:nvSpPr>
        <p:spPr>
          <a:xfrm>
            <a:off x="6628829"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5</a:t>
            </a:r>
            <a:endParaRPr lang="en-US" sz="1050" dirty="0"/>
          </a:p>
        </p:txBody>
      </p:sp>
      <p:sp>
        <p:nvSpPr>
          <p:cNvPr id="31" name="Text 29"/>
          <p:cNvSpPr txBox="1"/>
          <p:nvPr/>
        </p:nvSpPr>
        <p:spPr>
          <a:xfrm>
            <a:off x="6222492"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Describe</a:t>
            </a:r>
            <a:endParaRPr lang="en-US" sz="1250" dirty="0"/>
          </a:p>
        </p:txBody>
      </p:sp>
      <p:sp>
        <p:nvSpPr>
          <p:cNvPr id="32" name="Text 30"/>
          <p:cNvSpPr txBox="1"/>
          <p:nvPr/>
        </p:nvSpPr>
        <p:spPr>
          <a:xfrm>
            <a:off x="6222492"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Turn 25 numbers into 34 — where, how large, how deep.</a:t>
            </a:r>
            <a:endParaRPr lang="en-US" sz="850" dirty="0"/>
          </a:p>
        </p:txBody>
      </p:sp>
      <p:sp>
        <p:nvSpPr>
          <p:cNvPr id="33" name="Shape 31"/>
          <p:cNvSpPr/>
          <p:nvPr/>
        </p:nvSpPr>
        <p:spPr>
          <a:xfrm>
            <a:off x="7538085" y="1417320"/>
            <a:ext cx="1306449" cy="2286000"/>
          </a:xfrm>
          <a:prstGeom prst="roundRect">
            <a:avLst>
              <a:gd name="adj" fmla="val 419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34" name="Shape 32"/>
          <p:cNvSpPr/>
          <p:nvPr/>
        </p:nvSpPr>
        <p:spPr>
          <a:xfrm>
            <a:off x="8035862" y="1572768"/>
            <a:ext cx="310896" cy="310896"/>
          </a:xfrm>
          <a:prstGeom prst="ellipse">
            <a:avLst/>
          </a:prstGeom>
          <a:solidFill>
            <a:srgbClr val="543110"/>
          </a:solidFill>
          <a:ln w="12700">
            <a:solidFill>
              <a:srgbClr val="333333"/>
            </a:solidFill>
            <a:prstDash val="solid"/>
          </a:ln>
        </p:spPr>
      </p:sp>
      <p:sp>
        <p:nvSpPr>
          <p:cNvPr id="35" name="Text 33"/>
          <p:cNvSpPr txBox="1"/>
          <p:nvPr/>
        </p:nvSpPr>
        <p:spPr>
          <a:xfrm>
            <a:off x="8035862"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6</a:t>
            </a:r>
            <a:endParaRPr lang="en-US" sz="1050" dirty="0"/>
          </a:p>
        </p:txBody>
      </p:sp>
      <p:sp>
        <p:nvSpPr>
          <p:cNvPr id="36" name="Text 34"/>
          <p:cNvSpPr txBox="1"/>
          <p:nvPr/>
        </p:nvSpPr>
        <p:spPr>
          <a:xfrm>
            <a:off x="7629525"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Judge</a:t>
            </a:r>
            <a:endParaRPr lang="en-US" sz="1250" dirty="0"/>
          </a:p>
        </p:txBody>
      </p:sp>
      <p:sp>
        <p:nvSpPr>
          <p:cNvPr id="37" name="Text 35"/>
          <p:cNvSpPr txBox="1"/>
          <p:nvPr/>
        </p:nvSpPr>
        <p:spPr>
          <a:xfrm>
            <a:off x="7629525"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A tree ensemble gives each state a probability.</a:t>
            </a:r>
            <a:endParaRPr lang="en-US" sz="850" dirty="0"/>
          </a:p>
        </p:txBody>
      </p:sp>
      <p:sp>
        <p:nvSpPr>
          <p:cNvPr id="38" name="Shape 36"/>
          <p:cNvSpPr/>
          <p:nvPr/>
        </p:nvSpPr>
        <p:spPr>
          <a:xfrm>
            <a:off x="8945118" y="1417320"/>
            <a:ext cx="1306449" cy="2286000"/>
          </a:xfrm>
          <a:prstGeom prst="roundRect">
            <a:avLst>
              <a:gd name="adj" fmla="val 4199"/>
            </a:avLst>
          </a:prstGeom>
          <a:solidFill>
            <a:srgbClr val="F7ECD8"/>
          </a:solidFill>
          <a:ln w="12700">
            <a:solidFill>
              <a:srgbClr val="B4762A"/>
            </a:solidFill>
            <a:prstDash val="solid"/>
          </a:ln>
          <a:effectLst>
            <a:outerShdw sx="100000" sy="100000" kx="0" ky="0" algn="bl" rotWithShape="0" blurRad="127000" dist="25400" dir="5400000">
              <a:srgbClr val="3D1700">
                <a:alpha val="13000"/>
              </a:srgbClr>
            </a:outerShdw>
          </a:effectLst>
        </p:spPr>
      </p:sp>
      <p:sp>
        <p:nvSpPr>
          <p:cNvPr id="39" name="Shape 37"/>
          <p:cNvSpPr/>
          <p:nvPr/>
        </p:nvSpPr>
        <p:spPr>
          <a:xfrm>
            <a:off x="9442895" y="1572768"/>
            <a:ext cx="310896" cy="310896"/>
          </a:xfrm>
          <a:prstGeom prst="ellipse">
            <a:avLst/>
          </a:prstGeom>
          <a:solidFill>
            <a:srgbClr val="B4762A"/>
          </a:solidFill>
          <a:ln w="12700">
            <a:solidFill>
              <a:srgbClr val="333333"/>
            </a:solidFill>
            <a:prstDash val="solid"/>
          </a:ln>
        </p:spPr>
      </p:sp>
      <p:sp>
        <p:nvSpPr>
          <p:cNvPr id="40" name="Text 38"/>
          <p:cNvSpPr txBox="1"/>
          <p:nvPr/>
        </p:nvSpPr>
        <p:spPr>
          <a:xfrm>
            <a:off x="9442895"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7</a:t>
            </a:r>
            <a:endParaRPr lang="en-US" sz="1050" dirty="0"/>
          </a:p>
        </p:txBody>
      </p:sp>
      <p:sp>
        <p:nvSpPr>
          <p:cNvPr id="41" name="Text 39"/>
          <p:cNvSpPr txBox="1"/>
          <p:nvPr/>
        </p:nvSpPr>
        <p:spPr>
          <a:xfrm>
            <a:off x="9036558"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Wait</a:t>
            </a:r>
            <a:endParaRPr lang="en-US" sz="1250" dirty="0"/>
          </a:p>
        </p:txBody>
      </p:sp>
      <p:sp>
        <p:nvSpPr>
          <p:cNvPr id="42" name="Text 40"/>
          <p:cNvSpPr txBox="1"/>
          <p:nvPr/>
        </p:nvSpPr>
        <p:spPr>
          <a:xfrm>
            <a:off x="9036558"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One odd moment is not an alarm. Six of seven must agree.</a:t>
            </a:r>
            <a:endParaRPr lang="en-US" sz="850" dirty="0"/>
          </a:p>
        </p:txBody>
      </p:sp>
      <p:sp>
        <p:nvSpPr>
          <p:cNvPr id="43" name="Shape 41"/>
          <p:cNvSpPr/>
          <p:nvPr/>
        </p:nvSpPr>
        <p:spPr>
          <a:xfrm>
            <a:off x="10352151" y="1417320"/>
            <a:ext cx="1306449" cy="2286000"/>
          </a:xfrm>
          <a:prstGeom prst="roundRect">
            <a:avLst>
              <a:gd name="adj" fmla="val 4199"/>
            </a:avLst>
          </a:prstGeom>
          <a:solidFill>
            <a:srgbClr val="F7ECD8"/>
          </a:solidFill>
          <a:ln w="12700">
            <a:solidFill>
              <a:srgbClr val="B4762A"/>
            </a:solidFill>
            <a:prstDash val="solid"/>
          </a:ln>
          <a:effectLst>
            <a:outerShdw sx="100000" sy="100000" kx="0" ky="0" algn="bl" rotWithShape="0" blurRad="127000" dist="25400" dir="5400000">
              <a:srgbClr val="3D1700">
                <a:alpha val="13000"/>
              </a:srgbClr>
            </a:outerShdw>
          </a:effectLst>
        </p:spPr>
      </p:sp>
      <p:sp>
        <p:nvSpPr>
          <p:cNvPr id="44" name="Shape 42"/>
          <p:cNvSpPr/>
          <p:nvPr/>
        </p:nvSpPr>
        <p:spPr>
          <a:xfrm>
            <a:off x="10849928" y="1572768"/>
            <a:ext cx="310896" cy="310896"/>
          </a:xfrm>
          <a:prstGeom prst="ellipse">
            <a:avLst/>
          </a:prstGeom>
          <a:solidFill>
            <a:srgbClr val="B4762A"/>
          </a:solidFill>
          <a:ln w="12700">
            <a:solidFill>
              <a:srgbClr val="333333"/>
            </a:solidFill>
            <a:prstDash val="solid"/>
          </a:ln>
        </p:spPr>
      </p:sp>
      <p:sp>
        <p:nvSpPr>
          <p:cNvPr id="45" name="Text 43"/>
          <p:cNvSpPr txBox="1"/>
          <p:nvPr/>
        </p:nvSpPr>
        <p:spPr>
          <a:xfrm>
            <a:off x="10849928" y="1572768"/>
            <a:ext cx="310896" cy="310896"/>
          </a:xfrm>
          <a:prstGeom prst="rect">
            <a:avLst/>
          </a:prstGeom>
          <a:noFill/>
          <a:ln/>
        </p:spPr>
        <p:txBody>
          <a:bodyPr wrap="square" lIns="0" tIns="0" rIns="0" bIns="0" rtlCol="0" anchor="ctr"/>
          <a:lstStyle/>
          <a:p>
            <a:pPr algn="ctr" indent="0" marL="0">
              <a:buNone/>
            </a:pPr>
            <a:r>
              <a:rPr lang="en-US" sz="1050" b="1" dirty="0">
                <a:solidFill>
                  <a:srgbClr val="FDF8EA"/>
                </a:solidFill>
                <a:latin typeface="Poppins" pitchFamily="34" charset="0"/>
                <a:ea typeface="Poppins" pitchFamily="34" charset="-122"/>
                <a:cs typeface="Poppins" pitchFamily="34" charset="-120"/>
              </a:rPr>
              <a:t>8</a:t>
            </a:r>
            <a:endParaRPr lang="en-US" sz="1050" dirty="0"/>
          </a:p>
        </p:txBody>
      </p:sp>
      <p:sp>
        <p:nvSpPr>
          <p:cNvPr id="46" name="Text 44"/>
          <p:cNvSpPr txBox="1"/>
          <p:nvPr/>
        </p:nvSpPr>
        <p:spPr>
          <a:xfrm>
            <a:off x="10443591" y="1956816"/>
            <a:ext cx="1123569" cy="256032"/>
          </a:xfrm>
          <a:prstGeom prst="rect">
            <a:avLst/>
          </a:prstGeom>
          <a:noFill/>
          <a:ln/>
        </p:spPr>
        <p:txBody>
          <a:bodyPr wrap="square" lIns="0" tIns="0" rIns="0" bIns="0" rtlCol="0" anchor="ctr"/>
          <a:lstStyle/>
          <a:p>
            <a:pPr algn="ctr" indent="0" marL="0">
              <a:buNone/>
            </a:pPr>
            <a:r>
              <a:rPr lang="en-US" sz="1250" b="1" dirty="0">
                <a:solidFill>
                  <a:srgbClr val="3D1700"/>
                </a:solidFill>
                <a:latin typeface="Poppins" pitchFamily="34" charset="0"/>
                <a:ea typeface="Poppins" pitchFamily="34" charset="-122"/>
                <a:cs typeface="Poppins" pitchFamily="34" charset="-120"/>
              </a:rPr>
              <a:t>Tell</a:t>
            </a:r>
            <a:endParaRPr lang="en-US" sz="1250" dirty="0"/>
          </a:p>
        </p:txBody>
      </p:sp>
      <p:sp>
        <p:nvSpPr>
          <p:cNvPr id="47" name="Text 45"/>
          <p:cNvSpPr txBox="1"/>
          <p:nvPr/>
        </p:nvSpPr>
        <p:spPr>
          <a:xfrm>
            <a:off x="10443591" y="2249424"/>
            <a:ext cx="1123569" cy="1371600"/>
          </a:xfrm>
          <a:prstGeom prst="rect">
            <a:avLst/>
          </a:prstGeom>
          <a:noFill/>
          <a:ln/>
        </p:spPr>
        <p:txBody>
          <a:bodyPr wrap="square" lIns="0" tIns="0" rIns="0" bIns="0" rtlCol="0" anchor="ctr"/>
          <a:lstStyle/>
          <a:p>
            <a:pPr algn="ctr" indent="0" marL="0">
              <a:lnSpc>
                <a:spcPct val="114000"/>
              </a:lnSpc>
              <a:buNone/>
            </a:pPr>
            <a:r>
              <a:rPr lang="en-US" sz="850" dirty="0">
                <a:solidFill>
                  <a:srgbClr val="543110"/>
                </a:solidFill>
                <a:latin typeface="Poppins" pitchFamily="34" charset="0"/>
                <a:ea typeface="Poppins" pitchFamily="34" charset="-122"/>
                <a:cs typeface="Poppins" pitchFamily="34" charset="-120"/>
              </a:rPr>
              <a:t>Hold it long enough to be seen. Map, dial, sound.</a:t>
            </a:r>
            <a:endParaRPr lang="en-US" sz="850" dirty="0"/>
          </a:p>
        </p:txBody>
      </p:sp>
      <p:sp>
        <p:nvSpPr>
          <p:cNvPr id="48" name="Text 46"/>
          <p:cNvSpPr txBox="1"/>
          <p:nvPr/>
        </p:nvSpPr>
        <p:spPr>
          <a:xfrm>
            <a:off x="502920" y="3785616"/>
            <a:ext cx="2743200" cy="219456"/>
          </a:xfrm>
          <a:prstGeom prst="rect">
            <a:avLst/>
          </a:prstGeom>
          <a:noFill/>
          <a:ln/>
        </p:spPr>
        <p:txBody>
          <a:bodyPr wrap="square" lIns="0" tIns="0" rIns="0" bIns="0" rtlCol="0" anchor="ctr"/>
          <a:lstStyle/>
          <a:p>
            <a:pPr indent="0" marL="0">
              <a:buNone/>
            </a:pPr>
            <a:r>
              <a:rPr lang="en-US" sz="800" b="1" spc="140" kern="0" dirty="0">
                <a:solidFill>
                  <a:srgbClr val="8A6A4F"/>
                </a:solidFill>
                <a:latin typeface="Poppins" pitchFamily="34" charset="0"/>
                <a:ea typeface="Poppins" pitchFamily="34" charset="-122"/>
                <a:cs typeface="Poppins" pitchFamily="34" charset="-120"/>
              </a:rPr>
              <a:t>ON THE PATIENT'S SIDE</a:t>
            </a:r>
            <a:endParaRPr lang="en-US" sz="800" dirty="0"/>
          </a:p>
        </p:txBody>
      </p:sp>
      <p:sp>
        <p:nvSpPr>
          <p:cNvPr id="49" name="Text 47"/>
          <p:cNvSpPr txBox="1"/>
          <p:nvPr/>
        </p:nvSpPr>
        <p:spPr>
          <a:xfrm>
            <a:off x="3429000" y="3785616"/>
            <a:ext cx="4572000" cy="219456"/>
          </a:xfrm>
          <a:prstGeom prst="rect">
            <a:avLst/>
          </a:prstGeom>
          <a:noFill/>
          <a:ln/>
        </p:spPr>
        <p:txBody>
          <a:bodyPr wrap="square" lIns="0" tIns="0" rIns="0" bIns="0" rtlCol="0" anchor="ctr"/>
          <a:lstStyle/>
          <a:p>
            <a:pPr indent="0" marL="0">
              <a:buNone/>
            </a:pPr>
            <a:r>
              <a:rPr lang="en-US" sz="800" b="1" spc="140" kern="0" dirty="0">
                <a:solidFill>
                  <a:srgbClr val="6B4423"/>
                </a:solidFill>
                <a:latin typeface="Poppins" pitchFamily="34" charset="0"/>
                <a:ea typeface="Poppins" pitchFamily="34" charset="-122"/>
                <a:cs typeface="Poppins" pitchFamily="34" charset="-120"/>
              </a:rPr>
              <a:t>ON THE SERVER</a:t>
            </a:r>
            <a:endParaRPr lang="en-US" sz="800" dirty="0"/>
          </a:p>
        </p:txBody>
      </p:sp>
      <p:sp>
        <p:nvSpPr>
          <p:cNvPr id="50" name="Text 48"/>
          <p:cNvSpPr txBox="1"/>
          <p:nvPr/>
        </p:nvSpPr>
        <p:spPr>
          <a:xfrm>
            <a:off x="9418320" y="3785616"/>
            <a:ext cx="2743200" cy="219456"/>
          </a:xfrm>
          <a:prstGeom prst="rect">
            <a:avLst/>
          </a:prstGeom>
          <a:noFill/>
          <a:ln/>
        </p:spPr>
        <p:txBody>
          <a:bodyPr wrap="square" lIns="0" tIns="0" rIns="0" bIns="0" rtlCol="0" anchor="ctr"/>
          <a:lstStyle/>
          <a:p>
            <a:pPr indent="0" marL="0">
              <a:buNone/>
            </a:pPr>
            <a:r>
              <a:rPr lang="en-US" sz="800" b="1" spc="140" kern="0" dirty="0">
                <a:solidFill>
                  <a:srgbClr val="B4762A"/>
                </a:solidFill>
                <a:latin typeface="Poppins" pitchFamily="34" charset="0"/>
                <a:ea typeface="Poppins" pitchFamily="34" charset="-122"/>
                <a:cs typeface="Poppins" pitchFamily="34" charset="-120"/>
              </a:rPr>
              <a:t>AT THE BEDSIDE</a:t>
            </a:r>
            <a:endParaRPr lang="en-US" sz="800" dirty="0"/>
          </a:p>
        </p:txBody>
      </p:sp>
      <p:sp>
        <p:nvSpPr>
          <p:cNvPr id="51" name="Shape 49"/>
          <p:cNvSpPr/>
          <p:nvPr/>
        </p:nvSpPr>
        <p:spPr>
          <a:xfrm>
            <a:off x="502920" y="4114800"/>
            <a:ext cx="3596640" cy="1481328"/>
          </a:xfrm>
          <a:prstGeom prst="roundRect">
            <a:avLst>
              <a:gd name="adj" fmla="val 3704"/>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52" name="Text 50"/>
          <p:cNvSpPr txBox="1"/>
          <p:nvPr/>
        </p:nvSpPr>
        <p:spPr>
          <a:xfrm>
            <a:off x="667512" y="4233672"/>
            <a:ext cx="3267456" cy="256032"/>
          </a:xfrm>
          <a:prstGeom prst="rect">
            <a:avLst/>
          </a:prstGeom>
          <a:noFill/>
          <a:ln/>
        </p:spPr>
        <p:txBody>
          <a:bodyPr wrap="square" lIns="0" tIns="0" rIns="0" bIns="0" rtlCol="0" anchor="ctr"/>
          <a:lstStyle/>
          <a:p>
            <a:pPr indent="0" marL="0">
              <a:buNone/>
            </a:pPr>
            <a:r>
              <a:rPr lang="en-US" sz="1100" b="1" dirty="0">
                <a:solidFill>
                  <a:srgbClr val="543110"/>
                </a:solidFill>
                <a:latin typeface="Poppins" pitchFamily="34" charset="0"/>
                <a:ea typeface="Poppins" pitchFamily="34" charset="-122"/>
                <a:cs typeface="Poppins" pitchFamily="34" charset="-120"/>
              </a:rPr>
              <a:t>The browser never decides anything</a:t>
            </a:r>
            <a:endParaRPr lang="en-US" sz="1100" dirty="0"/>
          </a:p>
        </p:txBody>
      </p:sp>
      <p:sp>
        <p:nvSpPr>
          <p:cNvPr id="53" name="Text 51"/>
          <p:cNvSpPr txBox="1"/>
          <p:nvPr/>
        </p:nvSpPr>
        <p:spPr>
          <a:xfrm>
            <a:off x="667512" y="4517136"/>
            <a:ext cx="3267456" cy="987552"/>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It moves bytes and draws pixels. Every judgement happens in one place, so the audit trail is complete by construction.</a:t>
            </a:r>
            <a:endParaRPr lang="en-US" sz="1050" dirty="0"/>
          </a:p>
        </p:txBody>
      </p:sp>
      <p:sp>
        <p:nvSpPr>
          <p:cNvPr id="54" name="Shape 52"/>
          <p:cNvSpPr/>
          <p:nvPr/>
        </p:nvSpPr>
        <p:spPr>
          <a:xfrm>
            <a:off x="4282440" y="4114800"/>
            <a:ext cx="3596640" cy="1481328"/>
          </a:xfrm>
          <a:prstGeom prst="roundRect">
            <a:avLst>
              <a:gd name="adj" fmla="val 3704"/>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55" name="Text 53"/>
          <p:cNvSpPr txBox="1"/>
          <p:nvPr/>
        </p:nvSpPr>
        <p:spPr>
          <a:xfrm>
            <a:off x="4447032" y="4233672"/>
            <a:ext cx="3267456" cy="256032"/>
          </a:xfrm>
          <a:prstGeom prst="rect">
            <a:avLst/>
          </a:prstGeom>
          <a:noFill/>
          <a:ln/>
        </p:spPr>
        <p:txBody>
          <a:bodyPr wrap="square" lIns="0" tIns="0" rIns="0" bIns="0" rtlCol="0" anchor="ctr"/>
          <a:lstStyle/>
          <a:p>
            <a:pPr indent="0" marL="0">
              <a:buNone/>
            </a:pPr>
            <a:r>
              <a:rPr lang="en-US" sz="1100" b="1" dirty="0">
                <a:solidFill>
                  <a:srgbClr val="543110"/>
                </a:solidFill>
                <a:latin typeface="Poppins" pitchFamily="34" charset="0"/>
                <a:ea typeface="Poppins" pitchFamily="34" charset="-122"/>
                <a:cs typeface="Poppins" pitchFamily="34" charset="-120"/>
              </a:rPr>
              <a:t>The model is sealed</a:t>
            </a:r>
            <a:endParaRPr lang="en-US" sz="1100" dirty="0"/>
          </a:p>
        </p:txBody>
      </p:sp>
      <p:sp>
        <p:nvSpPr>
          <p:cNvPr id="56" name="Text 54"/>
          <p:cNvSpPr txBox="1"/>
          <p:nvPr/>
        </p:nvSpPr>
        <p:spPr>
          <a:xfrm>
            <a:off x="4447032" y="4517136"/>
            <a:ext cx="3267456" cy="987552"/>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Stored with a fingerprint, so a swapped model is refused rather than quietly used.</a:t>
            </a:r>
            <a:endParaRPr lang="en-US" sz="1050" dirty="0"/>
          </a:p>
        </p:txBody>
      </p:sp>
      <p:sp>
        <p:nvSpPr>
          <p:cNvPr id="57" name="Shape 55"/>
          <p:cNvSpPr/>
          <p:nvPr/>
        </p:nvSpPr>
        <p:spPr>
          <a:xfrm>
            <a:off x="8061960" y="4114800"/>
            <a:ext cx="3596640" cy="1481328"/>
          </a:xfrm>
          <a:prstGeom prst="roundRect">
            <a:avLst>
              <a:gd name="adj" fmla="val 3704"/>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58" name="Text 56"/>
          <p:cNvSpPr txBox="1"/>
          <p:nvPr/>
        </p:nvSpPr>
        <p:spPr>
          <a:xfrm>
            <a:off x="8226552" y="4233672"/>
            <a:ext cx="3267456" cy="256032"/>
          </a:xfrm>
          <a:prstGeom prst="rect">
            <a:avLst/>
          </a:prstGeom>
          <a:noFill/>
          <a:ln/>
        </p:spPr>
        <p:txBody>
          <a:bodyPr wrap="square" lIns="0" tIns="0" rIns="0" bIns="0" rtlCol="0" anchor="ctr"/>
          <a:lstStyle/>
          <a:p>
            <a:pPr indent="0" marL="0">
              <a:buNone/>
            </a:pPr>
            <a:r>
              <a:rPr lang="en-US" sz="1100" b="1" dirty="0">
                <a:solidFill>
                  <a:srgbClr val="543110"/>
                </a:solidFill>
                <a:latin typeface="Poppins" pitchFamily="34" charset="0"/>
                <a:ea typeface="Poppins" pitchFamily="34" charset="-122"/>
                <a:cs typeface="Poppins" pitchFamily="34" charset="-120"/>
              </a:rPr>
              <a:t>Speed is not the constraint</a:t>
            </a:r>
            <a:endParaRPr lang="en-US" sz="1100" dirty="0"/>
          </a:p>
        </p:txBody>
      </p:sp>
      <p:sp>
        <p:nvSpPr>
          <p:cNvPr id="59" name="Text 57"/>
          <p:cNvSpPr txBox="1"/>
          <p:nvPr/>
        </p:nvSpPr>
        <p:spPr>
          <a:xfrm>
            <a:off x="8226552" y="4517136"/>
            <a:ext cx="3267456" cy="987552"/>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A judgement costs 0.127 ms. The wait for agreement sets the response time — a median of 5.6 s.</a:t>
            </a:r>
            <a:endParaRPr lang="en-US" sz="1050" dirty="0"/>
          </a:p>
        </p:txBody>
      </p:sp>
      <p:sp>
        <p:nvSpPr>
          <p:cNvPr id="60" name="Text 58"/>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Inference cost over 100 grouped-CV repeats; time-to-alarm measured out of fold.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Proposed Method (3/7)</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Signal conditioning: cancelling drift without swallowing the event</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9</a:t>
            </a:r>
            <a:endParaRPr lang="en-US" sz="1500" dirty="0"/>
          </a:p>
        </p:txBody>
      </p:sp>
      <p:sp>
        <p:nvSpPr>
          <p:cNvPr id="8" name="Shape 6"/>
          <p:cNvSpPr/>
          <p:nvPr/>
        </p:nvSpPr>
        <p:spPr>
          <a:xfrm>
            <a:off x="502920" y="1371600"/>
            <a:ext cx="6309360" cy="4315968"/>
          </a:xfrm>
          <a:prstGeom prst="roundRect">
            <a:avLst>
              <a:gd name="adj" fmla="val 1271"/>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pic>
        <p:nvPicPr>
          <p:cNvPr id="9" name="Image 0" descr="/home/claude/deck/img/fig_kalman.png">    </p:cNvPr>
          <p:cNvPicPr>
            <a:picLocks noChangeAspect="1"/>
          </p:cNvPicPr>
          <p:nvPr/>
        </p:nvPicPr>
        <p:blipFill>
          <a:blip r:embed="rId2"/>
          <a:stretch>
            <a:fillRect/>
          </a:stretch>
        </p:blipFill>
        <p:spPr>
          <a:xfrm>
            <a:off x="731520" y="1645920"/>
            <a:ext cx="5852160" cy="3730752"/>
          </a:xfrm>
          <a:prstGeom prst="rect">
            <a:avLst/>
          </a:prstGeom>
        </p:spPr>
      </p:pic>
      <p:sp>
        <p:nvSpPr>
          <p:cNvPr id="10" name="Shape 7"/>
          <p:cNvSpPr/>
          <p:nvPr/>
        </p:nvSpPr>
        <p:spPr>
          <a:xfrm>
            <a:off x="6995160" y="1371600"/>
            <a:ext cx="4663440" cy="1389888"/>
          </a:xfrm>
          <a:prstGeom prst="roundRect">
            <a:avLst>
              <a:gd name="adj" fmla="val 394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1" name="Text 8"/>
          <p:cNvSpPr txBox="1"/>
          <p:nvPr/>
        </p:nvSpPr>
        <p:spPr>
          <a:xfrm>
            <a:off x="7178040" y="1481328"/>
            <a:ext cx="4297680" cy="237744"/>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The problem</a:t>
            </a:r>
            <a:endParaRPr lang="en-US" sz="1150" dirty="0"/>
          </a:p>
        </p:txBody>
      </p:sp>
      <p:sp>
        <p:nvSpPr>
          <p:cNvPr id="12" name="Text 9"/>
          <p:cNvSpPr txBox="1"/>
          <p:nvPr/>
        </p:nvSpPr>
        <p:spPr>
          <a:xfrm>
            <a:off x="7178040" y="1755648"/>
            <a:ext cx="4297680" cy="932688"/>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Sweat and body heat move every pad over a shift. A reference taken at start-up is wrong an hour later.</a:t>
            </a:r>
            <a:endParaRPr lang="en-US" sz="1050" dirty="0"/>
          </a:p>
        </p:txBody>
      </p:sp>
      <p:sp>
        <p:nvSpPr>
          <p:cNvPr id="13" name="Shape 10"/>
          <p:cNvSpPr/>
          <p:nvPr/>
        </p:nvSpPr>
        <p:spPr>
          <a:xfrm>
            <a:off x="6995160" y="2862072"/>
            <a:ext cx="4663440" cy="1389888"/>
          </a:xfrm>
          <a:prstGeom prst="roundRect">
            <a:avLst>
              <a:gd name="adj" fmla="val 394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4" name="Text 11"/>
          <p:cNvSpPr txBox="1"/>
          <p:nvPr/>
        </p:nvSpPr>
        <p:spPr>
          <a:xfrm>
            <a:off x="7178040" y="2971800"/>
            <a:ext cx="4297680" cy="237744"/>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The fix</a:t>
            </a:r>
            <a:endParaRPr lang="en-US" sz="1150" dirty="0"/>
          </a:p>
        </p:txBody>
      </p:sp>
      <p:sp>
        <p:nvSpPr>
          <p:cNvPr id="15" name="Text 12"/>
          <p:cNvSpPr txBox="1"/>
          <p:nvPr/>
        </p:nvSpPr>
        <p:spPr>
          <a:xfrm>
            <a:off x="7178040" y="3246120"/>
            <a:ext cx="4297680" cy="932688"/>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Each pad carries its own estimate of quiet. Everything downstream works on the distance from it.</a:t>
            </a:r>
            <a:endParaRPr lang="en-US" sz="1050" dirty="0"/>
          </a:p>
        </p:txBody>
      </p:sp>
      <p:sp>
        <p:nvSpPr>
          <p:cNvPr id="16" name="Shape 13"/>
          <p:cNvSpPr/>
          <p:nvPr/>
        </p:nvSpPr>
        <p:spPr>
          <a:xfrm>
            <a:off x="6995160" y="4352544"/>
            <a:ext cx="4663440" cy="1389888"/>
          </a:xfrm>
          <a:prstGeom prst="roundRect">
            <a:avLst>
              <a:gd name="adj" fmla="val 3947"/>
            </a:avLst>
          </a:prstGeom>
          <a:solidFill>
            <a:srgbClr val="F4EAD2"/>
          </a:solidFill>
          <a:ln w="12700">
            <a:solidFill>
              <a:srgbClr val="8A6A4F"/>
            </a:solidFill>
            <a:prstDash val="solid"/>
          </a:ln>
          <a:effectLst>
            <a:outerShdw sx="100000" sy="100000" kx="0" ky="0" algn="bl" rotWithShape="0" blurRad="127000" dist="25400" dir="5400000">
              <a:srgbClr val="3D1700">
                <a:alpha val="13000"/>
              </a:srgbClr>
            </a:outerShdw>
          </a:effectLst>
        </p:spPr>
      </p:sp>
      <p:sp>
        <p:nvSpPr>
          <p:cNvPr id="17" name="Text 14"/>
          <p:cNvSpPr txBox="1"/>
          <p:nvPr/>
        </p:nvSpPr>
        <p:spPr>
          <a:xfrm>
            <a:off x="7178040" y="4462272"/>
            <a:ext cx="4297680" cy="237744"/>
          </a:xfrm>
          <a:prstGeom prst="rect">
            <a:avLst/>
          </a:prstGeom>
          <a:noFill/>
          <a:ln/>
        </p:spPr>
        <p:txBody>
          <a:bodyPr wrap="square" lIns="0" tIns="0" rIns="0" bIns="0" rtlCol="0" anchor="ctr"/>
          <a:lstStyle/>
          <a:p>
            <a:pPr indent="0" marL="0">
              <a:buNone/>
            </a:pPr>
            <a:r>
              <a:rPr lang="en-US" sz="1150" b="1" dirty="0">
                <a:solidFill>
                  <a:srgbClr val="543110"/>
                </a:solidFill>
                <a:latin typeface="Poppins" pitchFamily="34" charset="0"/>
                <a:ea typeface="Poppins" pitchFamily="34" charset="-122"/>
                <a:cs typeface="Poppins" pitchFamily="34" charset="-120"/>
              </a:rPr>
              <a:t>The trap it avoids</a:t>
            </a:r>
            <a:endParaRPr lang="en-US" sz="1150" dirty="0"/>
          </a:p>
        </p:txBody>
      </p:sp>
      <p:sp>
        <p:nvSpPr>
          <p:cNvPr id="18" name="Text 15"/>
          <p:cNvSpPr txBox="1"/>
          <p:nvPr/>
        </p:nvSpPr>
        <p:spPr>
          <a:xfrm>
            <a:off x="7178040" y="4736592"/>
            <a:ext cx="4297680" cy="932688"/>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If it chased the reading, a long press would become the new normal. Past 120 counts it stops following and coasts — the flat dashed lines above.</a:t>
            </a:r>
            <a:endParaRPr lang="en-US" sz="1050" dirty="0"/>
          </a:p>
        </p:txBody>
      </p:sp>
      <p:sp>
        <p:nvSpPr>
          <p:cNvPr id="19" name="Shape 16"/>
          <p:cNvSpPr/>
          <p:nvPr/>
        </p:nvSpPr>
        <p:spPr>
          <a:xfrm>
            <a:off x="502920" y="5779008"/>
            <a:ext cx="6309360" cy="566928"/>
          </a:xfrm>
          <a:prstGeom prst="roundRect">
            <a:avLst>
              <a:gd name="adj" fmla="val 9677"/>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0" name="Text 17"/>
          <p:cNvSpPr txBox="1"/>
          <p:nvPr/>
        </p:nvSpPr>
        <p:spPr>
          <a:xfrm>
            <a:off x="685800" y="5870448"/>
            <a:ext cx="5943600" cy="402336"/>
          </a:xfrm>
          <a:prstGeom prst="rect">
            <a:avLst/>
          </a:prstGeom>
          <a:noFill/>
          <a:ln/>
        </p:spPr>
        <p:txBody>
          <a:bodyPr wrap="square" lIns="0" tIns="0" rIns="0" bIns="0" rtlCol="0" anchor="ctr"/>
          <a:lstStyle/>
          <a:p>
            <a:pPr indent="0" marL="0">
              <a:lnSpc>
                <a:spcPct val="114000"/>
              </a:lnSpc>
              <a:buNone/>
            </a:pPr>
            <a:r>
              <a:rPr lang="en-US" sz="850" dirty="0">
                <a:solidFill>
                  <a:srgbClr val="543110"/>
                </a:solidFill>
                <a:latin typeface="Poppins" pitchFamily="34" charset="0"/>
                <a:ea typeface="Poppins" pitchFamily="34" charset="-122"/>
                <a:cs typeface="Poppins" pitchFamily="34" charset="-120"/>
              </a:rPr>
              <a:t>Quiet: stays inside ±60 for 67 seconds. Peel: crosses −300 within two frames.</a:t>
            </a:r>
            <a:endParaRPr lang="en-US" sz="850" dirty="0"/>
          </a:p>
        </p:txBody>
      </p:sp>
      <p:sp>
        <p:nvSpPr>
          <p:cNvPr id="21" name="Text 18"/>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Our own recordings, through the shipped baseline tracker — not a reconstruction of it.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Proposed Method (4/7)</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Feature extraction: the map itself, and nine summaries of it</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10</a:t>
            </a:r>
            <a:endParaRPr lang="en-US" sz="1500" dirty="0"/>
          </a:p>
        </p:txBody>
      </p:sp>
      <p:sp>
        <p:nvSpPr>
          <p:cNvPr id="8" name="Shape 6"/>
          <p:cNvSpPr/>
          <p:nvPr/>
        </p:nvSpPr>
        <p:spPr>
          <a:xfrm>
            <a:off x="502920" y="1371600"/>
            <a:ext cx="5532120" cy="2999232"/>
          </a:xfrm>
          <a:prstGeom prst="roundRect">
            <a:avLst>
              <a:gd name="adj" fmla="val 182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685800" y="1481328"/>
            <a:ext cx="516636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What the raw signal looks like</a:t>
            </a:r>
            <a:endParaRPr lang="en-US" sz="1100" dirty="0"/>
          </a:p>
        </p:txBody>
      </p:sp>
      <p:pic>
        <p:nvPicPr>
          <p:cNvPr id="10" name="Image 0" descr="/home/claude/deck/img/fig_raw25.png">    </p:cNvPr>
          <p:cNvPicPr>
            <a:picLocks noChangeAspect="1"/>
          </p:cNvPicPr>
          <p:nvPr/>
        </p:nvPicPr>
        <p:blipFill>
          <a:blip r:embed="rId2"/>
          <a:stretch>
            <a:fillRect/>
          </a:stretch>
        </p:blipFill>
        <p:spPr>
          <a:xfrm>
            <a:off x="704088" y="1737360"/>
            <a:ext cx="5120640" cy="2514600"/>
          </a:xfrm>
          <a:prstGeom prst="rect">
            <a:avLst/>
          </a:prstGeom>
        </p:spPr>
      </p:pic>
      <p:sp>
        <p:nvSpPr>
          <p:cNvPr id="11" name="Shape 8"/>
          <p:cNvSpPr/>
          <p:nvPr/>
        </p:nvSpPr>
        <p:spPr>
          <a:xfrm>
            <a:off x="6263640" y="1371600"/>
            <a:ext cx="5394960" cy="2999232"/>
          </a:xfrm>
          <a:prstGeom prst="roundRect">
            <a:avLst>
              <a:gd name="adj" fmla="val 1829"/>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2" name="Text 9"/>
          <p:cNvSpPr txBox="1"/>
          <p:nvPr/>
        </p:nvSpPr>
        <p:spPr>
          <a:xfrm>
            <a:off x="6464808" y="1499616"/>
            <a:ext cx="5029200" cy="274320"/>
          </a:xfrm>
          <a:prstGeom prst="rect">
            <a:avLst/>
          </a:prstGeom>
          <a:noFill/>
          <a:ln/>
        </p:spPr>
        <p:txBody>
          <a:bodyPr wrap="square" lIns="0" tIns="0" rIns="0" bIns="0" rtlCol="0" anchor="ctr"/>
          <a:lstStyle/>
          <a:p>
            <a:pPr indent="0" marL="0">
              <a:buNone/>
            </a:pPr>
            <a:r>
              <a:rPr lang="en-US" sz="1500" b="1" dirty="0">
                <a:solidFill>
                  <a:srgbClr val="3D1700"/>
                </a:solidFill>
                <a:latin typeface="Poppins" pitchFamily="34" charset="0"/>
                <a:ea typeface="Poppins" pitchFamily="34" charset="-122"/>
                <a:cs typeface="Poppins" pitchFamily="34" charset="-120"/>
              </a:rPr>
              <a:t>Why not just the summaries?</a:t>
            </a:r>
            <a:endParaRPr lang="en-US" sz="1500" dirty="0"/>
          </a:p>
        </p:txBody>
      </p:sp>
      <p:sp>
        <p:nvSpPr>
          <p:cNvPr id="13" name="Text 10"/>
          <p:cNvSpPr txBox="1"/>
          <p:nvPr/>
        </p:nvSpPr>
        <p:spPr>
          <a:xfrm>
            <a:off x="6464808" y="1810512"/>
            <a:ext cx="5029200" cy="1234440"/>
          </a:xfrm>
          <a:prstGeom prst="rect">
            <a:avLst/>
          </a:prstGeom>
          <a:noFill/>
          <a:ln/>
        </p:spPr>
        <p:txBody>
          <a:bodyPr wrap="square" lIns="0" tIns="0" rIns="0" bIns="0" rtlCol="0" anchor="ctr"/>
          <a:lstStyle/>
          <a:p>
            <a:pPr indent="0" marL="0">
              <a:lnSpc>
                <a:spcPct val="116000"/>
              </a:lnSpc>
              <a:buNone/>
            </a:pPr>
            <a:r>
              <a:rPr lang="en-US" sz="1000" dirty="0">
                <a:solidFill>
                  <a:srgbClr val="543110"/>
                </a:solidFill>
                <a:latin typeface="Poppins" pitchFamily="34" charset="0"/>
                <a:ea typeface="Poppins" pitchFamily="34" charset="-122"/>
                <a:cs typeface="Poppins" pitchFamily="34" charset="-120"/>
              </a:rPr>
              <a:t>An earlier version kept the nine summaries and threw the map away. At the same alarm budget it catches 70% of pull episodes against 100%.</a:t>
            </a:r>
            <a:endParaRPr lang="en-US" sz="1000" dirty="0"/>
          </a:p>
        </p:txBody>
      </p:sp>
      <p:graphicFrame>
        <p:nvGraphicFramePr>
          <p:cNvPr id="14" name="Chart 0" descr=""/>
          <p:cNvGraphicFramePr/>
          <p:nvPr/>
        </p:nvGraphicFramePr>
        <p:xfrm>
          <a:off x="6464808" y="3035808"/>
          <a:ext cx="5029200" cy="1024128"/>
        </p:xfrm>
        <a:graphic xmlns:a="http://schemas.openxmlformats.org/drawingml/2006/main">
          <a:graphicData uri="http://schemas.openxmlformats.org/drawingml/2006/chart">
            <c:chart xmlns:c="http://schemas.openxmlformats.org/drawingml/2006/chart" r:id="rId3"/>
          </a:graphicData>
        </a:graphic>
      </p:graphicFrame>
      <p:sp>
        <p:nvSpPr>
          <p:cNvPr id="15" name="Shape 11"/>
          <p:cNvSpPr/>
          <p:nvPr/>
        </p:nvSpPr>
        <p:spPr>
          <a:xfrm>
            <a:off x="502920" y="4370832"/>
            <a:ext cx="3596640" cy="1481328"/>
          </a:xfrm>
          <a:prstGeom prst="roundRect">
            <a:avLst>
              <a:gd name="adj" fmla="val 3704"/>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6" name="Text 12"/>
          <p:cNvSpPr txBox="1"/>
          <p:nvPr/>
        </p:nvSpPr>
        <p:spPr>
          <a:xfrm>
            <a:off x="667512" y="4462272"/>
            <a:ext cx="685800" cy="420624"/>
          </a:xfrm>
          <a:prstGeom prst="rect">
            <a:avLst/>
          </a:prstGeom>
          <a:noFill/>
          <a:ln/>
        </p:spPr>
        <p:txBody>
          <a:bodyPr wrap="square" lIns="0" tIns="0" rIns="0" bIns="0" rtlCol="0" anchor="ctr"/>
          <a:lstStyle/>
          <a:p>
            <a:pPr indent="0" marL="0">
              <a:buNone/>
            </a:pPr>
            <a:r>
              <a:rPr lang="en-US" sz="2600" b="1" dirty="0">
                <a:solidFill>
                  <a:srgbClr val="6B4423"/>
                </a:solidFill>
                <a:latin typeface="Poppins" pitchFamily="34" charset="0"/>
                <a:ea typeface="Poppins" pitchFamily="34" charset="-122"/>
                <a:cs typeface="Poppins" pitchFamily="34" charset="-120"/>
              </a:rPr>
              <a:t>25</a:t>
            </a:r>
            <a:endParaRPr lang="en-US" sz="2600" dirty="0"/>
          </a:p>
        </p:txBody>
      </p:sp>
      <p:sp>
        <p:nvSpPr>
          <p:cNvPr id="17" name="Text 13"/>
          <p:cNvSpPr txBox="1"/>
          <p:nvPr/>
        </p:nvSpPr>
        <p:spPr>
          <a:xfrm>
            <a:off x="1399032" y="4498848"/>
            <a:ext cx="2535936" cy="347472"/>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The map itself</a:t>
            </a:r>
            <a:endParaRPr lang="en-US" sz="1100" dirty="0"/>
          </a:p>
        </p:txBody>
      </p:sp>
      <p:sp>
        <p:nvSpPr>
          <p:cNvPr id="18" name="Text 14"/>
          <p:cNvSpPr txBox="1"/>
          <p:nvPr/>
        </p:nvSpPr>
        <p:spPr>
          <a:xfrm>
            <a:off x="667512" y="4956048"/>
            <a:ext cx="3267456" cy="804672"/>
          </a:xfrm>
          <a:prstGeom prst="rect">
            <a:avLst/>
          </a:prstGeom>
          <a:noFill/>
          <a:ln/>
        </p:spPr>
        <p:txBody>
          <a:bodyPr wrap="square" lIns="0" tIns="0" rIns="0" bIns="0" rtlCol="0" anchor="ctr"/>
          <a:lstStyle/>
          <a:p>
            <a:pPr indent="0" marL="0">
              <a:lnSpc>
                <a:spcPct val="115000"/>
              </a:lnSpc>
              <a:buNone/>
            </a:pPr>
            <a:r>
              <a:rPr lang="en-US" sz="1000" dirty="0">
                <a:solidFill>
                  <a:srgbClr val="543110"/>
                </a:solidFill>
                <a:latin typeface="Poppins" pitchFamily="34" charset="0"/>
                <a:ea typeface="Poppins" pitchFamily="34" charset="-122"/>
                <a:cs typeface="Poppins" pitchFamily="34" charset="-120"/>
              </a:rPr>
              <a:t>One value per pad, left where it is. No summary recovers geometry once averaged away.</a:t>
            </a:r>
            <a:endParaRPr lang="en-US" sz="1000" dirty="0"/>
          </a:p>
        </p:txBody>
      </p:sp>
      <p:sp>
        <p:nvSpPr>
          <p:cNvPr id="19" name="Shape 15"/>
          <p:cNvSpPr/>
          <p:nvPr/>
        </p:nvSpPr>
        <p:spPr>
          <a:xfrm>
            <a:off x="4282440" y="4370832"/>
            <a:ext cx="3596640" cy="1481328"/>
          </a:xfrm>
          <a:prstGeom prst="roundRect">
            <a:avLst>
              <a:gd name="adj" fmla="val 3704"/>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0" name="Text 16"/>
          <p:cNvSpPr txBox="1"/>
          <p:nvPr/>
        </p:nvSpPr>
        <p:spPr>
          <a:xfrm>
            <a:off x="4447032" y="4462272"/>
            <a:ext cx="685800" cy="420624"/>
          </a:xfrm>
          <a:prstGeom prst="rect">
            <a:avLst/>
          </a:prstGeom>
          <a:noFill/>
          <a:ln/>
        </p:spPr>
        <p:txBody>
          <a:bodyPr wrap="square" lIns="0" tIns="0" rIns="0" bIns="0" rtlCol="0" anchor="ctr"/>
          <a:lstStyle/>
          <a:p>
            <a:pPr indent="0" marL="0">
              <a:buNone/>
            </a:pPr>
            <a:r>
              <a:rPr lang="en-US" sz="2600" b="1" dirty="0">
                <a:solidFill>
                  <a:srgbClr val="8A6A4F"/>
                </a:solidFill>
                <a:latin typeface="Poppins" pitchFamily="34" charset="0"/>
                <a:ea typeface="Poppins" pitchFamily="34" charset="-122"/>
                <a:cs typeface="Poppins" pitchFamily="34" charset="-120"/>
              </a:rPr>
              <a:t>4</a:t>
            </a:r>
            <a:endParaRPr lang="en-US" sz="2600" dirty="0"/>
          </a:p>
        </p:txBody>
      </p:sp>
      <p:sp>
        <p:nvSpPr>
          <p:cNvPr id="21" name="Text 17"/>
          <p:cNvSpPr txBox="1"/>
          <p:nvPr/>
        </p:nvSpPr>
        <p:spPr>
          <a:xfrm>
            <a:off x="5178552" y="4498848"/>
            <a:ext cx="2535936" cy="347472"/>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How big</a:t>
            </a:r>
            <a:endParaRPr lang="en-US" sz="1100" dirty="0"/>
          </a:p>
        </p:txBody>
      </p:sp>
      <p:sp>
        <p:nvSpPr>
          <p:cNvPr id="22" name="Text 18"/>
          <p:cNvSpPr txBox="1"/>
          <p:nvPr/>
        </p:nvSpPr>
        <p:spPr>
          <a:xfrm>
            <a:off x="4447032" y="4956048"/>
            <a:ext cx="3267456" cy="804672"/>
          </a:xfrm>
          <a:prstGeom prst="rect">
            <a:avLst/>
          </a:prstGeom>
          <a:noFill/>
          <a:ln/>
        </p:spPr>
        <p:txBody>
          <a:bodyPr wrap="square" lIns="0" tIns="0" rIns="0" bIns="0" rtlCol="0" anchor="ctr"/>
          <a:lstStyle/>
          <a:p>
            <a:pPr indent="0" marL="0">
              <a:lnSpc>
                <a:spcPct val="115000"/>
              </a:lnSpc>
              <a:buNone/>
            </a:pPr>
            <a:r>
              <a:rPr lang="en-US" sz="1000" dirty="0">
                <a:solidFill>
                  <a:srgbClr val="543110"/>
                </a:solidFill>
                <a:latin typeface="Poppins" pitchFamily="34" charset="0"/>
                <a:ea typeface="Poppins" pitchFamily="34" charset="-122"/>
                <a:cs typeface="Poppins" pitchFamily="34" charset="-120"/>
              </a:rPr>
              <a:t>Smallest, largest, average and spread across the patch.</a:t>
            </a:r>
            <a:endParaRPr lang="en-US" sz="1000" dirty="0"/>
          </a:p>
        </p:txBody>
      </p:sp>
      <p:sp>
        <p:nvSpPr>
          <p:cNvPr id="23" name="Shape 19"/>
          <p:cNvSpPr/>
          <p:nvPr/>
        </p:nvSpPr>
        <p:spPr>
          <a:xfrm>
            <a:off x="8061960" y="4370832"/>
            <a:ext cx="3596640" cy="1481328"/>
          </a:xfrm>
          <a:prstGeom prst="roundRect">
            <a:avLst>
              <a:gd name="adj" fmla="val 3704"/>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4" name="Text 20"/>
          <p:cNvSpPr txBox="1"/>
          <p:nvPr/>
        </p:nvSpPr>
        <p:spPr>
          <a:xfrm>
            <a:off x="8226552" y="4462272"/>
            <a:ext cx="685800" cy="420624"/>
          </a:xfrm>
          <a:prstGeom prst="rect">
            <a:avLst/>
          </a:prstGeom>
          <a:noFill/>
          <a:ln/>
        </p:spPr>
        <p:txBody>
          <a:bodyPr wrap="square" lIns="0" tIns="0" rIns="0" bIns="0" rtlCol="0" anchor="ctr"/>
          <a:lstStyle/>
          <a:p>
            <a:pPr indent="0" marL="0">
              <a:buNone/>
            </a:pPr>
            <a:r>
              <a:rPr lang="en-US" sz="2600" b="1" dirty="0">
                <a:solidFill>
                  <a:srgbClr val="3E6C8A"/>
                </a:solidFill>
                <a:latin typeface="Poppins" pitchFamily="34" charset="0"/>
                <a:ea typeface="Poppins" pitchFamily="34" charset="-122"/>
                <a:cs typeface="Poppins" pitchFamily="34" charset="-120"/>
              </a:rPr>
              <a:t>5</a:t>
            </a:r>
            <a:endParaRPr lang="en-US" sz="2600" dirty="0"/>
          </a:p>
        </p:txBody>
      </p:sp>
      <p:sp>
        <p:nvSpPr>
          <p:cNvPr id="25" name="Text 21"/>
          <p:cNvSpPr txBox="1"/>
          <p:nvPr/>
        </p:nvSpPr>
        <p:spPr>
          <a:xfrm>
            <a:off x="8958072" y="4498848"/>
            <a:ext cx="2535936" cy="347472"/>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How many, and how deep</a:t>
            </a:r>
            <a:endParaRPr lang="en-US" sz="1100" dirty="0"/>
          </a:p>
        </p:txBody>
      </p:sp>
      <p:sp>
        <p:nvSpPr>
          <p:cNvPr id="26" name="Text 22"/>
          <p:cNvSpPr txBox="1"/>
          <p:nvPr/>
        </p:nvSpPr>
        <p:spPr>
          <a:xfrm>
            <a:off x="8226552" y="4956048"/>
            <a:ext cx="3267456" cy="804672"/>
          </a:xfrm>
          <a:prstGeom prst="rect">
            <a:avLst/>
          </a:prstGeom>
          <a:noFill/>
          <a:ln/>
        </p:spPr>
        <p:txBody>
          <a:bodyPr wrap="square" lIns="0" tIns="0" rIns="0" bIns="0" rtlCol="0" anchor="ctr"/>
          <a:lstStyle/>
          <a:p>
            <a:pPr indent="0" marL="0">
              <a:lnSpc>
                <a:spcPct val="115000"/>
              </a:lnSpc>
              <a:buNone/>
            </a:pPr>
            <a:r>
              <a:rPr lang="en-US" sz="1000" dirty="0">
                <a:solidFill>
                  <a:srgbClr val="543110"/>
                </a:solidFill>
                <a:latin typeface="Poppins" pitchFamily="34" charset="0"/>
                <a:ea typeface="Poppins" pitchFamily="34" charset="-122"/>
                <a:cs typeface="Poppins" pitchFamily="34" charset="-120"/>
              </a:rPr>
              <a:t>Pads past five marks — −300, −600, −1000 lifting; +300, +1000 pressing.</a:t>
            </a:r>
            <a:endParaRPr lang="en-US" sz="1000" dirty="0"/>
          </a:p>
        </p:txBody>
      </p:sp>
      <p:sp>
        <p:nvSpPr>
          <p:cNvPr id="27" name="Shape 23"/>
          <p:cNvSpPr/>
          <p:nvPr/>
        </p:nvSpPr>
        <p:spPr>
          <a:xfrm>
            <a:off x="502920" y="5961888"/>
            <a:ext cx="11155680" cy="457200"/>
          </a:xfrm>
          <a:prstGeom prst="roundRect">
            <a:avLst>
              <a:gd name="adj" fmla="val 12000"/>
            </a:avLst>
          </a:prstGeom>
          <a:solidFill>
            <a:srgbClr val="F6E4DC"/>
          </a:solidFill>
          <a:ln w="12700">
            <a:solidFill>
              <a:srgbClr val="A3301F"/>
            </a:solidFill>
            <a:prstDash val="solid"/>
          </a:ln>
          <a:effectLst>
            <a:outerShdw sx="100000" sy="100000" kx="0" ky="0" algn="bl" rotWithShape="0" blurRad="127000" dist="25400" dir="5400000">
              <a:srgbClr val="3D1700">
                <a:alpha val="13000"/>
              </a:srgbClr>
            </a:outerShdw>
          </a:effectLst>
        </p:spPr>
      </p:sp>
      <p:sp>
        <p:nvSpPr>
          <p:cNvPr id="28" name="Text 24"/>
          <p:cNvSpPr txBox="1"/>
          <p:nvPr/>
        </p:nvSpPr>
        <p:spPr>
          <a:xfrm>
            <a:off x="685800" y="5998464"/>
            <a:ext cx="10789920" cy="384048"/>
          </a:xfrm>
          <a:prstGeom prst="rect">
            <a:avLst/>
          </a:prstGeom>
          <a:noFill/>
          <a:ln/>
        </p:spPr>
        <p:txBody>
          <a:bodyPr wrap="square" lIns="0" tIns="0" rIns="0" bIns="0" rtlCol="0" anchor="ctr"/>
          <a:lstStyle/>
          <a:p>
            <a:pPr indent="0" marL="0">
              <a:buNone/>
            </a:pPr>
            <a:r>
              <a:rPr lang="en-US" sz="900" b="1" dirty="0">
                <a:solidFill>
                  <a:srgbClr val="6B2015"/>
                </a:solidFill>
                <a:latin typeface="Poppins" pitchFamily="34" charset="0"/>
                <a:ea typeface="Poppins" pitchFamily="34" charset="-122"/>
                <a:cs typeface="Poppins" pitchFamily="34" charset="-120"/>
              </a:rPr>
              <a:t>Not in the shipped vector: the optional gradient mode is off everywhere. 34 = 25 pads + these nine.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Proposed Method (5/7)</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Classifier selection: three candidates, one hundred repeats</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11</a:t>
            </a:r>
            <a:endParaRPr lang="en-US" sz="1500" dirty="0"/>
          </a:p>
        </p:txBody>
      </p:sp>
      <p:graphicFrame>
        <p:nvGraphicFramePr>
          <p:cNvPr id="8" name="Chart 0" descr=""/>
          <p:cNvGraphicFramePr/>
          <p:nvPr/>
        </p:nvGraphicFramePr>
        <p:xfrm>
          <a:off x="502920" y="1417320"/>
          <a:ext cx="5669280" cy="1965960"/>
        </p:xfrm>
        <a:graphic xmlns:a="http://schemas.openxmlformats.org/drawingml/2006/main">
          <a:graphicData uri="http://schemas.openxmlformats.org/drawingml/2006/chart">
            <c:chart xmlns:c="http://schemas.openxmlformats.org/drawingml/2006/chart" r:id="rId2"/>
          </a:graphicData>
        </a:graphic>
      </p:graphicFrame>
      <p:sp>
        <p:nvSpPr>
          <p:cNvPr id="9" name="Text 6"/>
          <p:cNvSpPr txBox="1"/>
          <p:nvPr/>
        </p:nvSpPr>
        <p:spPr>
          <a:xfrm>
            <a:off x="502920" y="3419856"/>
            <a:ext cx="5669280" cy="365760"/>
          </a:xfrm>
          <a:prstGeom prst="rect">
            <a:avLst/>
          </a:prstGeom>
          <a:noFill/>
          <a:ln/>
        </p:spPr>
        <p:txBody>
          <a:bodyPr wrap="square" lIns="0" tIns="0" rIns="0" bIns="0" rtlCol="0" anchor="ctr"/>
          <a:lstStyle/>
          <a:p>
            <a:pPr indent="0" marL="0">
              <a:lnSpc>
                <a:spcPct val="112000"/>
              </a:lnSpc>
              <a:buNone/>
            </a:pPr>
            <a:r>
              <a:rPr lang="en-US" sz="850" i="1" dirty="0">
                <a:solidFill>
                  <a:srgbClr val="7A5A3F"/>
                </a:solidFill>
                <a:latin typeface="Poppins" pitchFamily="34" charset="0"/>
                <a:ea typeface="Poppins" pitchFamily="34" charset="-122"/>
                <a:cs typeface="Poppins" pitchFamily="34" charset="-120"/>
              </a:rPr>
              <a:t>Episode sensitivity over 100 grouped-CV repeats — 1,500 fits.</a:t>
            </a:r>
            <a:endParaRPr lang="en-US" sz="850" dirty="0"/>
          </a:p>
        </p:txBody>
      </p:sp>
      <p:sp>
        <p:nvSpPr>
          <p:cNvPr id="10" name="Shape 7"/>
          <p:cNvSpPr/>
          <p:nvPr/>
        </p:nvSpPr>
        <p:spPr>
          <a:xfrm>
            <a:off x="6446520" y="1417320"/>
            <a:ext cx="5212080" cy="1051560"/>
          </a:xfrm>
          <a:prstGeom prst="roundRect">
            <a:avLst>
              <a:gd name="adj" fmla="val 521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1" name="Text 8"/>
          <p:cNvSpPr txBox="1"/>
          <p:nvPr/>
        </p:nvSpPr>
        <p:spPr>
          <a:xfrm>
            <a:off x="6629400" y="1517904"/>
            <a:ext cx="493776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It wins on the metric the device is judged by</a:t>
            </a:r>
            <a:endParaRPr lang="en-US" sz="1100" dirty="0"/>
          </a:p>
        </p:txBody>
      </p:sp>
      <p:sp>
        <p:nvSpPr>
          <p:cNvPr id="12" name="Text 9"/>
          <p:cNvSpPr txBox="1"/>
          <p:nvPr/>
        </p:nvSpPr>
        <p:spPr>
          <a:xfrm>
            <a:off x="6629400" y="1783080"/>
            <a:ext cx="4937760" cy="60350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98.2% against 86.8% for the forest — and it leads in 100 of 100 repeats.</a:t>
            </a:r>
            <a:endParaRPr lang="en-US" sz="1050" dirty="0"/>
          </a:p>
        </p:txBody>
      </p:sp>
      <p:sp>
        <p:nvSpPr>
          <p:cNvPr id="13" name="Shape 10"/>
          <p:cNvSpPr/>
          <p:nvPr/>
        </p:nvSpPr>
        <p:spPr>
          <a:xfrm>
            <a:off x="6446520" y="2560320"/>
            <a:ext cx="5212080" cy="1051560"/>
          </a:xfrm>
          <a:prstGeom prst="roundRect">
            <a:avLst>
              <a:gd name="adj" fmla="val 521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4" name="Text 11"/>
          <p:cNvSpPr txBox="1"/>
          <p:nvPr/>
        </p:nvSpPr>
        <p:spPr>
          <a:xfrm>
            <a:off x="6629400" y="2660904"/>
            <a:ext cx="493776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It is the steadiest</a:t>
            </a:r>
            <a:endParaRPr lang="en-US" sz="1100" dirty="0"/>
          </a:p>
        </p:txBody>
      </p:sp>
      <p:sp>
        <p:nvSpPr>
          <p:cNvPr id="15" name="Text 12"/>
          <p:cNvSpPr txBox="1"/>
          <p:nvPr/>
        </p:nvSpPr>
        <p:spPr>
          <a:xfrm>
            <a:off x="6629400" y="2926080"/>
            <a:ext cx="4937760" cy="60350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Shortest box on every measure. Moving least when the data changes is worth as much as the best average.</a:t>
            </a:r>
            <a:endParaRPr lang="en-US" sz="1050" dirty="0"/>
          </a:p>
        </p:txBody>
      </p:sp>
      <p:sp>
        <p:nvSpPr>
          <p:cNvPr id="16" name="Shape 13"/>
          <p:cNvSpPr/>
          <p:nvPr/>
        </p:nvSpPr>
        <p:spPr>
          <a:xfrm>
            <a:off x="6446520" y="3703320"/>
            <a:ext cx="5212080" cy="1051560"/>
          </a:xfrm>
          <a:prstGeom prst="roundRect">
            <a:avLst>
              <a:gd name="adj" fmla="val 521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7" name="Text 14"/>
          <p:cNvSpPr txBox="1"/>
          <p:nvPr/>
        </p:nvSpPr>
        <p:spPr>
          <a:xfrm>
            <a:off x="6629400" y="3803904"/>
            <a:ext cx="493776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It is fastest where speed is spent</a:t>
            </a:r>
            <a:endParaRPr lang="en-US" sz="1100" dirty="0"/>
          </a:p>
        </p:txBody>
      </p:sp>
      <p:sp>
        <p:nvSpPr>
          <p:cNvPr id="18" name="Text 15"/>
          <p:cNvSpPr txBox="1"/>
          <p:nvPr/>
        </p:nvSpPr>
        <p:spPr>
          <a:xfrm>
            <a:off x="6629400" y="4069080"/>
            <a:ext cx="4937760" cy="60350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0.127 ms a frame against about 1.04 ms. Slower to train, which a device pays once.</a:t>
            </a:r>
            <a:endParaRPr lang="en-US" sz="1050" dirty="0"/>
          </a:p>
        </p:txBody>
      </p:sp>
      <p:sp>
        <p:nvSpPr>
          <p:cNvPr id="19" name="Shape 16"/>
          <p:cNvSpPr/>
          <p:nvPr/>
        </p:nvSpPr>
        <p:spPr>
          <a:xfrm>
            <a:off x="6446520" y="4846320"/>
            <a:ext cx="5212080" cy="1051560"/>
          </a:xfrm>
          <a:prstGeom prst="roundRect">
            <a:avLst>
              <a:gd name="adj" fmla="val 5217"/>
            </a:avLst>
          </a:prstGeom>
          <a:solidFill>
            <a:srgbClr val="F4EAD2"/>
          </a:solidFill>
          <a:ln w="12700">
            <a:solidFill>
              <a:srgbClr val="8A6A4F"/>
            </a:solidFill>
            <a:prstDash val="solid"/>
          </a:ln>
          <a:effectLst>
            <a:outerShdw sx="100000" sy="100000" kx="0" ky="0" algn="bl" rotWithShape="0" blurRad="127000" dist="25400" dir="5400000">
              <a:srgbClr val="3D1700">
                <a:alpha val="13000"/>
              </a:srgbClr>
            </a:outerShdw>
          </a:effectLst>
        </p:spPr>
      </p:sp>
      <p:sp>
        <p:nvSpPr>
          <p:cNvPr id="20" name="Text 17"/>
          <p:cNvSpPr txBox="1"/>
          <p:nvPr/>
        </p:nvSpPr>
        <p:spPr>
          <a:xfrm>
            <a:off x="6629400" y="4946904"/>
            <a:ext cx="4937760" cy="237744"/>
          </a:xfrm>
          <a:prstGeom prst="rect">
            <a:avLst/>
          </a:prstGeom>
          <a:noFill/>
          <a:ln/>
        </p:spPr>
        <p:txBody>
          <a:bodyPr wrap="square" lIns="0" tIns="0" rIns="0" bIns="0" rtlCol="0" anchor="ctr"/>
          <a:lstStyle/>
          <a:p>
            <a:pPr indent="0" marL="0">
              <a:buNone/>
            </a:pPr>
            <a:r>
              <a:rPr lang="en-US" sz="1100" b="1" dirty="0">
                <a:solidFill>
                  <a:srgbClr val="543110"/>
                </a:solidFill>
                <a:latin typeface="Poppins" pitchFamily="34" charset="0"/>
                <a:ea typeface="Poppins" pitchFamily="34" charset="-122"/>
                <a:cs typeface="Poppins" pitchFamily="34" charset="-120"/>
              </a:rPr>
              <a:t>The column it does not lead</a:t>
            </a:r>
            <a:endParaRPr lang="en-US" sz="1100" dirty="0"/>
          </a:p>
        </p:txBody>
      </p:sp>
      <p:sp>
        <p:nvSpPr>
          <p:cNvPr id="21" name="Text 18"/>
          <p:cNvSpPr txBox="1"/>
          <p:nvPr/>
        </p:nvSpPr>
        <p:spPr>
          <a:xfrm>
            <a:off x="6629400" y="5212080"/>
            <a:ext cx="4937760" cy="603504"/>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The forest is quieter — 6.92 against 7.93 an hour — but pays 11.4 points of sensitivity for it.</a:t>
            </a:r>
            <a:endParaRPr lang="en-US" sz="1050" dirty="0"/>
          </a:p>
        </p:txBody>
      </p:sp>
      <p:sp>
        <p:nvSpPr>
          <p:cNvPr id="22" name="Shape 19"/>
          <p:cNvSpPr/>
          <p:nvPr/>
        </p:nvSpPr>
        <p:spPr>
          <a:xfrm>
            <a:off x="502920" y="3931920"/>
            <a:ext cx="5669280" cy="1783080"/>
          </a:xfrm>
          <a:prstGeom prst="roundRect">
            <a:avLst>
              <a:gd name="adj" fmla="val 3077"/>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3" name="Text 20"/>
          <p:cNvSpPr txBox="1"/>
          <p:nvPr/>
        </p:nvSpPr>
        <p:spPr>
          <a:xfrm>
            <a:off x="685800" y="4050792"/>
            <a:ext cx="5303520" cy="256032"/>
          </a:xfrm>
          <a:prstGeom prst="rect">
            <a:avLst/>
          </a:prstGeom>
          <a:noFill/>
          <a:ln/>
        </p:spPr>
        <p:txBody>
          <a:bodyPr wrap="square" lIns="0" tIns="0" rIns="0" bIns="0" rtlCol="0" anchor="ctr"/>
          <a:lstStyle/>
          <a:p>
            <a:pPr indent="0" marL="0">
              <a:buNone/>
            </a:pPr>
            <a:r>
              <a:rPr lang="en-US" sz="1200" b="1" dirty="0">
                <a:solidFill>
                  <a:srgbClr val="A3301F"/>
                </a:solidFill>
                <a:latin typeface="Poppins" pitchFamily="34" charset="0"/>
                <a:ea typeface="Poppins" pitchFamily="34" charset="-122"/>
                <a:cs typeface="Poppins" pitchFamily="34" charset="-120"/>
              </a:rPr>
              <a:t>A retraction worth showing</a:t>
            </a:r>
            <a:endParaRPr lang="en-US" sz="1200" dirty="0"/>
          </a:p>
        </p:txBody>
      </p:sp>
      <p:sp>
        <p:nvSpPr>
          <p:cNvPr id="24" name="Text 21"/>
          <p:cNvSpPr txBox="1"/>
          <p:nvPr/>
        </p:nvSpPr>
        <p:spPr>
          <a:xfrm>
            <a:off x="685800" y="4334256"/>
            <a:ext cx="5303520" cy="1280160"/>
          </a:xfrm>
          <a:prstGeom prst="rect">
            <a:avLst/>
          </a:prstGeom>
          <a:noFill/>
          <a:ln/>
        </p:spPr>
        <p:txBody>
          <a:bodyPr wrap="square" lIns="0" tIns="0" rIns="0" bIns="0" rtlCol="0" anchor="ctr"/>
          <a:lstStyle/>
          <a:p>
            <a:pPr indent="0" marL="0">
              <a:lnSpc>
                <a:spcPct val="117000"/>
              </a:lnSpc>
              <a:buNone/>
            </a:pPr>
            <a:r>
              <a:rPr lang="en-US" sz="1050" dirty="0">
                <a:solidFill>
                  <a:srgbClr val="543110"/>
                </a:solidFill>
                <a:latin typeface="Poppins" pitchFamily="34" charset="0"/>
                <a:ea typeface="Poppins" pitchFamily="34" charset="-122"/>
                <a:cs typeface="Poppins" pitchFamily="34" charset="-120"/>
              </a:rPr>
              <a:t>An earlier comparison reported 100.00% accuracy, and that justified shipping it. The feature matrix had every pad duplicated. On the correct 34 columns it scores 97.53%.</a:t>
            </a:r>
            <a:endParaRPr lang="en-US" sz="1050" dirty="0"/>
          </a:p>
          <a:p>
            <a:pPr indent="0" marL="0">
              <a:lnSpc>
                <a:spcPct val="117000"/>
              </a:lnSpc>
              <a:buNone/>
            </a:pPr>
            <a:endParaRPr lang="en-US" sz="1050" dirty="0"/>
          </a:p>
          <a:p>
            <a:pPr indent="0" marL="0">
              <a:lnSpc>
                <a:spcPct val="117000"/>
              </a:lnSpc>
              <a:buNone/>
            </a:pPr>
            <a:r>
              <a:rPr lang="en-US" sz="1050" dirty="0">
                <a:solidFill>
                  <a:srgbClr val="543110"/>
                </a:solidFill>
                <a:latin typeface="Poppins" pitchFamily="34" charset="0"/>
                <a:ea typeface="Poppins" pitchFamily="34" charset="-122"/>
                <a:cs typeface="Poppins" pitchFamily="34" charset="-120"/>
              </a:rPr>
              <a:t>A perfect score across 81 files is a bug report. Every figure here carries an interval.</a:t>
            </a:r>
            <a:endParaRPr lang="en-US" sz="1050" dirty="0"/>
          </a:p>
        </p:txBody>
      </p:sp>
      <p:sp>
        <p:nvSpPr>
          <p:cNvPr id="25" name="Text 22"/>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Folds grouped by recording, so no frame appears on both sides.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Proposed Method (6/7)</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Temporal annunciator: deciding when to speak</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12</a:t>
            </a:r>
            <a:endParaRPr lang="en-US" sz="1500" dirty="0"/>
          </a:p>
        </p:txBody>
      </p:sp>
      <p:sp>
        <p:nvSpPr>
          <p:cNvPr id="8" name="Shape 6"/>
          <p:cNvSpPr/>
          <p:nvPr/>
        </p:nvSpPr>
        <p:spPr>
          <a:xfrm>
            <a:off x="502920" y="1371600"/>
            <a:ext cx="5394960" cy="2286000"/>
          </a:xfrm>
          <a:prstGeom prst="roundRect">
            <a:avLst>
              <a:gd name="adj" fmla="val 2400"/>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685800" y="1481328"/>
            <a:ext cx="5029200" cy="256032"/>
          </a:xfrm>
          <a:prstGeom prst="rect">
            <a:avLst/>
          </a:prstGeom>
          <a:noFill/>
          <a:ln/>
        </p:spPr>
        <p:txBody>
          <a:bodyPr wrap="square" lIns="0" tIns="0" rIns="0" bIns="0" rtlCol="0" anchor="ctr"/>
          <a:lstStyle/>
          <a:p>
            <a:pPr indent="0" marL="0">
              <a:buNone/>
            </a:pPr>
            <a:r>
              <a:rPr lang="en-US" sz="1200" b="1" dirty="0">
                <a:solidFill>
                  <a:srgbClr val="3D1700"/>
                </a:solidFill>
                <a:latin typeface="Poppins" pitchFamily="34" charset="0"/>
                <a:ea typeface="Poppins" pitchFamily="34" charset="-122"/>
                <a:cs typeface="Poppins" pitchFamily="34" charset="-120"/>
              </a:rPr>
              <a:t>Two rules, in plain terms</a:t>
            </a:r>
            <a:endParaRPr lang="en-US" sz="1200" dirty="0"/>
          </a:p>
        </p:txBody>
      </p:sp>
      <p:sp>
        <p:nvSpPr>
          <p:cNvPr id="10" name="Text 8"/>
          <p:cNvSpPr txBox="1"/>
          <p:nvPr/>
        </p:nvSpPr>
        <p:spPr>
          <a:xfrm>
            <a:off x="685800" y="1810512"/>
            <a:ext cx="5029200" cy="237744"/>
          </a:xfrm>
          <a:prstGeom prst="rect">
            <a:avLst/>
          </a:prstGeom>
          <a:noFill/>
          <a:ln/>
        </p:spPr>
        <p:txBody>
          <a:bodyPr wrap="square" lIns="0" tIns="0" rIns="0" bIns="0" rtlCol="0" anchor="ctr"/>
          <a:lstStyle/>
          <a:p>
            <a:pPr indent="0" marL="0">
              <a:buNone/>
            </a:pPr>
            <a:r>
              <a:rPr lang="en-US" sz="1100" b="1" dirty="0">
                <a:solidFill>
                  <a:srgbClr val="543110"/>
                </a:solidFill>
                <a:latin typeface="Poppins" pitchFamily="34" charset="0"/>
                <a:ea typeface="Poppins" pitchFamily="34" charset="-122"/>
                <a:cs typeface="Poppins" pitchFamily="34" charset="-120"/>
              </a:rPr>
              <a:t>Wait for agreement</a:t>
            </a:r>
            <a:endParaRPr lang="en-US" sz="1100" dirty="0"/>
          </a:p>
        </p:txBody>
      </p:sp>
      <p:sp>
        <p:nvSpPr>
          <p:cNvPr id="11" name="Text 9"/>
          <p:cNvSpPr txBox="1"/>
          <p:nvPr/>
        </p:nvSpPr>
        <p:spPr>
          <a:xfrm>
            <a:off x="685800" y="2066544"/>
            <a:ext cx="5029200" cy="457200"/>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Six of the last seven must agree — about 3.4 seconds of evidence.</a:t>
            </a:r>
            <a:endParaRPr lang="en-US" sz="1050" dirty="0"/>
          </a:p>
        </p:txBody>
      </p:sp>
      <p:sp>
        <p:nvSpPr>
          <p:cNvPr id="12" name="Text 10"/>
          <p:cNvSpPr txBox="1"/>
          <p:nvPr/>
        </p:nvSpPr>
        <p:spPr>
          <a:xfrm>
            <a:off x="685800" y="2578608"/>
            <a:ext cx="5029200" cy="237744"/>
          </a:xfrm>
          <a:prstGeom prst="rect">
            <a:avLst/>
          </a:prstGeom>
          <a:noFill/>
          <a:ln/>
        </p:spPr>
        <p:txBody>
          <a:bodyPr wrap="square" lIns="0" tIns="0" rIns="0" bIns="0" rtlCol="0" anchor="ctr"/>
          <a:lstStyle/>
          <a:p>
            <a:pPr indent="0" marL="0">
              <a:buNone/>
            </a:pPr>
            <a:r>
              <a:rPr lang="en-US" sz="1100" b="1" dirty="0">
                <a:solidFill>
                  <a:srgbClr val="543110"/>
                </a:solidFill>
                <a:latin typeface="Poppins" pitchFamily="34" charset="0"/>
                <a:ea typeface="Poppins" pitchFamily="34" charset="-122"/>
                <a:cs typeface="Poppins" pitchFamily="34" charset="-120"/>
              </a:rPr>
              <a:t>Then hold it</a:t>
            </a:r>
            <a:endParaRPr lang="en-US" sz="1100" dirty="0"/>
          </a:p>
        </p:txBody>
      </p:sp>
      <p:sp>
        <p:nvSpPr>
          <p:cNvPr id="13" name="Text 11"/>
          <p:cNvSpPr txBox="1"/>
          <p:nvPr/>
        </p:nvSpPr>
        <p:spPr>
          <a:xfrm>
            <a:off x="685800" y="2834640"/>
            <a:ext cx="5029200" cy="457200"/>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Held about five seconds, so it cannot be missed or flicker.</a:t>
            </a:r>
            <a:endParaRPr lang="en-US" sz="1050" dirty="0"/>
          </a:p>
        </p:txBody>
      </p:sp>
      <p:sp>
        <p:nvSpPr>
          <p:cNvPr id="14" name="Text 12"/>
          <p:cNvSpPr txBox="1"/>
          <p:nvPr/>
        </p:nvSpPr>
        <p:spPr>
          <a:xfrm>
            <a:off x="685800" y="3328416"/>
            <a:ext cx="5029200" cy="237744"/>
          </a:xfrm>
          <a:prstGeom prst="rect">
            <a:avLst/>
          </a:prstGeom>
          <a:noFill/>
          <a:ln/>
        </p:spPr>
        <p:txBody>
          <a:bodyPr wrap="square" lIns="0" tIns="0" rIns="0" bIns="0" rtlCol="0" anchor="ctr"/>
          <a:lstStyle/>
          <a:p>
            <a:pPr indent="0" marL="0">
              <a:buNone/>
            </a:pPr>
            <a:r>
              <a:rPr lang="en-US" sz="900" i="1" dirty="0">
                <a:solidFill>
                  <a:srgbClr val="7A5A3F"/>
                </a:solidFill>
                <a:latin typeface="Poppins" pitchFamily="34" charset="0"/>
                <a:ea typeface="Poppins" pitchFamily="34" charset="-122"/>
                <a:cs typeface="Poppins" pitchFamily="34" charset="-120"/>
              </a:rPr>
              <a:t>Each escalation raised the alarm exactly once.</a:t>
            </a:r>
            <a:endParaRPr lang="en-US" sz="900" dirty="0"/>
          </a:p>
        </p:txBody>
      </p:sp>
      <p:graphicFrame>
        <p:nvGraphicFramePr>
          <p:cNvPr id="15" name="Chart 0" descr=""/>
          <p:cNvGraphicFramePr/>
          <p:nvPr/>
        </p:nvGraphicFramePr>
        <p:xfrm>
          <a:off x="5989320" y="1371600"/>
          <a:ext cx="5669280" cy="2286000"/>
        </p:xfrm>
        <a:graphic xmlns:a="http://schemas.openxmlformats.org/drawingml/2006/main">
          <a:graphicData uri="http://schemas.openxmlformats.org/drawingml/2006/chart">
            <c:chart xmlns:c="http://schemas.openxmlformats.org/drawingml/2006/chart" r:id="rId2"/>
          </a:graphicData>
        </a:graphic>
      </p:graphicFrame>
      <p:sp>
        <p:nvSpPr>
          <p:cNvPr id="16" name="Text 13"/>
          <p:cNvSpPr txBox="1"/>
          <p:nvPr/>
        </p:nvSpPr>
        <p:spPr>
          <a:xfrm>
            <a:off x="5989320" y="3675888"/>
            <a:ext cx="5669280" cy="365760"/>
          </a:xfrm>
          <a:prstGeom prst="rect">
            <a:avLst/>
          </a:prstGeom>
          <a:noFill/>
          <a:ln/>
        </p:spPr>
        <p:txBody>
          <a:bodyPr wrap="square" lIns="0" tIns="0" rIns="0" bIns="0" rtlCol="0" anchor="ctr"/>
          <a:lstStyle/>
          <a:p>
            <a:pPr indent="0" marL="0">
              <a:lnSpc>
                <a:spcPct val="112000"/>
              </a:lnSpc>
              <a:buNone/>
            </a:pPr>
            <a:r>
              <a:rPr lang="en-US" sz="850" i="1" dirty="0">
                <a:solidFill>
                  <a:srgbClr val="7A5A3F"/>
                </a:solidFill>
                <a:latin typeface="Poppins" pitchFamily="34" charset="0"/>
                <a:ea typeface="Poppins" pitchFamily="34" charset="-122"/>
                <a:cs typeface="Poppins" pitchFamily="34" charset="-120"/>
              </a:rPr>
              <a:t>Every setting holds 100% sensitivity except the last, which drops to 97.5%.</a:t>
            </a:r>
            <a:endParaRPr lang="en-US" sz="850" dirty="0"/>
          </a:p>
        </p:txBody>
      </p:sp>
      <p:sp>
        <p:nvSpPr>
          <p:cNvPr id="17" name="Shape 14"/>
          <p:cNvSpPr/>
          <p:nvPr/>
        </p:nvSpPr>
        <p:spPr>
          <a:xfrm>
            <a:off x="502920" y="4041648"/>
            <a:ext cx="274320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8" name="Text 15"/>
          <p:cNvSpPr txBox="1"/>
          <p:nvPr/>
        </p:nvSpPr>
        <p:spPr>
          <a:xfrm>
            <a:off x="630936" y="4114800"/>
            <a:ext cx="2487168" cy="475488"/>
          </a:xfrm>
          <a:prstGeom prst="rect">
            <a:avLst/>
          </a:prstGeom>
          <a:noFill/>
          <a:ln/>
        </p:spPr>
        <p:txBody>
          <a:bodyPr wrap="square" lIns="0" tIns="0" rIns="0" bIns="0" rtlCol="0" anchor="ctr"/>
          <a:lstStyle/>
          <a:p>
            <a:pPr indent="0" marL="0">
              <a:buNone/>
            </a:pPr>
            <a:r>
              <a:rPr lang="en-US" sz="2700" b="1" dirty="0">
                <a:solidFill>
                  <a:srgbClr val="543110"/>
                </a:solidFill>
                <a:latin typeface="Poppins" pitchFamily="34" charset="0"/>
                <a:ea typeface="Poppins" pitchFamily="34" charset="-122"/>
                <a:cs typeface="Poppins" pitchFamily="34" charset="-120"/>
              </a:rPr>
              <a:t>7.8 / hr</a:t>
            </a:r>
            <a:endParaRPr lang="en-US" sz="2700" dirty="0"/>
          </a:p>
        </p:txBody>
      </p:sp>
      <p:sp>
        <p:nvSpPr>
          <p:cNvPr id="19" name="Text 16"/>
          <p:cNvSpPr txBox="1"/>
          <p:nvPr/>
        </p:nvSpPr>
        <p:spPr>
          <a:xfrm>
            <a:off x="630936" y="4590288"/>
            <a:ext cx="248716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Alarm burden at the shipped setting</a:t>
            </a:r>
            <a:endParaRPr lang="en-US" sz="1000" dirty="0"/>
          </a:p>
        </p:txBody>
      </p:sp>
      <p:sp>
        <p:nvSpPr>
          <p:cNvPr id="20" name="Text 17"/>
          <p:cNvSpPr txBox="1"/>
          <p:nvPr/>
        </p:nvSpPr>
        <p:spPr>
          <a:xfrm>
            <a:off x="630936" y="4809744"/>
            <a:ext cx="248716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Down from 13.0 at the previous setting</a:t>
            </a:r>
            <a:endParaRPr lang="en-US" sz="850" dirty="0"/>
          </a:p>
        </p:txBody>
      </p:sp>
      <p:sp>
        <p:nvSpPr>
          <p:cNvPr id="21" name="Shape 18"/>
          <p:cNvSpPr/>
          <p:nvPr/>
        </p:nvSpPr>
        <p:spPr>
          <a:xfrm>
            <a:off x="3429000" y="4041648"/>
            <a:ext cx="274320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2" name="Text 19"/>
          <p:cNvSpPr txBox="1"/>
          <p:nvPr/>
        </p:nvSpPr>
        <p:spPr>
          <a:xfrm>
            <a:off x="3557016" y="4114800"/>
            <a:ext cx="2487168" cy="475488"/>
          </a:xfrm>
          <a:prstGeom prst="rect">
            <a:avLst/>
          </a:prstGeom>
          <a:noFill/>
          <a:ln/>
        </p:spPr>
        <p:txBody>
          <a:bodyPr wrap="square" lIns="0" tIns="0" rIns="0" bIns="0" rtlCol="0" anchor="ctr"/>
          <a:lstStyle/>
          <a:p>
            <a:pPr indent="0" marL="0">
              <a:buNone/>
            </a:pPr>
            <a:r>
              <a:rPr lang="en-US" sz="2700" b="1" dirty="0">
                <a:solidFill>
                  <a:srgbClr val="543110"/>
                </a:solidFill>
                <a:latin typeface="Poppins" pitchFamily="34" charset="0"/>
                <a:ea typeface="Poppins" pitchFamily="34" charset="-122"/>
                <a:cs typeface="Poppins" pitchFamily="34" charset="-120"/>
              </a:rPr>
              <a:t>4.9%</a:t>
            </a:r>
            <a:endParaRPr lang="en-US" sz="2700" dirty="0"/>
          </a:p>
        </p:txBody>
      </p:sp>
      <p:sp>
        <p:nvSpPr>
          <p:cNvPr id="23" name="Text 20"/>
          <p:cNvSpPr txBox="1"/>
          <p:nvPr/>
        </p:nvSpPr>
        <p:spPr>
          <a:xfrm>
            <a:off x="3557016" y="4590288"/>
            <a:ext cx="248716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False alarms per recording</a:t>
            </a:r>
            <a:endParaRPr lang="en-US" sz="1000" dirty="0"/>
          </a:p>
        </p:txBody>
      </p:sp>
      <p:sp>
        <p:nvSpPr>
          <p:cNvPr id="24" name="Text 21"/>
          <p:cNvSpPr txBox="1"/>
          <p:nvPr/>
        </p:nvSpPr>
        <p:spPr>
          <a:xfrm>
            <a:off x="3557016" y="4809744"/>
            <a:ext cx="248716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95% CI  1.3 - 16.1</a:t>
            </a:r>
            <a:endParaRPr lang="en-US" sz="850" dirty="0"/>
          </a:p>
        </p:txBody>
      </p:sp>
      <p:sp>
        <p:nvSpPr>
          <p:cNvPr id="25" name="Shape 22"/>
          <p:cNvSpPr/>
          <p:nvPr/>
        </p:nvSpPr>
        <p:spPr>
          <a:xfrm>
            <a:off x="6355080" y="4041648"/>
            <a:ext cx="274320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6" name="Text 23"/>
          <p:cNvSpPr txBox="1"/>
          <p:nvPr/>
        </p:nvSpPr>
        <p:spPr>
          <a:xfrm>
            <a:off x="6483096" y="4114800"/>
            <a:ext cx="2487168" cy="475488"/>
          </a:xfrm>
          <a:prstGeom prst="rect">
            <a:avLst/>
          </a:prstGeom>
          <a:noFill/>
          <a:ln/>
        </p:spPr>
        <p:txBody>
          <a:bodyPr wrap="square" lIns="0" tIns="0" rIns="0" bIns="0" rtlCol="0" anchor="ctr"/>
          <a:lstStyle/>
          <a:p>
            <a:pPr indent="0" marL="0">
              <a:buNone/>
            </a:pPr>
            <a:r>
              <a:rPr lang="en-US" sz="2700" b="1" dirty="0">
                <a:solidFill>
                  <a:srgbClr val="543110"/>
                </a:solidFill>
                <a:latin typeface="Poppins" pitchFamily="34" charset="0"/>
                <a:ea typeface="Poppins" pitchFamily="34" charset="-122"/>
                <a:cs typeface="Poppins" pitchFamily="34" charset="-120"/>
              </a:rPr>
              <a:t>5.60 s</a:t>
            </a:r>
            <a:endParaRPr lang="en-US" sz="2700" dirty="0"/>
          </a:p>
        </p:txBody>
      </p:sp>
      <p:sp>
        <p:nvSpPr>
          <p:cNvPr id="27" name="Text 24"/>
          <p:cNvSpPr txBox="1"/>
          <p:nvPr/>
        </p:nvSpPr>
        <p:spPr>
          <a:xfrm>
            <a:off x="6483096" y="4590288"/>
            <a:ext cx="248716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Median time from pull to alarm</a:t>
            </a:r>
            <a:endParaRPr lang="en-US" sz="1000" dirty="0"/>
          </a:p>
        </p:txBody>
      </p:sp>
      <p:sp>
        <p:nvSpPr>
          <p:cNvPr id="28" name="Text 25"/>
          <p:cNvSpPr txBox="1"/>
          <p:nvPr/>
        </p:nvSpPr>
        <p:spPr>
          <a:xfrm>
            <a:off x="6483096" y="4809744"/>
            <a:ext cx="248716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Worst case 17.36 s</a:t>
            </a:r>
            <a:endParaRPr lang="en-US" sz="850" dirty="0"/>
          </a:p>
        </p:txBody>
      </p:sp>
      <p:sp>
        <p:nvSpPr>
          <p:cNvPr id="29" name="Shape 26"/>
          <p:cNvSpPr/>
          <p:nvPr/>
        </p:nvSpPr>
        <p:spPr>
          <a:xfrm>
            <a:off x="9281160" y="4041648"/>
            <a:ext cx="237744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30" name="Text 27"/>
          <p:cNvSpPr txBox="1"/>
          <p:nvPr/>
        </p:nvSpPr>
        <p:spPr>
          <a:xfrm>
            <a:off x="9409176" y="4114800"/>
            <a:ext cx="2121408" cy="475488"/>
          </a:xfrm>
          <a:prstGeom prst="rect">
            <a:avLst/>
          </a:prstGeom>
          <a:noFill/>
          <a:ln/>
        </p:spPr>
        <p:txBody>
          <a:bodyPr wrap="square" lIns="0" tIns="0" rIns="0" bIns="0" rtlCol="0" anchor="ctr"/>
          <a:lstStyle/>
          <a:p>
            <a:pPr indent="0" marL="0">
              <a:buNone/>
            </a:pPr>
            <a:r>
              <a:rPr lang="en-US" sz="2700" b="1" dirty="0">
                <a:solidFill>
                  <a:srgbClr val="5A7247"/>
                </a:solidFill>
                <a:latin typeface="Poppins" pitchFamily="34" charset="0"/>
                <a:ea typeface="Poppins" pitchFamily="34" charset="-122"/>
                <a:cs typeface="Poppins" pitchFamily="34" charset="-120"/>
              </a:rPr>
              <a:t>100%</a:t>
            </a:r>
            <a:endParaRPr lang="en-US" sz="2700" dirty="0"/>
          </a:p>
        </p:txBody>
      </p:sp>
      <p:sp>
        <p:nvSpPr>
          <p:cNvPr id="31" name="Text 28"/>
          <p:cNvSpPr txBox="1"/>
          <p:nvPr/>
        </p:nvSpPr>
        <p:spPr>
          <a:xfrm>
            <a:off x="9409176" y="4590288"/>
            <a:ext cx="212140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Episode sensitivity held</a:t>
            </a:r>
            <a:endParaRPr lang="en-US" sz="1000" dirty="0"/>
          </a:p>
        </p:txBody>
      </p:sp>
      <p:sp>
        <p:nvSpPr>
          <p:cNvPr id="32" name="Text 29"/>
          <p:cNvSpPr txBox="1"/>
          <p:nvPr/>
        </p:nvSpPr>
        <p:spPr>
          <a:xfrm>
            <a:off x="9409176" y="4809744"/>
            <a:ext cx="212140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95% CI  91.2 - 100.0</a:t>
            </a:r>
            <a:endParaRPr lang="en-US" sz="850" dirty="0"/>
          </a:p>
        </p:txBody>
      </p:sp>
      <p:sp>
        <p:nvSpPr>
          <p:cNvPr id="33" name="Shape 30"/>
          <p:cNvSpPr/>
          <p:nvPr/>
        </p:nvSpPr>
        <p:spPr>
          <a:xfrm>
            <a:off x="502920" y="5230368"/>
            <a:ext cx="11155680" cy="896112"/>
          </a:xfrm>
          <a:prstGeom prst="roundRect">
            <a:avLst>
              <a:gd name="adj" fmla="val 6122"/>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34" name="Text 31"/>
          <p:cNvSpPr txBox="1"/>
          <p:nvPr/>
        </p:nvSpPr>
        <p:spPr>
          <a:xfrm>
            <a:off x="685800" y="5321808"/>
            <a:ext cx="10972800" cy="237744"/>
          </a:xfrm>
          <a:prstGeom prst="rect">
            <a:avLst/>
          </a:prstGeom>
          <a:noFill/>
          <a:ln/>
        </p:spPr>
        <p:txBody>
          <a:bodyPr wrap="square" lIns="0" tIns="0" rIns="0" bIns="0" rtlCol="0" anchor="ctr"/>
          <a:lstStyle/>
          <a:p>
            <a:pPr indent="0" marL="0">
              <a:buNone/>
            </a:pPr>
            <a:r>
              <a:rPr lang="en-US" sz="1050" b="1" dirty="0">
                <a:solidFill>
                  <a:srgbClr val="543110"/>
                </a:solidFill>
                <a:latin typeface="Poppins" pitchFamily="34" charset="0"/>
                <a:ea typeface="Poppins" pitchFamily="34" charset="-122"/>
                <a:cs typeface="Poppins" pitchFamily="34" charset="-120"/>
              </a:rPr>
              <a:t>Is 7.8 alarms an hour acceptable?  We cannot claim it is, and we do not.</a:t>
            </a:r>
            <a:endParaRPr lang="en-US" sz="1050" dirty="0"/>
          </a:p>
        </p:txBody>
      </p:sp>
      <p:sp>
        <p:nvSpPr>
          <p:cNvPr id="35" name="Text 32"/>
          <p:cNvSpPr txBox="1"/>
          <p:nvPr/>
        </p:nvSpPr>
        <p:spPr>
          <a:xfrm>
            <a:off x="685800" y="5577840"/>
            <a:ext cx="10972800" cy="493776"/>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An intensive-care cohort reports about 5 alarms an hour, and no threshold defining a high rate. So this is roughly double an existing burden — not a figure under a published safe limit.</a:t>
            </a:r>
            <a:endParaRPr lang="en-US" sz="1050" dirty="0"/>
          </a:p>
        </p:txBody>
      </p:sp>
      <p:sp>
        <p:nvSpPr>
          <p:cNvPr id="36" name="Text 33"/>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Curve, burden and latency from the generated metrics file. Cohort: Sci Rep 2022, s41598-022-26261-4.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Proposed Method (7/7)</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Operator console: what a nurse sees</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13</a:t>
            </a:r>
            <a:endParaRPr lang="en-US" sz="1500" dirty="0"/>
          </a:p>
        </p:txBody>
      </p:sp>
      <p:sp>
        <p:nvSpPr>
          <p:cNvPr id="8" name="Shape 6"/>
          <p:cNvSpPr/>
          <p:nvPr/>
        </p:nvSpPr>
        <p:spPr>
          <a:xfrm>
            <a:off x="502920" y="1371600"/>
            <a:ext cx="7315200" cy="4160520"/>
          </a:xfrm>
          <a:prstGeom prst="roundRect">
            <a:avLst>
              <a:gd name="adj" fmla="val 1319"/>
            </a:avLst>
          </a:prstGeom>
          <a:solidFill>
            <a:srgbClr val="F4EAD2"/>
          </a:solidFill>
          <a:ln w="12700">
            <a:solidFill>
              <a:srgbClr val="8A6A4F"/>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777240" y="3108960"/>
            <a:ext cx="6766560" cy="274320"/>
          </a:xfrm>
          <a:prstGeom prst="rect">
            <a:avLst/>
          </a:prstGeom>
          <a:noFill/>
          <a:ln/>
        </p:spPr>
        <p:txBody>
          <a:bodyPr wrap="square" lIns="0" tIns="0" rIns="0" bIns="0" rtlCol="0" anchor="ctr"/>
          <a:lstStyle/>
          <a:p>
            <a:pPr algn="ctr" indent="0" marL="0">
              <a:buNone/>
            </a:pPr>
            <a:r>
              <a:rPr lang="en-US" sz="1100" b="1" spc="120" kern="0" dirty="0">
                <a:solidFill>
                  <a:srgbClr val="8A6A4F"/>
                </a:solidFill>
                <a:latin typeface="Poppins" pitchFamily="34" charset="0"/>
                <a:ea typeface="Poppins" pitchFamily="34" charset="-122"/>
                <a:cs typeface="Poppins" pitchFamily="34" charset="-120"/>
              </a:rPr>
              <a:t>SCREENSHOT TO BE INSERTED BEFORE 7 SEPTEMBER</a:t>
            </a:r>
            <a:endParaRPr lang="en-US" sz="1100" dirty="0"/>
          </a:p>
        </p:txBody>
      </p:sp>
      <p:sp>
        <p:nvSpPr>
          <p:cNvPr id="10" name="Text 8"/>
          <p:cNvSpPr txBox="1"/>
          <p:nvPr/>
        </p:nvSpPr>
        <p:spPr>
          <a:xfrm>
            <a:off x="777240" y="3438144"/>
            <a:ext cx="6766560" cy="640080"/>
          </a:xfrm>
          <a:prstGeom prst="rect">
            <a:avLst/>
          </a:prstGeom>
          <a:noFill/>
          <a:ln/>
        </p:spPr>
        <p:txBody>
          <a:bodyPr wrap="square" lIns="0" tIns="0" rIns="0" bIns="0" rtlCol="0" anchor="ctr"/>
          <a:lstStyle/>
          <a:p>
            <a:pPr algn="ctr" indent="0" marL="0">
              <a:lnSpc>
                <a:spcPct val="120000"/>
              </a:lnSpc>
              <a:buNone/>
            </a:pPr>
            <a:r>
              <a:rPr lang="en-US" sz="950" dirty="0">
                <a:solidFill>
                  <a:srgbClr val="7A5A3F"/>
                </a:solidFill>
                <a:latin typeface="Poppins" pitchFamily="34" charset="0"/>
                <a:ea typeface="Poppins" pitchFamily="34" charset="-122"/>
                <a:cs typeface="Poppins" pitchFamily="34" charset="-120"/>
              </a:rPr>
              <a:t>1600 × 900, light theme, English, replayed to a level-3 frame.</a:t>
            </a:r>
            <a:endParaRPr lang="en-US" sz="950" dirty="0"/>
          </a:p>
        </p:txBody>
      </p:sp>
      <p:sp>
        <p:nvSpPr>
          <p:cNvPr id="11" name="Shape 9"/>
          <p:cNvSpPr/>
          <p:nvPr/>
        </p:nvSpPr>
        <p:spPr>
          <a:xfrm>
            <a:off x="8001000" y="1444752"/>
            <a:ext cx="256032" cy="256032"/>
          </a:xfrm>
          <a:prstGeom prst="ellipse">
            <a:avLst/>
          </a:prstGeom>
          <a:solidFill>
            <a:srgbClr val="543110"/>
          </a:solidFill>
          <a:ln w="12700">
            <a:solidFill>
              <a:srgbClr val="333333"/>
            </a:solidFill>
            <a:prstDash val="solid"/>
          </a:ln>
        </p:spPr>
      </p:sp>
      <p:sp>
        <p:nvSpPr>
          <p:cNvPr id="12" name="Text 10"/>
          <p:cNvSpPr txBox="1"/>
          <p:nvPr/>
        </p:nvSpPr>
        <p:spPr>
          <a:xfrm>
            <a:off x="8001000" y="1444752"/>
            <a:ext cx="256032" cy="256032"/>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1</a:t>
            </a:r>
            <a:endParaRPr lang="en-US" sz="900" dirty="0"/>
          </a:p>
        </p:txBody>
      </p:sp>
      <p:sp>
        <p:nvSpPr>
          <p:cNvPr id="13" name="Text 11"/>
          <p:cNvSpPr txBox="1"/>
          <p:nvPr/>
        </p:nvSpPr>
        <p:spPr>
          <a:xfrm>
            <a:off x="8357616" y="1426464"/>
            <a:ext cx="3291840" cy="237744"/>
          </a:xfrm>
          <a:prstGeom prst="rect">
            <a:avLst/>
          </a:prstGeom>
          <a:noFill/>
          <a:ln/>
        </p:spPr>
        <p:txBody>
          <a:bodyPr wrap="square" lIns="0" tIns="0" rIns="0" bIns="0" rtlCol="0" anchor="ctr"/>
          <a:lstStyle/>
          <a:p>
            <a:pPr indent="0" marL="0">
              <a:buNone/>
            </a:pPr>
            <a:r>
              <a:rPr lang="en-US" sz="1050" b="1" dirty="0">
                <a:solidFill>
                  <a:srgbClr val="3D1700"/>
                </a:solidFill>
                <a:latin typeface="Poppins" pitchFamily="34" charset="0"/>
                <a:ea typeface="Poppins" pitchFamily="34" charset="-122"/>
                <a:cs typeface="Poppins" pitchFamily="34" charset="-120"/>
              </a:rPr>
              <a:t>Capacitive map</a:t>
            </a:r>
            <a:endParaRPr lang="en-US" sz="1050" dirty="0"/>
          </a:p>
        </p:txBody>
      </p:sp>
      <p:sp>
        <p:nvSpPr>
          <p:cNvPr id="14" name="Text 12"/>
          <p:cNvSpPr txBox="1"/>
          <p:nvPr/>
        </p:nvSpPr>
        <p:spPr>
          <a:xfrm>
            <a:off x="8357616" y="1664208"/>
            <a:ext cx="3291840" cy="512064"/>
          </a:xfrm>
          <a:prstGeom prst="rect">
            <a:avLst/>
          </a:prstGeom>
          <a:noFill/>
          <a:ln/>
        </p:spPr>
        <p:txBody>
          <a:bodyPr wrap="square" lIns="0" tIns="0" rIns="0" bIns="0" rtlCol="0" anchor="ctr"/>
          <a:lstStyle/>
          <a:p>
            <a:pPr indent="0" marL="0">
              <a:lnSpc>
                <a:spcPct val="112000"/>
              </a:lnSpc>
              <a:buNone/>
            </a:pPr>
            <a:r>
              <a:rPr lang="en-US" sz="850" dirty="0">
                <a:solidFill>
                  <a:srgbClr val="543110"/>
                </a:solidFill>
                <a:latin typeface="Poppins" pitchFamily="34" charset="0"/>
                <a:ea typeface="Poppins" pitchFamily="34" charset="-122"/>
                <a:cs typeface="Poppins" pitchFamily="34" charset="-120"/>
              </a:rPr>
              <a:t>Blue where the dressing lifts, red where it is loaded.</a:t>
            </a:r>
            <a:endParaRPr lang="en-US" sz="850" dirty="0"/>
          </a:p>
        </p:txBody>
      </p:sp>
      <p:sp>
        <p:nvSpPr>
          <p:cNvPr id="15" name="Shape 13"/>
          <p:cNvSpPr/>
          <p:nvPr/>
        </p:nvSpPr>
        <p:spPr>
          <a:xfrm>
            <a:off x="8001000" y="2286000"/>
            <a:ext cx="256032" cy="256032"/>
          </a:xfrm>
          <a:prstGeom prst="ellipse">
            <a:avLst/>
          </a:prstGeom>
          <a:solidFill>
            <a:srgbClr val="543110"/>
          </a:solidFill>
          <a:ln w="12700">
            <a:solidFill>
              <a:srgbClr val="333333"/>
            </a:solidFill>
            <a:prstDash val="solid"/>
          </a:ln>
        </p:spPr>
      </p:sp>
      <p:sp>
        <p:nvSpPr>
          <p:cNvPr id="16" name="Text 14"/>
          <p:cNvSpPr txBox="1"/>
          <p:nvPr/>
        </p:nvSpPr>
        <p:spPr>
          <a:xfrm>
            <a:off x="8001000" y="2286000"/>
            <a:ext cx="256032" cy="256032"/>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2</a:t>
            </a:r>
            <a:endParaRPr lang="en-US" sz="900" dirty="0"/>
          </a:p>
        </p:txBody>
      </p:sp>
      <p:sp>
        <p:nvSpPr>
          <p:cNvPr id="17" name="Text 15"/>
          <p:cNvSpPr txBox="1"/>
          <p:nvPr/>
        </p:nvSpPr>
        <p:spPr>
          <a:xfrm>
            <a:off x="8357616" y="2267712"/>
            <a:ext cx="3291840" cy="237744"/>
          </a:xfrm>
          <a:prstGeom prst="rect">
            <a:avLst/>
          </a:prstGeom>
          <a:noFill/>
          <a:ln/>
        </p:spPr>
        <p:txBody>
          <a:bodyPr wrap="square" lIns="0" tIns="0" rIns="0" bIns="0" rtlCol="0" anchor="ctr"/>
          <a:lstStyle/>
          <a:p>
            <a:pPr indent="0" marL="0">
              <a:buNone/>
            </a:pPr>
            <a:r>
              <a:rPr lang="en-US" sz="1050" b="1" dirty="0">
                <a:solidFill>
                  <a:srgbClr val="3D1700"/>
                </a:solidFill>
                <a:latin typeface="Poppins" pitchFamily="34" charset="0"/>
                <a:ea typeface="Poppins" pitchFamily="34" charset="-122"/>
                <a:cs typeface="Poppins" pitchFamily="34" charset="-120"/>
              </a:rPr>
              <a:t>Cumulative risk dial</a:t>
            </a:r>
            <a:endParaRPr lang="en-US" sz="1050" dirty="0"/>
          </a:p>
        </p:txBody>
      </p:sp>
      <p:sp>
        <p:nvSpPr>
          <p:cNvPr id="18" name="Text 16"/>
          <p:cNvSpPr txBox="1"/>
          <p:nvPr/>
        </p:nvSpPr>
        <p:spPr>
          <a:xfrm>
            <a:off x="8357616" y="2505456"/>
            <a:ext cx="3291840" cy="512064"/>
          </a:xfrm>
          <a:prstGeom prst="rect">
            <a:avLst/>
          </a:prstGeom>
          <a:noFill/>
          <a:ln/>
        </p:spPr>
        <p:txBody>
          <a:bodyPr wrap="square" lIns="0" tIns="0" rIns="0" bIns="0" rtlCol="0" anchor="ctr"/>
          <a:lstStyle/>
          <a:p>
            <a:pPr indent="0" marL="0">
              <a:lnSpc>
                <a:spcPct val="112000"/>
              </a:lnSpc>
              <a:buNone/>
            </a:pPr>
            <a:r>
              <a:rPr lang="en-US" sz="850" dirty="0">
                <a:solidFill>
                  <a:srgbClr val="543110"/>
                </a:solidFill>
                <a:latin typeface="Poppins" pitchFamily="34" charset="0"/>
                <a:ea typeface="Poppins" pitchFamily="34" charset="-122"/>
                <a:cs typeface="Poppins" pitchFamily="34" charset="-120"/>
              </a:rPr>
              <a:t>A running index, so a slow pull shows before any single frame does.</a:t>
            </a:r>
            <a:endParaRPr lang="en-US" sz="850" dirty="0"/>
          </a:p>
        </p:txBody>
      </p:sp>
      <p:sp>
        <p:nvSpPr>
          <p:cNvPr id="19" name="Shape 17"/>
          <p:cNvSpPr/>
          <p:nvPr/>
        </p:nvSpPr>
        <p:spPr>
          <a:xfrm>
            <a:off x="8001000" y="3127248"/>
            <a:ext cx="256032" cy="256032"/>
          </a:xfrm>
          <a:prstGeom prst="ellipse">
            <a:avLst/>
          </a:prstGeom>
          <a:solidFill>
            <a:srgbClr val="543110"/>
          </a:solidFill>
          <a:ln w="12700">
            <a:solidFill>
              <a:srgbClr val="333333"/>
            </a:solidFill>
            <a:prstDash val="solid"/>
          </a:ln>
        </p:spPr>
      </p:sp>
      <p:sp>
        <p:nvSpPr>
          <p:cNvPr id="20" name="Text 18"/>
          <p:cNvSpPr txBox="1"/>
          <p:nvPr/>
        </p:nvSpPr>
        <p:spPr>
          <a:xfrm>
            <a:off x="8001000" y="3127248"/>
            <a:ext cx="256032" cy="256032"/>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3</a:t>
            </a:r>
            <a:endParaRPr lang="en-US" sz="900" dirty="0"/>
          </a:p>
        </p:txBody>
      </p:sp>
      <p:sp>
        <p:nvSpPr>
          <p:cNvPr id="21" name="Text 19"/>
          <p:cNvSpPr txBox="1"/>
          <p:nvPr/>
        </p:nvSpPr>
        <p:spPr>
          <a:xfrm>
            <a:off x="8357616" y="3108960"/>
            <a:ext cx="3291840" cy="237744"/>
          </a:xfrm>
          <a:prstGeom prst="rect">
            <a:avLst/>
          </a:prstGeom>
          <a:noFill/>
          <a:ln/>
        </p:spPr>
        <p:txBody>
          <a:bodyPr wrap="square" lIns="0" tIns="0" rIns="0" bIns="0" rtlCol="0" anchor="ctr"/>
          <a:lstStyle/>
          <a:p>
            <a:pPr indent="0" marL="0">
              <a:buNone/>
            </a:pPr>
            <a:r>
              <a:rPr lang="en-US" sz="1050" b="1" dirty="0">
                <a:solidFill>
                  <a:srgbClr val="3D1700"/>
                </a:solidFill>
                <a:latin typeface="Poppins" pitchFamily="34" charset="0"/>
                <a:ea typeface="Poppins" pitchFamily="34" charset="-122"/>
                <a:cs typeface="Poppins" pitchFamily="34" charset="-120"/>
              </a:rPr>
              <a:t>Channel strip chart</a:t>
            </a:r>
            <a:endParaRPr lang="en-US" sz="1050" dirty="0"/>
          </a:p>
        </p:txBody>
      </p:sp>
      <p:sp>
        <p:nvSpPr>
          <p:cNvPr id="22" name="Text 20"/>
          <p:cNvSpPr txBox="1"/>
          <p:nvPr/>
        </p:nvSpPr>
        <p:spPr>
          <a:xfrm>
            <a:off x="8357616" y="3346704"/>
            <a:ext cx="3291840" cy="512064"/>
          </a:xfrm>
          <a:prstGeom prst="rect">
            <a:avLst/>
          </a:prstGeom>
          <a:noFill/>
          <a:ln/>
        </p:spPr>
        <p:txBody>
          <a:bodyPr wrap="square" lIns="0" tIns="0" rIns="0" bIns="0" rtlCol="0" anchor="ctr"/>
          <a:lstStyle/>
          <a:p>
            <a:pPr indent="0" marL="0">
              <a:lnSpc>
                <a:spcPct val="112000"/>
              </a:lnSpc>
              <a:buNone/>
            </a:pPr>
            <a:r>
              <a:rPr lang="en-US" sz="850" dirty="0">
                <a:solidFill>
                  <a:srgbClr val="543110"/>
                </a:solidFill>
                <a:latin typeface="Poppins" pitchFamily="34" charset="0"/>
                <a:ea typeface="Poppins" pitchFamily="34" charset="-122"/>
                <a:cs typeface="Poppins" pitchFamily="34" charset="-120"/>
              </a:rPr>
              <a:t>All 25 channels, for tracing an alarm back to its pads.</a:t>
            </a:r>
            <a:endParaRPr lang="en-US" sz="850" dirty="0"/>
          </a:p>
        </p:txBody>
      </p:sp>
      <p:sp>
        <p:nvSpPr>
          <p:cNvPr id="23" name="Shape 21"/>
          <p:cNvSpPr/>
          <p:nvPr/>
        </p:nvSpPr>
        <p:spPr>
          <a:xfrm>
            <a:off x="8001000" y="3968496"/>
            <a:ext cx="256032" cy="256032"/>
          </a:xfrm>
          <a:prstGeom prst="ellipse">
            <a:avLst/>
          </a:prstGeom>
          <a:solidFill>
            <a:srgbClr val="543110"/>
          </a:solidFill>
          <a:ln w="12700">
            <a:solidFill>
              <a:srgbClr val="333333"/>
            </a:solidFill>
            <a:prstDash val="solid"/>
          </a:ln>
        </p:spPr>
      </p:sp>
      <p:sp>
        <p:nvSpPr>
          <p:cNvPr id="24" name="Text 22"/>
          <p:cNvSpPr txBox="1"/>
          <p:nvPr/>
        </p:nvSpPr>
        <p:spPr>
          <a:xfrm>
            <a:off x="8001000" y="3968496"/>
            <a:ext cx="256032" cy="256032"/>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4</a:t>
            </a:r>
            <a:endParaRPr lang="en-US" sz="900" dirty="0"/>
          </a:p>
        </p:txBody>
      </p:sp>
      <p:sp>
        <p:nvSpPr>
          <p:cNvPr id="25" name="Text 23"/>
          <p:cNvSpPr txBox="1"/>
          <p:nvPr/>
        </p:nvSpPr>
        <p:spPr>
          <a:xfrm>
            <a:off x="8357616" y="3950208"/>
            <a:ext cx="3291840" cy="237744"/>
          </a:xfrm>
          <a:prstGeom prst="rect">
            <a:avLst/>
          </a:prstGeom>
          <a:noFill/>
          <a:ln/>
        </p:spPr>
        <p:txBody>
          <a:bodyPr wrap="square" lIns="0" tIns="0" rIns="0" bIns="0" rtlCol="0" anchor="ctr"/>
          <a:lstStyle/>
          <a:p>
            <a:pPr indent="0" marL="0">
              <a:buNone/>
            </a:pPr>
            <a:r>
              <a:rPr lang="en-US" sz="1050" b="1" dirty="0">
                <a:solidFill>
                  <a:srgbClr val="3D1700"/>
                </a:solidFill>
                <a:latin typeface="Poppins" pitchFamily="34" charset="0"/>
                <a:ea typeface="Poppins" pitchFamily="34" charset="-122"/>
                <a:cs typeface="Poppins" pitchFamily="34" charset="-120"/>
              </a:rPr>
              <a:t>Severity banner</a:t>
            </a:r>
            <a:endParaRPr lang="en-US" sz="1050" dirty="0"/>
          </a:p>
        </p:txBody>
      </p:sp>
      <p:sp>
        <p:nvSpPr>
          <p:cNvPr id="26" name="Text 24"/>
          <p:cNvSpPr txBox="1"/>
          <p:nvPr/>
        </p:nvSpPr>
        <p:spPr>
          <a:xfrm>
            <a:off x="8357616" y="4187952"/>
            <a:ext cx="3291840" cy="512064"/>
          </a:xfrm>
          <a:prstGeom prst="rect">
            <a:avLst/>
          </a:prstGeom>
          <a:noFill/>
          <a:ln/>
        </p:spPr>
        <p:txBody>
          <a:bodyPr wrap="square" lIns="0" tIns="0" rIns="0" bIns="0" rtlCol="0" anchor="ctr"/>
          <a:lstStyle/>
          <a:p>
            <a:pPr indent="0" marL="0">
              <a:lnSpc>
                <a:spcPct val="112000"/>
              </a:lnSpc>
              <a:buNone/>
            </a:pPr>
            <a:r>
              <a:rPr lang="en-US" sz="850" dirty="0">
                <a:solidFill>
                  <a:srgbClr val="543110"/>
                </a:solidFill>
                <a:latin typeface="Poppins" pitchFamily="34" charset="0"/>
                <a:ea typeface="Poppins" pitchFamily="34" charset="-122"/>
                <a:cs typeface="Poppins" pitchFamily="34" charset="-120"/>
              </a:rPr>
              <a:t>Four states, with colour and a frequency-scaled tone.</a:t>
            </a:r>
            <a:endParaRPr lang="en-US" sz="850" dirty="0"/>
          </a:p>
        </p:txBody>
      </p:sp>
      <p:sp>
        <p:nvSpPr>
          <p:cNvPr id="27" name="Shape 25"/>
          <p:cNvSpPr/>
          <p:nvPr/>
        </p:nvSpPr>
        <p:spPr>
          <a:xfrm>
            <a:off x="8001000" y="4809744"/>
            <a:ext cx="256032" cy="256032"/>
          </a:xfrm>
          <a:prstGeom prst="ellipse">
            <a:avLst/>
          </a:prstGeom>
          <a:solidFill>
            <a:srgbClr val="543110"/>
          </a:solidFill>
          <a:ln w="12700">
            <a:solidFill>
              <a:srgbClr val="333333"/>
            </a:solidFill>
            <a:prstDash val="solid"/>
          </a:ln>
        </p:spPr>
      </p:sp>
      <p:sp>
        <p:nvSpPr>
          <p:cNvPr id="28" name="Text 26"/>
          <p:cNvSpPr txBox="1"/>
          <p:nvPr/>
        </p:nvSpPr>
        <p:spPr>
          <a:xfrm>
            <a:off x="8001000" y="4809744"/>
            <a:ext cx="256032" cy="256032"/>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5</a:t>
            </a:r>
            <a:endParaRPr lang="en-US" sz="900" dirty="0"/>
          </a:p>
        </p:txBody>
      </p:sp>
      <p:sp>
        <p:nvSpPr>
          <p:cNvPr id="29" name="Text 27"/>
          <p:cNvSpPr txBox="1"/>
          <p:nvPr/>
        </p:nvSpPr>
        <p:spPr>
          <a:xfrm>
            <a:off x="8357616" y="4791456"/>
            <a:ext cx="3291840" cy="237744"/>
          </a:xfrm>
          <a:prstGeom prst="rect">
            <a:avLst/>
          </a:prstGeom>
          <a:noFill/>
          <a:ln/>
        </p:spPr>
        <p:txBody>
          <a:bodyPr wrap="square" lIns="0" tIns="0" rIns="0" bIns="0" rtlCol="0" anchor="ctr"/>
          <a:lstStyle/>
          <a:p>
            <a:pPr indent="0" marL="0">
              <a:buNone/>
            </a:pPr>
            <a:r>
              <a:rPr lang="en-US" sz="1050" b="1" dirty="0">
                <a:solidFill>
                  <a:srgbClr val="3D1700"/>
                </a:solidFill>
                <a:latin typeface="Poppins" pitchFamily="34" charset="0"/>
                <a:ea typeface="Poppins" pitchFamily="34" charset="-122"/>
                <a:cs typeface="Poppins" pitchFamily="34" charset="-120"/>
              </a:rPr>
              <a:t>Ward slots</a:t>
            </a:r>
            <a:endParaRPr lang="en-US" sz="1050" dirty="0"/>
          </a:p>
        </p:txBody>
      </p:sp>
      <p:sp>
        <p:nvSpPr>
          <p:cNvPr id="30" name="Text 28"/>
          <p:cNvSpPr txBox="1"/>
          <p:nvPr/>
        </p:nvSpPr>
        <p:spPr>
          <a:xfrm>
            <a:off x="8357616" y="5029200"/>
            <a:ext cx="3291840" cy="512064"/>
          </a:xfrm>
          <a:prstGeom prst="rect">
            <a:avLst/>
          </a:prstGeom>
          <a:noFill/>
          <a:ln/>
        </p:spPr>
        <p:txBody>
          <a:bodyPr wrap="square" lIns="0" tIns="0" rIns="0" bIns="0" rtlCol="0" anchor="ctr"/>
          <a:lstStyle/>
          <a:p>
            <a:pPr indent="0" marL="0">
              <a:lnSpc>
                <a:spcPct val="112000"/>
              </a:lnSpc>
              <a:buNone/>
            </a:pPr>
            <a:r>
              <a:rPr lang="en-US" sz="850" dirty="0">
                <a:solidFill>
                  <a:srgbClr val="543110"/>
                </a:solidFill>
                <a:latin typeface="Poppins" pitchFamily="34" charset="0"/>
                <a:ea typeface="Poppins" pitchFamily="34" charset="-122"/>
                <a:cs typeface="Poppins" pitchFamily="34" charset="-120"/>
              </a:rPr>
              <a:t>Empty until an operator assigns a bed. No fabricated identity.</a:t>
            </a:r>
            <a:endParaRPr lang="en-US" sz="850" dirty="0"/>
          </a:p>
        </p:txBody>
      </p:sp>
      <p:sp>
        <p:nvSpPr>
          <p:cNvPr id="31" name="Shape 29"/>
          <p:cNvSpPr/>
          <p:nvPr/>
        </p:nvSpPr>
        <p:spPr>
          <a:xfrm>
            <a:off x="502920" y="5614416"/>
            <a:ext cx="2340864" cy="804672"/>
          </a:xfrm>
          <a:prstGeom prst="roundRect">
            <a:avLst>
              <a:gd name="adj" fmla="val 6818"/>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32" name="Text 30"/>
          <p:cNvSpPr txBox="1"/>
          <p:nvPr/>
        </p:nvSpPr>
        <p:spPr>
          <a:xfrm>
            <a:off x="630936" y="5669280"/>
            <a:ext cx="2084832" cy="201168"/>
          </a:xfrm>
          <a:prstGeom prst="rect">
            <a:avLst/>
          </a:prstGeom>
          <a:noFill/>
          <a:ln/>
        </p:spPr>
        <p:txBody>
          <a:bodyPr wrap="square" lIns="0" tIns="0" rIns="0" bIns="0" rtlCol="0" anchor="ctr"/>
          <a:lstStyle/>
          <a:p>
            <a:pPr indent="0" marL="0">
              <a:buNone/>
            </a:pPr>
            <a:r>
              <a:rPr lang="en-US" sz="950" b="1" dirty="0">
                <a:solidFill>
                  <a:srgbClr val="543110"/>
                </a:solidFill>
                <a:latin typeface="Poppins" pitchFamily="34" charset="0"/>
                <a:ea typeface="Poppins" pitchFamily="34" charset="-122"/>
                <a:cs typeface="Poppins" pitchFamily="34" charset="-120"/>
              </a:rPr>
              <a:t>Zero install</a:t>
            </a:r>
            <a:endParaRPr lang="en-US" sz="950" dirty="0"/>
          </a:p>
        </p:txBody>
      </p:sp>
      <p:sp>
        <p:nvSpPr>
          <p:cNvPr id="33" name="Text 31"/>
          <p:cNvSpPr txBox="1"/>
          <p:nvPr/>
        </p:nvSpPr>
        <p:spPr>
          <a:xfrm>
            <a:off x="630936" y="5870448"/>
            <a:ext cx="2084832" cy="365760"/>
          </a:xfrm>
          <a:prstGeom prst="rect">
            <a:avLst/>
          </a:prstGeom>
          <a:noFill/>
          <a:ln/>
        </p:spPr>
        <p:txBody>
          <a:bodyPr wrap="square" lIns="0" tIns="0" rIns="0" bIns="0" rtlCol="0" anchor="ctr"/>
          <a:lstStyle/>
          <a:p>
            <a:pPr indent="0" marL="0">
              <a:lnSpc>
                <a:spcPct val="110000"/>
              </a:lnSpc>
              <a:buNone/>
            </a:pPr>
            <a:r>
              <a:rPr lang="en-US" sz="800" dirty="0">
                <a:solidFill>
                  <a:srgbClr val="543110"/>
                </a:solidFill>
                <a:latin typeface="Poppins" pitchFamily="34" charset="0"/>
                <a:ea typeface="Poppins" pitchFamily="34" charset="-122"/>
                <a:cs typeface="Poppins" pitchFamily="34" charset="-120"/>
              </a:rPr>
              <a:t>Standard browser, hospital tablet or workstation.</a:t>
            </a:r>
            <a:endParaRPr lang="en-US" sz="800" dirty="0"/>
          </a:p>
        </p:txBody>
      </p:sp>
      <p:sp>
        <p:nvSpPr>
          <p:cNvPr id="34" name="Shape 32"/>
          <p:cNvSpPr/>
          <p:nvPr/>
        </p:nvSpPr>
        <p:spPr>
          <a:xfrm>
            <a:off x="2990088" y="5614416"/>
            <a:ext cx="2340864" cy="804672"/>
          </a:xfrm>
          <a:prstGeom prst="roundRect">
            <a:avLst>
              <a:gd name="adj" fmla="val 6818"/>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35" name="Text 33"/>
          <p:cNvSpPr txBox="1"/>
          <p:nvPr/>
        </p:nvSpPr>
        <p:spPr>
          <a:xfrm>
            <a:off x="3118104" y="5669280"/>
            <a:ext cx="2084832" cy="201168"/>
          </a:xfrm>
          <a:prstGeom prst="rect">
            <a:avLst/>
          </a:prstGeom>
          <a:noFill/>
          <a:ln/>
        </p:spPr>
        <p:txBody>
          <a:bodyPr wrap="square" lIns="0" tIns="0" rIns="0" bIns="0" rtlCol="0" anchor="ctr"/>
          <a:lstStyle/>
          <a:p>
            <a:pPr indent="0" marL="0">
              <a:buNone/>
            </a:pPr>
            <a:r>
              <a:rPr lang="en-US" sz="950" b="1" dirty="0">
                <a:solidFill>
                  <a:srgbClr val="543110"/>
                </a:solidFill>
                <a:latin typeface="Poppins" pitchFamily="34" charset="0"/>
                <a:ea typeface="Poppins" pitchFamily="34" charset="-122"/>
                <a:cs typeface="Poppins" pitchFamily="34" charset="-120"/>
              </a:rPr>
              <a:t>No classification in the interface</a:t>
            </a:r>
            <a:endParaRPr lang="en-US" sz="950" dirty="0"/>
          </a:p>
        </p:txBody>
      </p:sp>
      <p:sp>
        <p:nvSpPr>
          <p:cNvPr id="36" name="Text 34"/>
          <p:cNvSpPr txBox="1"/>
          <p:nvPr/>
        </p:nvSpPr>
        <p:spPr>
          <a:xfrm>
            <a:off x="3118104" y="5870448"/>
            <a:ext cx="2084832" cy="365760"/>
          </a:xfrm>
          <a:prstGeom prst="rect">
            <a:avLst/>
          </a:prstGeom>
          <a:noFill/>
          <a:ln/>
        </p:spPr>
        <p:txBody>
          <a:bodyPr wrap="square" lIns="0" tIns="0" rIns="0" bIns="0" rtlCol="0" anchor="ctr"/>
          <a:lstStyle/>
          <a:p>
            <a:pPr indent="0" marL="0">
              <a:lnSpc>
                <a:spcPct val="110000"/>
              </a:lnSpc>
              <a:buNone/>
            </a:pPr>
            <a:r>
              <a:rPr lang="en-US" sz="800" dirty="0">
                <a:solidFill>
                  <a:srgbClr val="543110"/>
                </a:solidFill>
                <a:latin typeface="Poppins" pitchFamily="34" charset="0"/>
                <a:ea typeface="Poppins" pitchFamily="34" charset="-122"/>
                <a:cs typeface="Poppins" pitchFamily="34" charset="-120"/>
              </a:rPr>
              <a:t>It renders what the server concluded, and never decides.</a:t>
            </a:r>
            <a:endParaRPr lang="en-US" sz="800" dirty="0"/>
          </a:p>
        </p:txBody>
      </p:sp>
      <p:sp>
        <p:nvSpPr>
          <p:cNvPr id="37" name="Shape 35"/>
          <p:cNvSpPr/>
          <p:nvPr/>
        </p:nvSpPr>
        <p:spPr>
          <a:xfrm>
            <a:off x="5477256" y="5614416"/>
            <a:ext cx="2340864" cy="804672"/>
          </a:xfrm>
          <a:prstGeom prst="roundRect">
            <a:avLst>
              <a:gd name="adj" fmla="val 6818"/>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38" name="Text 36"/>
          <p:cNvSpPr txBox="1"/>
          <p:nvPr/>
        </p:nvSpPr>
        <p:spPr>
          <a:xfrm>
            <a:off x="5605272" y="5669280"/>
            <a:ext cx="2084832" cy="201168"/>
          </a:xfrm>
          <a:prstGeom prst="rect">
            <a:avLst/>
          </a:prstGeom>
          <a:noFill/>
          <a:ln/>
        </p:spPr>
        <p:txBody>
          <a:bodyPr wrap="square" lIns="0" tIns="0" rIns="0" bIns="0" rtlCol="0" anchor="ctr"/>
          <a:lstStyle/>
          <a:p>
            <a:pPr indent="0" marL="0">
              <a:buNone/>
            </a:pPr>
            <a:r>
              <a:rPr lang="en-US" sz="950" b="1" dirty="0">
                <a:solidFill>
                  <a:srgbClr val="543110"/>
                </a:solidFill>
                <a:latin typeface="Poppins" pitchFamily="34" charset="0"/>
                <a:ea typeface="Poppins" pitchFamily="34" charset="-122"/>
                <a:cs typeface="Poppins" pitchFamily="34" charset="-120"/>
              </a:rPr>
              <a:t>Three languages</a:t>
            </a:r>
            <a:endParaRPr lang="en-US" sz="950" dirty="0"/>
          </a:p>
        </p:txBody>
      </p:sp>
      <p:sp>
        <p:nvSpPr>
          <p:cNvPr id="39" name="Text 37"/>
          <p:cNvSpPr txBox="1"/>
          <p:nvPr/>
        </p:nvSpPr>
        <p:spPr>
          <a:xfrm>
            <a:off x="5605272" y="5870448"/>
            <a:ext cx="2084832" cy="365760"/>
          </a:xfrm>
          <a:prstGeom prst="rect">
            <a:avLst/>
          </a:prstGeom>
          <a:noFill/>
          <a:ln/>
        </p:spPr>
        <p:txBody>
          <a:bodyPr wrap="square" lIns="0" tIns="0" rIns="0" bIns="0" rtlCol="0" anchor="ctr"/>
          <a:lstStyle/>
          <a:p>
            <a:pPr indent="0" marL="0">
              <a:lnSpc>
                <a:spcPct val="110000"/>
              </a:lnSpc>
              <a:buNone/>
            </a:pPr>
            <a:r>
              <a:rPr lang="en-US" sz="800" dirty="0">
                <a:solidFill>
                  <a:srgbClr val="543110"/>
                </a:solidFill>
                <a:latin typeface="Poppins" pitchFamily="34" charset="0"/>
                <a:ea typeface="Poppins" pitchFamily="34" charset="-122"/>
                <a:cs typeface="Poppins" pitchFamily="34" charset="-120"/>
              </a:rPr>
              <a:t>Thai, English and Japanese, switchable mid-alarm.</a:t>
            </a:r>
            <a:endParaRPr lang="en-US" sz="800" dirty="0"/>
          </a:p>
        </p:txBody>
      </p:sp>
      <p:sp>
        <p:nvSpPr>
          <p:cNvPr id="40" name="Shape 38"/>
          <p:cNvSpPr/>
          <p:nvPr/>
        </p:nvSpPr>
        <p:spPr>
          <a:xfrm>
            <a:off x="8001000" y="5614416"/>
            <a:ext cx="3657600" cy="804672"/>
          </a:xfrm>
          <a:prstGeom prst="roundRect">
            <a:avLst>
              <a:gd name="adj" fmla="val 6818"/>
            </a:avLst>
          </a:prstGeom>
          <a:solidFill>
            <a:srgbClr val="F6E4DC"/>
          </a:solidFill>
          <a:ln w="12700">
            <a:solidFill>
              <a:srgbClr val="A3301F"/>
            </a:solidFill>
            <a:prstDash val="solid"/>
          </a:ln>
          <a:effectLst>
            <a:outerShdw sx="100000" sy="100000" kx="0" ky="0" algn="bl" rotWithShape="0" blurRad="127000" dist="25400" dir="5400000">
              <a:srgbClr val="3D1700">
                <a:alpha val="13000"/>
              </a:srgbClr>
            </a:outerShdw>
          </a:effectLst>
        </p:spPr>
      </p:sp>
      <p:sp>
        <p:nvSpPr>
          <p:cNvPr id="41" name="Text 39"/>
          <p:cNvSpPr txBox="1"/>
          <p:nvPr/>
        </p:nvSpPr>
        <p:spPr>
          <a:xfrm>
            <a:off x="8138160" y="5669280"/>
            <a:ext cx="3520440" cy="694944"/>
          </a:xfrm>
          <a:prstGeom prst="rect">
            <a:avLst/>
          </a:prstGeom>
          <a:noFill/>
          <a:ln/>
        </p:spPr>
        <p:txBody>
          <a:bodyPr wrap="square" lIns="0" tIns="0" rIns="0" bIns="0" rtlCol="0" anchor="ctr"/>
          <a:lstStyle/>
          <a:p>
            <a:pPr indent="0" marL="0">
              <a:lnSpc>
                <a:spcPct val="114000"/>
              </a:lnSpc>
              <a:buNone/>
            </a:pPr>
            <a:r>
              <a:rPr lang="en-US" sz="850" b="1" dirty="0">
                <a:solidFill>
                  <a:srgbClr val="6B2015"/>
                </a:solidFill>
                <a:latin typeface="Poppins" pitchFamily="34" charset="0"/>
                <a:ea typeface="Poppins" pitchFamily="34" charset="-122"/>
                <a:cs typeface="Poppins" pitchFamily="34" charset="-120"/>
              </a:rPr>
              <a:t>Research prototype. Not assessed against IEC 62304. Not a certified medical device.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Experimental Method</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Bench, fixation and synchronised capture</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14</a:t>
            </a:r>
            <a:endParaRPr lang="en-US" sz="1500" dirty="0"/>
          </a:p>
        </p:txBody>
      </p:sp>
      <p:sp>
        <p:nvSpPr>
          <p:cNvPr id="8" name="Shape 6"/>
          <p:cNvSpPr/>
          <p:nvPr/>
        </p:nvSpPr>
        <p:spPr>
          <a:xfrm>
            <a:off x="502920" y="1371600"/>
            <a:ext cx="5623560" cy="2834640"/>
          </a:xfrm>
          <a:prstGeom prst="roundRect">
            <a:avLst>
              <a:gd name="adj" fmla="val 1935"/>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685800" y="1481328"/>
            <a:ext cx="525780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Fixation and pull mechanics</a:t>
            </a:r>
            <a:endParaRPr lang="en-US" sz="1100" dirty="0"/>
          </a:p>
        </p:txBody>
      </p:sp>
      <p:pic>
        <p:nvPicPr>
          <p:cNvPr id="10" name="Image 0" descr="/home/claude/deck/img/fixation.jpg">    </p:cNvPr>
          <p:cNvPicPr>
            <a:picLocks noChangeAspect="1"/>
          </p:cNvPicPr>
          <p:nvPr/>
        </p:nvPicPr>
        <p:blipFill>
          <a:blip r:embed="rId2"/>
          <a:stretch>
            <a:fillRect/>
          </a:stretch>
        </p:blipFill>
        <p:spPr>
          <a:xfrm>
            <a:off x="685800" y="1755648"/>
            <a:ext cx="2606040" cy="1289304"/>
          </a:xfrm>
          <a:prstGeom prst="rect">
            <a:avLst/>
          </a:prstGeom>
        </p:spPr>
      </p:pic>
      <p:pic>
        <p:nvPicPr>
          <p:cNvPr id="11" name="Image 1" descr="/home/claude/deck/img/pull_hand.png">    </p:cNvPr>
          <p:cNvPicPr>
            <a:picLocks noChangeAspect="1"/>
          </p:cNvPicPr>
          <p:nvPr/>
        </p:nvPicPr>
        <p:blipFill>
          <a:blip r:embed="rId3"/>
          <a:stretch>
            <a:fillRect/>
          </a:stretch>
        </p:blipFill>
        <p:spPr>
          <a:xfrm>
            <a:off x="3538728" y="1755648"/>
            <a:ext cx="2048256" cy="1289304"/>
          </a:xfrm>
          <a:prstGeom prst="rect">
            <a:avLst/>
          </a:prstGeom>
        </p:spPr>
      </p:pic>
      <p:sp>
        <p:nvSpPr>
          <p:cNvPr id="12" name="Text 8"/>
          <p:cNvSpPr txBox="1"/>
          <p:nvPr/>
        </p:nvSpPr>
        <p:spPr>
          <a:xfrm>
            <a:off x="685800" y="3200400"/>
            <a:ext cx="5212080" cy="786384"/>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Slack-loop fixation, drawn at a controlled rate so the mechanics repeat.</a:t>
            </a:r>
            <a:endParaRPr lang="en-US" sz="1050" dirty="0"/>
          </a:p>
        </p:txBody>
      </p:sp>
      <p:sp>
        <p:nvSpPr>
          <p:cNvPr id="13" name="Shape 9"/>
          <p:cNvSpPr/>
          <p:nvPr/>
        </p:nvSpPr>
        <p:spPr>
          <a:xfrm>
            <a:off x="6400800" y="1371600"/>
            <a:ext cx="5257800" cy="2834640"/>
          </a:xfrm>
          <a:prstGeom prst="roundRect">
            <a:avLst>
              <a:gd name="adj" fmla="val 1935"/>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4" name="Text 10"/>
          <p:cNvSpPr txBox="1"/>
          <p:nvPr/>
        </p:nvSpPr>
        <p:spPr>
          <a:xfrm>
            <a:off x="6583680" y="1481328"/>
            <a:ext cx="489204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Adhesion upgrade — the reason for round 2</a:t>
            </a:r>
            <a:endParaRPr lang="en-US" sz="1100" dirty="0"/>
          </a:p>
        </p:txBody>
      </p:sp>
      <p:sp>
        <p:nvSpPr>
          <p:cNvPr id="15" name="Text 11"/>
          <p:cNvSpPr txBox="1"/>
          <p:nvPr/>
        </p:nvSpPr>
        <p:spPr>
          <a:xfrm>
            <a:off x="6583680" y="1792224"/>
            <a:ext cx="4892040" cy="2286000"/>
          </a:xfrm>
          <a:prstGeom prst="rect">
            <a:avLst/>
          </a:prstGeom>
          <a:noFill/>
          <a:ln/>
        </p:spPr>
        <p:txBody>
          <a:bodyPr wrap="square" lIns="0" tIns="0" rIns="0" bIns="0" rtlCol="0" anchor="ctr"/>
          <a:lstStyle/>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Round 1: vacuum rig, no adhesive, one session, one mounting.</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High-suction source and a reworked backing membrane.</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So shear reaches the pads instead of a loose mount.</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The honest first fix for the horizontal blind spot.</a:t>
            </a:r>
            <a:endParaRPr lang="en-US" sz="1000" dirty="0"/>
          </a:p>
        </p:txBody>
      </p:sp>
      <p:sp>
        <p:nvSpPr>
          <p:cNvPr id="16" name="Shape 12"/>
          <p:cNvSpPr/>
          <p:nvPr/>
        </p:nvSpPr>
        <p:spPr>
          <a:xfrm>
            <a:off x="502920" y="4343400"/>
            <a:ext cx="5623560" cy="1783080"/>
          </a:xfrm>
          <a:prstGeom prst="roundRect">
            <a:avLst>
              <a:gd name="adj" fmla="val 307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7" name="Text 13"/>
          <p:cNvSpPr txBox="1"/>
          <p:nvPr/>
        </p:nvSpPr>
        <p:spPr>
          <a:xfrm>
            <a:off x="685800" y="4453128"/>
            <a:ext cx="525780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Synchronised capture</a:t>
            </a:r>
            <a:endParaRPr lang="en-US" sz="1100" dirty="0"/>
          </a:p>
        </p:txBody>
      </p:sp>
      <p:pic>
        <p:nvPicPr>
          <p:cNvPr id="18" name="Image 2" descr="/home/claude/deck/img/bench_rig.png">    </p:cNvPr>
          <p:cNvPicPr>
            <a:picLocks noChangeAspect="1"/>
          </p:cNvPicPr>
          <p:nvPr/>
        </p:nvPicPr>
        <p:blipFill>
          <a:blip r:embed="rId4"/>
          <a:stretch>
            <a:fillRect/>
          </a:stretch>
        </p:blipFill>
        <p:spPr>
          <a:xfrm>
            <a:off x="685800" y="4718304"/>
            <a:ext cx="2130552" cy="1207008"/>
          </a:xfrm>
          <a:prstGeom prst="rect">
            <a:avLst/>
          </a:prstGeom>
        </p:spPr>
      </p:pic>
      <p:sp>
        <p:nvSpPr>
          <p:cNvPr id="19" name="Text 14"/>
          <p:cNvSpPr txBox="1"/>
          <p:nvPr/>
        </p:nvSpPr>
        <p:spPr>
          <a:xfrm>
            <a:off x="3246120" y="4718304"/>
            <a:ext cx="2697480" cy="1243584"/>
          </a:xfrm>
          <a:prstGeom prst="rect">
            <a:avLst/>
          </a:prstGeom>
          <a:noFill/>
          <a:ln/>
        </p:spPr>
        <p:txBody>
          <a:bodyPr wrap="square" lIns="0" tIns="0" rIns="0" bIns="0" rtlCol="0" anchor="ctr"/>
          <a:lstStyle/>
          <a:p>
            <a:pPr indent="0" marL="0">
              <a:lnSpc>
                <a:spcPct val="115000"/>
              </a:lnSpc>
              <a:buNone/>
            </a:pPr>
            <a:r>
              <a:rPr lang="en-US" sz="1000" dirty="0">
                <a:solidFill>
                  <a:srgbClr val="543110"/>
                </a:solidFill>
                <a:latin typeface="Poppins" pitchFamily="34" charset="0"/>
                <a:ea typeface="Poppins" pitchFamily="34" charset="-122"/>
                <a:cs typeface="Poppins" pitchFamily="34" charset="-120"/>
              </a:rPr>
              <a:t>Action and response on one timeline, so a disputed frame can be traced back.</a:t>
            </a:r>
            <a:endParaRPr lang="en-US" sz="1000" dirty="0"/>
          </a:p>
        </p:txBody>
      </p:sp>
      <p:sp>
        <p:nvSpPr>
          <p:cNvPr id="20" name="Shape 15"/>
          <p:cNvSpPr/>
          <p:nvPr/>
        </p:nvSpPr>
        <p:spPr>
          <a:xfrm>
            <a:off x="6400800" y="4343400"/>
            <a:ext cx="5257800" cy="1783080"/>
          </a:xfrm>
          <a:prstGeom prst="roundRect">
            <a:avLst>
              <a:gd name="adj" fmla="val 3077"/>
            </a:avLst>
          </a:prstGeom>
          <a:solidFill>
            <a:srgbClr val="F4EAD2"/>
          </a:solidFill>
          <a:ln w="12700">
            <a:solidFill>
              <a:srgbClr val="8A6A4F"/>
            </a:solidFill>
            <a:prstDash val="solid"/>
          </a:ln>
          <a:effectLst>
            <a:outerShdw sx="100000" sy="100000" kx="0" ky="0" algn="bl" rotWithShape="0" blurRad="127000" dist="25400" dir="5400000">
              <a:srgbClr val="3D1700">
                <a:alpha val="13000"/>
              </a:srgbClr>
            </a:outerShdw>
          </a:effectLst>
        </p:spPr>
      </p:sp>
      <p:sp>
        <p:nvSpPr>
          <p:cNvPr id="21" name="Text 16"/>
          <p:cNvSpPr txBox="1"/>
          <p:nvPr/>
        </p:nvSpPr>
        <p:spPr>
          <a:xfrm>
            <a:off x="6583680" y="4462272"/>
            <a:ext cx="4892040" cy="219456"/>
          </a:xfrm>
          <a:prstGeom prst="rect">
            <a:avLst/>
          </a:prstGeom>
          <a:noFill/>
          <a:ln/>
        </p:spPr>
        <p:txBody>
          <a:bodyPr wrap="square" lIns="0" tIns="0" rIns="0" bIns="0" rtlCol="0" anchor="ctr"/>
          <a:lstStyle/>
          <a:p>
            <a:pPr indent="0" marL="0">
              <a:buNone/>
            </a:pPr>
            <a:r>
              <a:rPr lang="en-US" sz="800" b="1" spc="130" kern="0" dirty="0">
                <a:solidFill>
                  <a:srgbClr val="8A6A4F"/>
                </a:solidFill>
                <a:latin typeface="Poppins" pitchFamily="34" charset="0"/>
                <a:ea typeface="Poppins" pitchFamily="34" charset="-122"/>
                <a:cs typeface="Poppins" pitchFamily="34" charset="-120"/>
              </a:rPr>
              <a:t>TO BE CAPTURED BEFORE 7 SEPTEMBER</a:t>
            </a:r>
            <a:endParaRPr lang="en-US" sz="800" dirty="0"/>
          </a:p>
        </p:txBody>
      </p:sp>
      <p:sp>
        <p:nvSpPr>
          <p:cNvPr id="22" name="Text 17"/>
          <p:cNvSpPr txBox="1"/>
          <p:nvPr/>
        </p:nvSpPr>
        <p:spPr>
          <a:xfrm>
            <a:off x="6583680" y="4700016"/>
            <a:ext cx="4892040" cy="256032"/>
          </a:xfrm>
          <a:prstGeom prst="rect">
            <a:avLst/>
          </a:prstGeom>
          <a:noFill/>
          <a:ln/>
        </p:spPr>
        <p:txBody>
          <a:bodyPr wrap="square" lIns="0" tIns="0" rIns="0" bIns="0" rtlCol="0" anchor="ctr"/>
          <a:lstStyle/>
          <a:p>
            <a:pPr indent="0" marL="0">
              <a:buNone/>
            </a:pPr>
            <a:r>
              <a:rPr lang="en-US" sz="1200" b="1" dirty="0">
                <a:solidFill>
                  <a:srgbClr val="3D1700"/>
                </a:solidFill>
                <a:latin typeface="Poppins" pitchFamily="34" charset="0"/>
                <a:ea typeface="Poppins" pitchFamily="34" charset="-122"/>
                <a:cs typeface="Poppins" pitchFamily="34" charset="-120"/>
              </a:rPr>
              <a:t>Dual-feed demonstration video</a:t>
            </a:r>
            <a:endParaRPr lang="en-US" sz="1200" dirty="0"/>
          </a:p>
        </p:txBody>
      </p:sp>
      <p:sp>
        <p:nvSpPr>
          <p:cNvPr id="23" name="Text 18"/>
          <p:cNvSpPr txBox="1"/>
          <p:nvPr/>
        </p:nvSpPr>
        <p:spPr>
          <a:xfrm>
            <a:off x="6583680" y="4992624"/>
            <a:ext cx="4892040" cy="914400"/>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Webcam above, live console below, one clock across both. Two takes: a touch that stays silent, a pull that escalates.</a:t>
            </a:r>
            <a:endParaRPr lang="en-US" sz="1050" dirty="0"/>
          </a:p>
        </p:txBody>
      </p:sp>
      <p:sp>
        <p:nvSpPr>
          <p:cNvPr id="24" name="Text 19"/>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Our own bench. The dual-feed capture is not yet recorded.</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Results (1/4)</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One peel recording, frame by frame through the shipped model</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15</a:t>
            </a:r>
            <a:endParaRPr lang="en-US" sz="1500" dirty="0"/>
          </a:p>
        </p:txBody>
      </p:sp>
      <p:sp>
        <p:nvSpPr>
          <p:cNvPr id="8" name="Shape 6"/>
          <p:cNvSpPr/>
          <p:nvPr/>
        </p:nvSpPr>
        <p:spPr>
          <a:xfrm>
            <a:off x="502920" y="1371600"/>
            <a:ext cx="4434840" cy="4553712"/>
          </a:xfrm>
          <a:prstGeom prst="roundRect">
            <a:avLst>
              <a:gd name="adj" fmla="val 1237"/>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pic>
        <p:nvPicPr>
          <p:cNvPr id="9" name="Image 0" descr="/home/claude/deck/img/fig_model_io.png">    </p:cNvPr>
          <p:cNvPicPr>
            <a:picLocks noChangeAspect="1"/>
          </p:cNvPicPr>
          <p:nvPr/>
        </p:nvPicPr>
        <p:blipFill>
          <a:blip r:embed="rId2"/>
          <a:stretch>
            <a:fillRect/>
          </a:stretch>
        </p:blipFill>
        <p:spPr>
          <a:xfrm>
            <a:off x="704088" y="1627632"/>
            <a:ext cx="3950208" cy="4105656"/>
          </a:xfrm>
          <a:prstGeom prst="rect">
            <a:avLst/>
          </a:prstGeom>
        </p:spPr>
      </p:pic>
      <p:sp>
        <p:nvSpPr>
          <p:cNvPr id="10" name="Shape 7"/>
          <p:cNvSpPr/>
          <p:nvPr/>
        </p:nvSpPr>
        <p:spPr>
          <a:xfrm>
            <a:off x="5102352" y="1371600"/>
            <a:ext cx="6556248" cy="1426464"/>
          </a:xfrm>
          <a:prstGeom prst="roundRect">
            <a:avLst>
              <a:gd name="adj" fmla="val 3846"/>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1" name="Shape 8"/>
          <p:cNvSpPr/>
          <p:nvPr/>
        </p:nvSpPr>
        <p:spPr>
          <a:xfrm>
            <a:off x="5285232" y="1517904"/>
            <a:ext cx="274320" cy="274320"/>
          </a:xfrm>
          <a:prstGeom prst="ellipse">
            <a:avLst/>
          </a:prstGeom>
          <a:solidFill>
            <a:srgbClr val="6B4423"/>
          </a:solidFill>
          <a:ln w="12700">
            <a:solidFill>
              <a:srgbClr val="333333"/>
            </a:solidFill>
            <a:prstDash val="solid"/>
          </a:ln>
        </p:spPr>
      </p:sp>
      <p:sp>
        <p:nvSpPr>
          <p:cNvPr id="12" name="Text 9"/>
          <p:cNvSpPr txBox="1"/>
          <p:nvPr/>
        </p:nvSpPr>
        <p:spPr>
          <a:xfrm>
            <a:off x="5285232" y="1517904"/>
            <a:ext cx="274320" cy="274320"/>
          </a:xfrm>
          <a:prstGeom prst="rect">
            <a:avLst/>
          </a:prstGeom>
          <a:noFill/>
          <a:ln/>
        </p:spPr>
        <p:txBody>
          <a:bodyPr wrap="square" lIns="0" tIns="0" rIns="0" bIns="0" rtlCol="0" anchor="ctr"/>
          <a:lstStyle/>
          <a:p>
            <a:pPr algn="ctr" indent="0" marL="0">
              <a:buNone/>
            </a:pPr>
            <a:r>
              <a:rPr lang="en-US" sz="1000" b="1" dirty="0">
                <a:solidFill>
                  <a:srgbClr val="FDF8EA"/>
                </a:solidFill>
                <a:latin typeface="Poppins" pitchFamily="34" charset="0"/>
                <a:ea typeface="Poppins" pitchFamily="34" charset="-122"/>
                <a:cs typeface="Poppins" pitchFamily="34" charset="-120"/>
              </a:rPr>
              <a:t>1</a:t>
            </a:r>
            <a:endParaRPr lang="en-US" sz="1000" dirty="0"/>
          </a:p>
        </p:txBody>
      </p:sp>
      <p:sp>
        <p:nvSpPr>
          <p:cNvPr id="13" name="Text 10"/>
          <p:cNvSpPr txBox="1"/>
          <p:nvPr/>
        </p:nvSpPr>
        <p:spPr>
          <a:xfrm>
            <a:off x="5669280" y="1499616"/>
            <a:ext cx="5806440" cy="256032"/>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Going in — 25 numbers a frame</a:t>
            </a:r>
            <a:endParaRPr lang="en-US" sz="1150" dirty="0"/>
          </a:p>
        </p:txBody>
      </p:sp>
      <p:sp>
        <p:nvSpPr>
          <p:cNvPr id="14" name="Text 11"/>
          <p:cNvSpPr txBox="1"/>
          <p:nvPr/>
        </p:nvSpPr>
        <p:spPr>
          <a:xfrm>
            <a:off x="5669280" y="1792224"/>
            <a:ext cx="5806440" cy="932688"/>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One change value per pad, per frame. Frames under 60 counts never reach the model.</a:t>
            </a:r>
            <a:endParaRPr lang="en-US" sz="1050" dirty="0"/>
          </a:p>
        </p:txBody>
      </p:sp>
      <p:sp>
        <p:nvSpPr>
          <p:cNvPr id="15" name="Shape 12"/>
          <p:cNvSpPr/>
          <p:nvPr/>
        </p:nvSpPr>
        <p:spPr>
          <a:xfrm>
            <a:off x="5102352" y="2907792"/>
            <a:ext cx="6556248" cy="1426464"/>
          </a:xfrm>
          <a:prstGeom prst="roundRect">
            <a:avLst>
              <a:gd name="adj" fmla="val 3846"/>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6" name="Shape 13"/>
          <p:cNvSpPr/>
          <p:nvPr/>
        </p:nvSpPr>
        <p:spPr>
          <a:xfrm>
            <a:off x="5285232" y="3054096"/>
            <a:ext cx="274320" cy="274320"/>
          </a:xfrm>
          <a:prstGeom prst="ellipse">
            <a:avLst/>
          </a:prstGeom>
          <a:solidFill>
            <a:srgbClr val="3E6C8A"/>
          </a:solidFill>
          <a:ln w="12700">
            <a:solidFill>
              <a:srgbClr val="333333"/>
            </a:solidFill>
            <a:prstDash val="solid"/>
          </a:ln>
        </p:spPr>
      </p:sp>
      <p:sp>
        <p:nvSpPr>
          <p:cNvPr id="17" name="Text 14"/>
          <p:cNvSpPr txBox="1"/>
          <p:nvPr/>
        </p:nvSpPr>
        <p:spPr>
          <a:xfrm>
            <a:off x="5285232" y="3054096"/>
            <a:ext cx="274320" cy="274320"/>
          </a:xfrm>
          <a:prstGeom prst="rect">
            <a:avLst/>
          </a:prstGeom>
          <a:noFill/>
          <a:ln/>
        </p:spPr>
        <p:txBody>
          <a:bodyPr wrap="square" lIns="0" tIns="0" rIns="0" bIns="0" rtlCol="0" anchor="ctr"/>
          <a:lstStyle/>
          <a:p>
            <a:pPr algn="ctr" indent="0" marL="0">
              <a:buNone/>
            </a:pPr>
            <a:r>
              <a:rPr lang="en-US" sz="1000" b="1" dirty="0">
                <a:solidFill>
                  <a:srgbClr val="FDF8EA"/>
                </a:solidFill>
                <a:latin typeface="Poppins" pitchFamily="34" charset="0"/>
                <a:ea typeface="Poppins" pitchFamily="34" charset="-122"/>
                <a:cs typeface="Poppins" pitchFamily="34" charset="-120"/>
              </a:rPr>
              <a:t>2</a:t>
            </a:r>
            <a:endParaRPr lang="en-US" sz="1000" dirty="0"/>
          </a:p>
        </p:txBody>
      </p:sp>
      <p:sp>
        <p:nvSpPr>
          <p:cNvPr id="18" name="Text 15"/>
          <p:cNvSpPr txBox="1"/>
          <p:nvPr/>
        </p:nvSpPr>
        <p:spPr>
          <a:xfrm>
            <a:off x="5669280" y="3035808"/>
            <a:ext cx="5806440" cy="256032"/>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Coming out — four probabilities</a:t>
            </a:r>
            <a:endParaRPr lang="en-US" sz="1150" dirty="0"/>
          </a:p>
        </p:txBody>
      </p:sp>
      <p:sp>
        <p:nvSpPr>
          <p:cNvPr id="19" name="Text 16"/>
          <p:cNvSpPr txBox="1"/>
          <p:nvPr/>
        </p:nvSpPr>
        <p:spPr>
          <a:xfrm>
            <a:off x="5669280" y="3328416"/>
            <a:ext cx="5806440" cy="932688"/>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A probability for each state, every frame. No serving path hand-codes a level.</a:t>
            </a:r>
            <a:endParaRPr lang="en-US" sz="1050" dirty="0"/>
          </a:p>
        </p:txBody>
      </p:sp>
      <p:sp>
        <p:nvSpPr>
          <p:cNvPr id="20" name="Shape 17"/>
          <p:cNvSpPr/>
          <p:nvPr/>
        </p:nvSpPr>
        <p:spPr>
          <a:xfrm>
            <a:off x="5102352" y="4443984"/>
            <a:ext cx="6556248" cy="1426464"/>
          </a:xfrm>
          <a:prstGeom prst="roundRect">
            <a:avLst>
              <a:gd name="adj" fmla="val 3846"/>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1" name="Shape 18"/>
          <p:cNvSpPr/>
          <p:nvPr/>
        </p:nvSpPr>
        <p:spPr>
          <a:xfrm>
            <a:off x="5285232" y="4590288"/>
            <a:ext cx="274320" cy="274320"/>
          </a:xfrm>
          <a:prstGeom prst="ellipse">
            <a:avLst/>
          </a:prstGeom>
          <a:solidFill>
            <a:srgbClr val="B4762A"/>
          </a:solidFill>
          <a:ln w="12700">
            <a:solidFill>
              <a:srgbClr val="333333"/>
            </a:solidFill>
            <a:prstDash val="solid"/>
          </a:ln>
        </p:spPr>
      </p:sp>
      <p:sp>
        <p:nvSpPr>
          <p:cNvPr id="22" name="Text 19"/>
          <p:cNvSpPr txBox="1"/>
          <p:nvPr/>
        </p:nvSpPr>
        <p:spPr>
          <a:xfrm>
            <a:off x="5285232" y="4590288"/>
            <a:ext cx="274320" cy="274320"/>
          </a:xfrm>
          <a:prstGeom prst="rect">
            <a:avLst/>
          </a:prstGeom>
          <a:noFill/>
          <a:ln/>
        </p:spPr>
        <p:txBody>
          <a:bodyPr wrap="square" lIns="0" tIns="0" rIns="0" bIns="0" rtlCol="0" anchor="ctr"/>
          <a:lstStyle/>
          <a:p>
            <a:pPr algn="ctr" indent="0" marL="0">
              <a:buNone/>
            </a:pPr>
            <a:r>
              <a:rPr lang="en-US" sz="1000" b="1" dirty="0">
                <a:solidFill>
                  <a:srgbClr val="FDF8EA"/>
                </a:solidFill>
                <a:latin typeface="Poppins" pitchFamily="34" charset="0"/>
                <a:ea typeface="Poppins" pitchFamily="34" charset="-122"/>
                <a:cs typeface="Poppins" pitchFamily="34" charset="-120"/>
              </a:rPr>
              <a:t>3</a:t>
            </a:r>
            <a:endParaRPr lang="en-US" sz="1000" dirty="0"/>
          </a:p>
        </p:txBody>
      </p:sp>
      <p:sp>
        <p:nvSpPr>
          <p:cNvPr id="23" name="Text 20"/>
          <p:cNvSpPr txBox="1"/>
          <p:nvPr/>
        </p:nvSpPr>
        <p:spPr>
          <a:xfrm>
            <a:off x="5669280" y="4572000"/>
            <a:ext cx="5806440" cy="256032"/>
          </a:xfrm>
          <a:prstGeom prst="rect">
            <a:avLst/>
          </a:prstGeom>
          <a:noFill/>
          <a:ln/>
        </p:spPr>
        <p:txBody>
          <a:bodyPr wrap="square" lIns="0" tIns="0" rIns="0" bIns="0" rtlCol="0" anchor="ctr"/>
          <a:lstStyle/>
          <a:p>
            <a:pPr indent="0" marL="0">
              <a:buNone/>
            </a:pPr>
            <a:r>
              <a:rPr lang="en-US" sz="1150" b="1" dirty="0">
                <a:solidFill>
                  <a:srgbClr val="3D1700"/>
                </a:solidFill>
                <a:latin typeface="Poppins" pitchFamily="34" charset="0"/>
                <a:ea typeface="Poppins" pitchFamily="34" charset="-122"/>
                <a:cs typeface="Poppins" pitchFamily="34" charset="-120"/>
              </a:rPr>
              <a:t>The decision — agreement, not reaction</a:t>
            </a:r>
            <a:endParaRPr lang="en-US" sz="1150" dirty="0"/>
          </a:p>
        </p:txBody>
      </p:sp>
      <p:sp>
        <p:nvSpPr>
          <p:cNvPr id="24" name="Text 21"/>
          <p:cNvSpPr txBox="1"/>
          <p:nvPr/>
        </p:nvSpPr>
        <p:spPr>
          <a:xfrm>
            <a:off x="5669280" y="4864608"/>
            <a:ext cx="5806440" cy="932688"/>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The model calls peel at once. The annunciator waits for six of seven — about three seconds.</a:t>
            </a:r>
            <a:endParaRPr lang="en-US" sz="1050" dirty="0"/>
          </a:p>
        </p:txBody>
      </p:sp>
      <p:sp>
        <p:nvSpPr>
          <p:cNvPr id="25" name="Text 22"/>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One round-1 peel recording, replayed through the stored model.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Results (2/4)</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Quantitative validation over 81 bench recordings</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16</a:t>
            </a:r>
            <a:endParaRPr lang="en-US" sz="1500" dirty="0"/>
          </a:p>
        </p:txBody>
      </p:sp>
      <p:sp>
        <p:nvSpPr>
          <p:cNvPr id="8" name="Shape 6"/>
          <p:cNvSpPr/>
          <p:nvPr/>
        </p:nvSpPr>
        <p:spPr>
          <a:xfrm>
            <a:off x="502920" y="1371600"/>
            <a:ext cx="278892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630936" y="1444752"/>
            <a:ext cx="2532888" cy="475488"/>
          </a:xfrm>
          <a:prstGeom prst="rect">
            <a:avLst/>
          </a:prstGeom>
          <a:noFill/>
          <a:ln/>
        </p:spPr>
        <p:txBody>
          <a:bodyPr wrap="square" lIns="0" tIns="0" rIns="0" bIns="0" rtlCol="0" anchor="ctr"/>
          <a:lstStyle/>
          <a:p>
            <a:pPr indent="0" marL="0">
              <a:buNone/>
            </a:pPr>
            <a:r>
              <a:rPr lang="en-US" sz="2700" b="1" dirty="0">
                <a:solidFill>
                  <a:srgbClr val="5A7247"/>
                </a:solidFill>
                <a:latin typeface="Poppins" pitchFamily="34" charset="0"/>
                <a:ea typeface="Poppins" pitchFamily="34" charset="-122"/>
                <a:cs typeface="Poppins" pitchFamily="34" charset="-120"/>
              </a:rPr>
              <a:t>100.0%</a:t>
            </a:r>
            <a:endParaRPr lang="en-US" sz="2700" dirty="0"/>
          </a:p>
        </p:txBody>
      </p:sp>
      <p:sp>
        <p:nvSpPr>
          <p:cNvPr id="10" name="Text 8"/>
          <p:cNvSpPr txBox="1"/>
          <p:nvPr/>
        </p:nvSpPr>
        <p:spPr>
          <a:xfrm>
            <a:off x="630936" y="1920240"/>
            <a:ext cx="253288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Episode sensitivity</a:t>
            </a:r>
            <a:endParaRPr lang="en-US" sz="1000" dirty="0"/>
          </a:p>
        </p:txBody>
      </p:sp>
      <p:sp>
        <p:nvSpPr>
          <p:cNvPr id="11" name="Text 9"/>
          <p:cNvSpPr txBox="1"/>
          <p:nvPr/>
        </p:nvSpPr>
        <p:spPr>
          <a:xfrm>
            <a:off x="630936" y="2139696"/>
            <a:ext cx="253288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95% CI  91.2 - 100.0  ·  0 missed of 30 pull files</a:t>
            </a:r>
            <a:endParaRPr lang="en-US" sz="850" dirty="0"/>
          </a:p>
        </p:txBody>
      </p:sp>
      <p:sp>
        <p:nvSpPr>
          <p:cNvPr id="12" name="Shape 10"/>
          <p:cNvSpPr/>
          <p:nvPr/>
        </p:nvSpPr>
        <p:spPr>
          <a:xfrm>
            <a:off x="3474720" y="1371600"/>
            <a:ext cx="278892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3" name="Text 11"/>
          <p:cNvSpPr txBox="1"/>
          <p:nvPr/>
        </p:nvSpPr>
        <p:spPr>
          <a:xfrm>
            <a:off x="3602736" y="1444752"/>
            <a:ext cx="2532888" cy="475488"/>
          </a:xfrm>
          <a:prstGeom prst="rect">
            <a:avLst/>
          </a:prstGeom>
          <a:noFill/>
          <a:ln/>
        </p:spPr>
        <p:txBody>
          <a:bodyPr wrap="square" lIns="0" tIns="0" rIns="0" bIns="0" rtlCol="0" anchor="ctr"/>
          <a:lstStyle/>
          <a:p>
            <a:pPr indent="0" marL="0">
              <a:buNone/>
            </a:pPr>
            <a:r>
              <a:rPr lang="en-US" sz="2700" b="1" dirty="0">
                <a:solidFill>
                  <a:srgbClr val="543110"/>
                </a:solidFill>
                <a:latin typeface="Poppins" pitchFamily="34" charset="0"/>
                <a:ea typeface="Poppins" pitchFamily="34" charset="-122"/>
                <a:cs typeface="Poppins" pitchFamily="34" charset="-120"/>
              </a:rPr>
              <a:t>7.8 / hr</a:t>
            </a:r>
            <a:endParaRPr lang="en-US" sz="2700" dirty="0"/>
          </a:p>
        </p:txBody>
      </p:sp>
      <p:sp>
        <p:nvSpPr>
          <p:cNvPr id="14" name="Text 12"/>
          <p:cNvSpPr txBox="1"/>
          <p:nvPr/>
        </p:nvSpPr>
        <p:spPr>
          <a:xfrm>
            <a:off x="3602736" y="1920240"/>
            <a:ext cx="253288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Alarm burden</a:t>
            </a:r>
            <a:endParaRPr lang="en-US" sz="1000" dirty="0"/>
          </a:p>
        </p:txBody>
      </p:sp>
      <p:sp>
        <p:nvSpPr>
          <p:cNvPr id="15" name="Text 13"/>
          <p:cNvSpPr txBox="1"/>
          <p:nvPr/>
        </p:nvSpPr>
        <p:spPr>
          <a:xfrm>
            <a:off x="3602736" y="2139696"/>
            <a:ext cx="253288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4.9% of recordings false-alarm  ·  CI 1.3 - 16.1</a:t>
            </a:r>
            <a:endParaRPr lang="en-US" sz="850" dirty="0"/>
          </a:p>
        </p:txBody>
      </p:sp>
      <p:sp>
        <p:nvSpPr>
          <p:cNvPr id="16" name="Shape 14"/>
          <p:cNvSpPr/>
          <p:nvPr/>
        </p:nvSpPr>
        <p:spPr>
          <a:xfrm>
            <a:off x="6446520" y="1371600"/>
            <a:ext cx="278892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7" name="Text 15"/>
          <p:cNvSpPr txBox="1"/>
          <p:nvPr/>
        </p:nvSpPr>
        <p:spPr>
          <a:xfrm>
            <a:off x="6574536" y="1444752"/>
            <a:ext cx="2532888" cy="475488"/>
          </a:xfrm>
          <a:prstGeom prst="rect">
            <a:avLst/>
          </a:prstGeom>
          <a:noFill/>
          <a:ln/>
        </p:spPr>
        <p:txBody>
          <a:bodyPr wrap="square" lIns="0" tIns="0" rIns="0" bIns="0" rtlCol="0" anchor="ctr"/>
          <a:lstStyle/>
          <a:p>
            <a:pPr indent="0" marL="0">
              <a:buNone/>
            </a:pPr>
            <a:r>
              <a:rPr lang="en-US" sz="2700" b="1" dirty="0">
                <a:solidFill>
                  <a:srgbClr val="543110"/>
                </a:solidFill>
                <a:latin typeface="Poppins" pitchFamily="34" charset="0"/>
                <a:ea typeface="Poppins" pitchFamily="34" charset="-122"/>
                <a:cs typeface="Poppins" pitchFamily="34" charset="-120"/>
              </a:rPr>
              <a:t>5.60 s</a:t>
            </a:r>
            <a:endParaRPr lang="en-US" sz="2700" dirty="0"/>
          </a:p>
        </p:txBody>
      </p:sp>
      <p:sp>
        <p:nvSpPr>
          <p:cNvPr id="18" name="Text 16"/>
          <p:cNvSpPr txBox="1"/>
          <p:nvPr/>
        </p:nvSpPr>
        <p:spPr>
          <a:xfrm>
            <a:off x="6574536" y="1920240"/>
            <a:ext cx="253288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Median time to alarm</a:t>
            </a:r>
            <a:endParaRPr lang="en-US" sz="1000" dirty="0"/>
          </a:p>
        </p:txBody>
      </p:sp>
      <p:sp>
        <p:nvSpPr>
          <p:cNvPr id="19" name="Text 17"/>
          <p:cNvSpPr txBox="1"/>
          <p:nvPr/>
        </p:nvSpPr>
        <p:spPr>
          <a:xfrm>
            <a:off x="6574536" y="2139696"/>
            <a:ext cx="253288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Worst observed 17.36 s  ·  1.00 onsets / event</a:t>
            </a:r>
            <a:endParaRPr lang="en-US" sz="850" dirty="0"/>
          </a:p>
        </p:txBody>
      </p:sp>
      <p:sp>
        <p:nvSpPr>
          <p:cNvPr id="20" name="Shape 18"/>
          <p:cNvSpPr/>
          <p:nvPr/>
        </p:nvSpPr>
        <p:spPr>
          <a:xfrm>
            <a:off x="9418320" y="1371600"/>
            <a:ext cx="2240280" cy="1060704"/>
          </a:xfrm>
          <a:prstGeom prst="roundRect">
            <a:avLst>
              <a:gd name="adj" fmla="val 517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1" name="Text 19"/>
          <p:cNvSpPr txBox="1"/>
          <p:nvPr/>
        </p:nvSpPr>
        <p:spPr>
          <a:xfrm>
            <a:off x="9546336" y="1444752"/>
            <a:ext cx="1984248" cy="475488"/>
          </a:xfrm>
          <a:prstGeom prst="rect">
            <a:avLst/>
          </a:prstGeom>
          <a:noFill/>
          <a:ln/>
        </p:spPr>
        <p:txBody>
          <a:bodyPr wrap="square" lIns="0" tIns="0" rIns="0" bIns="0" rtlCol="0" anchor="ctr"/>
          <a:lstStyle/>
          <a:p>
            <a:pPr indent="0" marL="0">
              <a:buNone/>
            </a:pPr>
            <a:r>
              <a:rPr lang="en-US" sz="2700" b="1" dirty="0">
                <a:solidFill>
                  <a:srgbClr val="8A6A4F"/>
                </a:solidFill>
                <a:latin typeface="Poppins" pitchFamily="34" charset="0"/>
                <a:ea typeface="Poppins" pitchFamily="34" charset="-122"/>
                <a:cs typeface="Poppins" pitchFamily="34" charset="-120"/>
              </a:rPr>
              <a:t>97.53%</a:t>
            </a:r>
            <a:endParaRPr lang="en-US" sz="2700" dirty="0"/>
          </a:p>
        </p:txBody>
      </p:sp>
      <p:sp>
        <p:nvSpPr>
          <p:cNvPr id="22" name="Text 20"/>
          <p:cNvSpPr txBox="1"/>
          <p:nvPr/>
        </p:nvSpPr>
        <p:spPr>
          <a:xfrm>
            <a:off x="9546336" y="1920240"/>
            <a:ext cx="1984248"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File-level accuracy</a:t>
            </a:r>
            <a:endParaRPr lang="en-US" sz="1000" dirty="0"/>
          </a:p>
        </p:txBody>
      </p:sp>
      <p:sp>
        <p:nvSpPr>
          <p:cNvPr id="23" name="Text 21"/>
          <p:cNvSpPr txBox="1"/>
          <p:nvPr/>
        </p:nvSpPr>
        <p:spPr>
          <a:xfrm>
            <a:off x="9546336" y="2139696"/>
            <a:ext cx="1984248" cy="237744"/>
          </a:xfrm>
          <a:prstGeom prst="rect">
            <a:avLst/>
          </a:prstGeom>
          <a:noFill/>
          <a:ln/>
        </p:spPr>
        <p:txBody>
          <a:bodyPr wrap="square" lIns="0" tIns="0" rIns="0" bIns="0" rtlCol="0" anchor="ctr"/>
          <a:lstStyle/>
          <a:p>
            <a:pPr indent="0" marL="0">
              <a:buNone/>
            </a:pPr>
            <a:r>
              <a:rPr lang="en-US" sz="850" dirty="0">
                <a:solidFill>
                  <a:srgbClr val="7A5A3F"/>
                </a:solidFill>
                <a:latin typeface="Poppins" pitchFamily="34" charset="0"/>
                <a:ea typeface="Poppins" pitchFamily="34" charset="-122"/>
                <a:cs typeface="Poppins" pitchFamily="34" charset="-120"/>
              </a:rPr>
              <a:t>Wilson 95% CI  91.4 - 99.3  ·  see caveat</a:t>
            </a:r>
            <a:endParaRPr lang="en-US" sz="850" dirty="0"/>
          </a:p>
        </p:txBody>
      </p:sp>
      <p:sp>
        <p:nvSpPr>
          <p:cNvPr id="24" name="Shape 22"/>
          <p:cNvSpPr/>
          <p:nvPr/>
        </p:nvSpPr>
        <p:spPr>
          <a:xfrm>
            <a:off x="502920" y="2606040"/>
            <a:ext cx="6949440" cy="3346704"/>
          </a:xfrm>
          <a:prstGeom prst="roundRect">
            <a:avLst>
              <a:gd name="adj" fmla="val 163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5" name="Text 23"/>
          <p:cNvSpPr txBox="1"/>
          <p:nvPr/>
        </p:nvSpPr>
        <p:spPr>
          <a:xfrm>
            <a:off x="685800" y="2706624"/>
            <a:ext cx="6583680" cy="237744"/>
          </a:xfrm>
          <a:prstGeom prst="rect">
            <a:avLst/>
          </a:prstGeom>
          <a:noFill/>
          <a:ln/>
        </p:spPr>
        <p:txBody>
          <a:bodyPr wrap="square" lIns="0" tIns="0" rIns="0" bIns="0" rtlCol="0" anchor="ctr"/>
          <a:lstStyle/>
          <a:p>
            <a:pPr indent="0" marL="0">
              <a:buNone/>
            </a:pPr>
            <a:r>
              <a:rPr lang="en-US" sz="1100" b="1" dirty="0">
                <a:solidFill>
                  <a:srgbClr val="3D1700"/>
                </a:solidFill>
                <a:latin typeface="Poppins" pitchFamily="34" charset="0"/>
                <a:ea typeface="Poppins" pitchFamily="34" charset="-122"/>
                <a:cs typeface="Poppins" pitchFamily="34" charset="-120"/>
              </a:rPr>
              <a:t>Where the errors are, and what each class costs</a:t>
            </a:r>
            <a:endParaRPr lang="en-US" sz="1100" dirty="0"/>
          </a:p>
        </p:txBody>
      </p:sp>
      <p:pic>
        <p:nvPicPr>
          <p:cNvPr id="26" name="Image 0" descr="/home/claude/deck/img/fig_confusion.png">    </p:cNvPr>
          <p:cNvPicPr>
            <a:picLocks noChangeAspect="1"/>
          </p:cNvPicPr>
          <p:nvPr/>
        </p:nvPicPr>
        <p:blipFill>
          <a:blip r:embed="rId2"/>
          <a:stretch>
            <a:fillRect/>
          </a:stretch>
        </p:blipFill>
        <p:spPr>
          <a:xfrm>
            <a:off x="731520" y="2926080"/>
            <a:ext cx="6492240" cy="2898648"/>
          </a:xfrm>
          <a:prstGeom prst="rect">
            <a:avLst/>
          </a:prstGeom>
        </p:spPr>
      </p:pic>
      <p:sp>
        <p:nvSpPr>
          <p:cNvPr id="27" name="Shape 24"/>
          <p:cNvSpPr/>
          <p:nvPr/>
        </p:nvSpPr>
        <p:spPr>
          <a:xfrm>
            <a:off x="7635240" y="2606040"/>
            <a:ext cx="4023360" cy="3346704"/>
          </a:xfrm>
          <a:prstGeom prst="roundRect">
            <a:avLst>
              <a:gd name="adj" fmla="val 1639"/>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8" name="Text 25"/>
          <p:cNvSpPr txBox="1"/>
          <p:nvPr/>
        </p:nvSpPr>
        <p:spPr>
          <a:xfrm>
            <a:off x="7818120" y="2715768"/>
            <a:ext cx="3657600" cy="256032"/>
          </a:xfrm>
          <a:prstGeom prst="rect">
            <a:avLst/>
          </a:prstGeom>
          <a:noFill/>
          <a:ln/>
        </p:spPr>
        <p:txBody>
          <a:bodyPr wrap="square" lIns="0" tIns="0" rIns="0" bIns="0" rtlCol="0" anchor="ctr"/>
          <a:lstStyle/>
          <a:p>
            <a:pPr indent="0" marL="0">
              <a:buNone/>
            </a:pPr>
            <a:r>
              <a:rPr lang="en-US" sz="1200" b="1" dirty="0">
                <a:solidFill>
                  <a:srgbClr val="3D1700"/>
                </a:solidFill>
                <a:latin typeface="Poppins" pitchFamily="34" charset="0"/>
                <a:ea typeface="Poppins" pitchFamily="34" charset="-122"/>
                <a:cs typeface="Poppins" pitchFamily="34" charset="-120"/>
              </a:rPr>
              <a:t>How to read these two units</a:t>
            </a:r>
            <a:endParaRPr lang="en-US" sz="1200" dirty="0"/>
          </a:p>
        </p:txBody>
      </p:sp>
      <p:sp>
        <p:nvSpPr>
          <p:cNvPr id="29" name="Text 26"/>
          <p:cNvSpPr txBox="1"/>
          <p:nvPr/>
        </p:nvSpPr>
        <p:spPr>
          <a:xfrm>
            <a:off x="7818120" y="3017520"/>
            <a:ext cx="3657600"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Episode level is the clinical unit.</a:t>
            </a:r>
            <a:endParaRPr lang="en-US" sz="1000" dirty="0"/>
          </a:p>
        </p:txBody>
      </p:sp>
      <p:sp>
        <p:nvSpPr>
          <p:cNvPr id="30" name="Text 27"/>
          <p:cNvSpPr txBox="1"/>
          <p:nvPr/>
        </p:nvSpPr>
        <p:spPr>
          <a:xfrm>
            <a:off x="7818120" y="3255264"/>
            <a:ext cx="3657600" cy="621792"/>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When a pull happened, did the system raise an alarm? Independent of clip length.</a:t>
            </a:r>
            <a:endParaRPr lang="en-US" sz="1050" dirty="0"/>
          </a:p>
        </p:txBody>
      </p:sp>
      <p:sp>
        <p:nvSpPr>
          <p:cNvPr id="31" name="Text 28"/>
          <p:cNvSpPr txBox="1"/>
          <p:nvPr/>
        </p:nvSpPr>
        <p:spPr>
          <a:xfrm>
            <a:off x="7818120" y="3931920"/>
            <a:ext cx="3657600" cy="219456"/>
          </a:xfrm>
          <a:prstGeom prst="rect">
            <a:avLst/>
          </a:prstGeom>
          <a:noFill/>
          <a:ln/>
        </p:spPr>
        <p:txBody>
          <a:bodyPr wrap="square" lIns="0" tIns="0" rIns="0" bIns="0" rtlCol="0" anchor="ctr"/>
          <a:lstStyle/>
          <a:p>
            <a:pPr indent="0" marL="0">
              <a:buNone/>
            </a:pPr>
            <a:r>
              <a:rPr lang="en-US" sz="1000" b="1" dirty="0">
                <a:solidFill>
                  <a:srgbClr val="543110"/>
                </a:solidFill>
                <a:latin typeface="Poppins" pitchFamily="34" charset="0"/>
                <a:ea typeface="Poppins" pitchFamily="34" charset="-122"/>
                <a:cs typeface="Poppins" pitchFamily="34" charset="-120"/>
              </a:rPr>
              <a:t>File level is not, and we do not lead with it.</a:t>
            </a:r>
            <a:endParaRPr lang="en-US" sz="1000" dirty="0"/>
          </a:p>
        </p:txBody>
      </p:sp>
      <p:sp>
        <p:nvSpPr>
          <p:cNvPr id="32" name="Text 29"/>
          <p:cNvSpPr txBox="1"/>
          <p:nvPr/>
        </p:nvSpPr>
        <p:spPr>
          <a:xfrm>
            <a:off x="7818120" y="4169664"/>
            <a:ext cx="3657600" cy="1060704"/>
          </a:xfrm>
          <a:prstGeom prst="rect">
            <a:avLst/>
          </a:prstGeom>
          <a:noFill/>
          <a:ln/>
        </p:spPr>
        <p:txBody>
          <a:bodyPr wrap="square" lIns="0" tIns="0" rIns="0" bIns="0" rtlCol="0" anchor="ctr"/>
          <a:lstStyle/>
          <a:p>
            <a:pPr indent="0" marL="0">
              <a:lnSpc>
                <a:spcPct val="116000"/>
              </a:lnSpc>
              <a:buNone/>
            </a:pPr>
            <a:r>
              <a:rPr lang="en-US" sz="1050" dirty="0">
                <a:solidFill>
                  <a:srgbClr val="543110"/>
                </a:solidFill>
                <a:latin typeface="Poppins" pitchFamily="34" charset="0"/>
                <a:ea typeface="Poppins" pitchFamily="34" charset="-122"/>
                <a:cs typeface="Poppins" pitchFamily="34" charset="-120"/>
              </a:rPr>
              <a:t>A majority vote across frames, so it moves with clip length. Re-voted at round-2 length, pull recall goes to zero while episode detection stays at one.</a:t>
            </a:r>
            <a:endParaRPr lang="en-US" sz="1050" dirty="0"/>
          </a:p>
        </p:txBody>
      </p:sp>
      <p:sp>
        <p:nvSpPr>
          <p:cNvPr id="33" name="Text 30"/>
          <p:cNvSpPr txBox="1"/>
          <p:nvPr/>
        </p:nvSpPr>
        <p:spPr>
          <a:xfrm>
            <a:off x="7818120" y="5285232"/>
            <a:ext cx="3657600" cy="603504"/>
          </a:xfrm>
          <a:prstGeom prst="rect">
            <a:avLst/>
          </a:prstGeom>
          <a:noFill/>
          <a:ln/>
        </p:spPr>
        <p:txBody>
          <a:bodyPr wrap="square" lIns="0" tIns="0" rIns="0" bIns="0" rtlCol="0" anchor="ctr"/>
          <a:lstStyle/>
          <a:p>
            <a:pPr indent="0" marL="0">
              <a:lnSpc>
                <a:spcPct val="114000"/>
              </a:lnSpc>
              <a:buNone/>
            </a:pPr>
            <a:r>
              <a:rPr lang="en-US" sz="850" i="1" dirty="0">
                <a:solidFill>
                  <a:srgbClr val="7A5A3F"/>
                </a:solidFill>
                <a:latin typeface="Poppins" pitchFamily="34" charset="0"/>
                <a:ea typeface="Poppins" pitchFamily="34" charset="-122"/>
                <a:cs typeface="Poppins" pitchFamily="34" charset="-120"/>
              </a:rPr>
              <a:t>Six errors in 243 predictions. Peel is called perfectly — which on 30 files is not evidence of perfection.</a:t>
            </a:r>
            <a:endParaRPr lang="en-US" sz="850" dirty="0"/>
          </a:p>
        </p:txBody>
      </p:sp>
      <p:sp>
        <p:nvSpPr>
          <p:cNvPr id="34" name="Text 31"/>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81 recordings, 3,349 frames, 34 features, leave-one-file-out, single session.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Results (3/4)</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Stability across 100 re-splits</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17</a:t>
            </a:r>
            <a:endParaRPr lang="en-US" sz="1500" dirty="0"/>
          </a:p>
        </p:txBody>
      </p:sp>
      <p:sp>
        <p:nvSpPr>
          <p:cNvPr id="8" name="Shape 6"/>
          <p:cNvSpPr/>
          <p:nvPr/>
        </p:nvSpPr>
        <p:spPr>
          <a:xfrm>
            <a:off x="502920" y="1371600"/>
            <a:ext cx="11155680" cy="3749040"/>
          </a:xfrm>
          <a:prstGeom prst="roundRect">
            <a:avLst>
              <a:gd name="adj" fmla="val 1463"/>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pic>
        <p:nvPicPr>
          <p:cNvPr id="9" name="Image 0" descr="/home/claude/deck/img/fig_training.png">    </p:cNvPr>
          <p:cNvPicPr>
            <a:picLocks noChangeAspect="1"/>
          </p:cNvPicPr>
          <p:nvPr/>
        </p:nvPicPr>
        <p:blipFill>
          <a:blip r:embed="rId2"/>
          <a:stretch>
            <a:fillRect/>
          </a:stretch>
        </p:blipFill>
        <p:spPr>
          <a:xfrm>
            <a:off x="1051560" y="1499616"/>
            <a:ext cx="10058400" cy="3675888"/>
          </a:xfrm>
          <a:prstGeom prst="rect">
            <a:avLst/>
          </a:prstGeom>
        </p:spPr>
      </p:pic>
      <p:sp>
        <p:nvSpPr>
          <p:cNvPr id="10" name="Shape 7"/>
          <p:cNvSpPr/>
          <p:nvPr/>
        </p:nvSpPr>
        <p:spPr>
          <a:xfrm>
            <a:off x="502920" y="5175504"/>
            <a:ext cx="3596640" cy="932688"/>
          </a:xfrm>
          <a:prstGeom prst="roundRect">
            <a:avLst>
              <a:gd name="adj" fmla="val 588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1" name="Text 8"/>
          <p:cNvSpPr txBox="1"/>
          <p:nvPr/>
        </p:nvSpPr>
        <p:spPr>
          <a:xfrm>
            <a:off x="667512" y="5248656"/>
            <a:ext cx="3267456" cy="219456"/>
          </a:xfrm>
          <a:prstGeom prst="rect">
            <a:avLst/>
          </a:prstGeom>
          <a:noFill/>
          <a:ln/>
        </p:spPr>
        <p:txBody>
          <a:bodyPr wrap="square" lIns="0" tIns="0" rIns="0" bIns="0" rtlCol="0" anchor="ctr"/>
          <a:lstStyle/>
          <a:p>
            <a:pPr indent="0" marL="0">
              <a:buNone/>
            </a:pPr>
            <a:r>
              <a:rPr lang="en-US" sz="1050" b="1" dirty="0">
                <a:solidFill>
                  <a:srgbClr val="543110"/>
                </a:solidFill>
                <a:latin typeface="Poppins" pitchFamily="34" charset="0"/>
                <a:ea typeface="Poppins" pitchFamily="34" charset="-122"/>
                <a:cs typeface="Poppins" pitchFamily="34" charset="-120"/>
              </a:rPr>
              <a:t>Why re-split at all</a:t>
            </a:r>
            <a:endParaRPr lang="en-US" sz="1050" dirty="0"/>
          </a:p>
        </p:txBody>
      </p:sp>
      <p:sp>
        <p:nvSpPr>
          <p:cNvPr id="12" name="Text 9"/>
          <p:cNvSpPr txBox="1"/>
          <p:nvPr/>
        </p:nvSpPr>
        <p:spPr>
          <a:xfrm>
            <a:off x="667512" y="5486400"/>
            <a:ext cx="3267456" cy="548640"/>
          </a:xfrm>
          <a:prstGeom prst="rect">
            <a:avLst/>
          </a:prstGeom>
          <a:noFill/>
          <a:ln/>
        </p:spPr>
        <p:txBody>
          <a:bodyPr wrap="square" lIns="0" tIns="0" rIns="0" bIns="0" rtlCol="0" anchor="ctr"/>
          <a:lstStyle/>
          <a:p>
            <a:pPr indent="0" marL="0">
              <a:lnSpc>
                <a:spcPct val="114000"/>
              </a:lnSpc>
              <a:buNone/>
            </a:pPr>
            <a:r>
              <a:rPr lang="en-US" sz="850" dirty="0">
                <a:solidFill>
                  <a:srgbClr val="543110"/>
                </a:solidFill>
                <a:latin typeface="Poppins" pitchFamily="34" charset="0"/>
                <a:ea typeface="Poppins" pitchFamily="34" charset="-122"/>
                <a:cs typeface="Poppins" pitchFamily="34" charset="-120"/>
              </a:rPr>
              <a:t>With 81 recordings, the split moves the answer more than the estimator does. So it is drawn a hundred times.</a:t>
            </a:r>
            <a:endParaRPr lang="en-US" sz="850" dirty="0"/>
          </a:p>
        </p:txBody>
      </p:sp>
      <p:sp>
        <p:nvSpPr>
          <p:cNvPr id="13" name="Shape 10"/>
          <p:cNvSpPr/>
          <p:nvPr/>
        </p:nvSpPr>
        <p:spPr>
          <a:xfrm>
            <a:off x="4282440" y="5175504"/>
            <a:ext cx="3596640" cy="932688"/>
          </a:xfrm>
          <a:prstGeom prst="roundRect">
            <a:avLst>
              <a:gd name="adj" fmla="val 5882"/>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14" name="Text 11"/>
          <p:cNvSpPr txBox="1"/>
          <p:nvPr/>
        </p:nvSpPr>
        <p:spPr>
          <a:xfrm>
            <a:off x="4447032" y="5248656"/>
            <a:ext cx="3267456" cy="219456"/>
          </a:xfrm>
          <a:prstGeom prst="rect">
            <a:avLst/>
          </a:prstGeom>
          <a:noFill/>
          <a:ln/>
        </p:spPr>
        <p:txBody>
          <a:bodyPr wrap="square" lIns="0" tIns="0" rIns="0" bIns="0" rtlCol="0" anchor="ctr"/>
          <a:lstStyle/>
          <a:p>
            <a:pPr indent="0" marL="0">
              <a:buNone/>
            </a:pPr>
            <a:r>
              <a:rPr lang="en-US" sz="1050" b="1" dirty="0">
                <a:solidFill>
                  <a:srgbClr val="543110"/>
                </a:solidFill>
                <a:latin typeface="Poppins" pitchFamily="34" charset="0"/>
                <a:ea typeface="Poppins" pitchFamily="34" charset="-122"/>
                <a:cs typeface="Poppins" pitchFamily="34" charset="-120"/>
              </a:rPr>
              <a:t>What the boxes say</a:t>
            </a:r>
            <a:endParaRPr lang="en-US" sz="1050" dirty="0"/>
          </a:p>
        </p:txBody>
      </p:sp>
      <p:sp>
        <p:nvSpPr>
          <p:cNvPr id="15" name="Text 12"/>
          <p:cNvSpPr txBox="1"/>
          <p:nvPr/>
        </p:nvSpPr>
        <p:spPr>
          <a:xfrm>
            <a:off x="4447032" y="5486400"/>
            <a:ext cx="3267456" cy="548640"/>
          </a:xfrm>
          <a:prstGeom prst="rect">
            <a:avLst/>
          </a:prstGeom>
          <a:noFill/>
          <a:ln/>
        </p:spPr>
        <p:txBody>
          <a:bodyPr wrap="square" lIns="0" tIns="0" rIns="0" bIns="0" rtlCol="0" anchor="ctr"/>
          <a:lstStyle/>
          <a:p>
            <a:pPr indent="0" marL="0">
              <a:lnSpc>
                <a:spcPct val="114000"/>
              </a:lnSpc>
              <a:buNone/>
            </a:pPr>
            <a:r>
              <a:rPr lang="en-US" sz="850" dirty="0">
                <a:solidFill>
                  <a:srgbClr val="543110"/>
                </a:solidFill>
                <a:latin typeface="Poppins" pitchFamily="34" charset="0"/>
                <a:ea typeface="Poppins" pitchFamily="34" charset="-122"/>
                <a:cs typeface="Poppins" pitchFamily="34" charset="-120"/>
              </a:rPr>
              <a:t>Gradient boosting leads on all four, with the shortest box on every one.</a:t>
            </a:r>
            <a:endParaRPr lang="en-US" sz="850" dirty="0"/>
          </a:p>
        </p:txBody>
      </p:sp>
      <p:sp>
        <p:nvSpPr>
          <p:cNvPr id="16" name="Shape 13"/>
          <p:cNvSpPr/>
          <p:nvPr/>
        </p:nvSpPr>
        <p:spPr>
          <a:xfrm>
            <a:off x="8061960" y="5175504"/>
            <a:ext cx="3596640" cy="932688"/>
          </a:xfrm>
          <a:prstGeom prst="roundRect">
            <a:avLst>
              <a:gd name="adj" fmla="val 5882"/>
            </a:avLst>
          </a:prstGeom>
          <a:solidFill>
            <a:srgbClr val="F6E4DC"/>
          </a:solidFill>
          <a:ln w="12700">
            <a:solidFill>
              <a:srgbClr val="A3301F"/>
            </a:solidFill>
            <a:prstDash val="solid"/>
          </a:ln>
          <a:effectLst>
            <a:outerShdw sx="100000" sy="100000" kx="0" ky="0" algn="bl" rotWithShape="0" blurRad="127000" dist="25400" dir="5400000">
              <a:srgbClr val="3D1700">
                <a:alpha val="13000"/>
              </a:srgbClr>
            </a:outerShdw>
          </a:effectLst>
        </p:spPr>
      </p:sp>
      <p:sp>
        <p:nvSpPr>
          <p:cNvPr id="17" name="Text 14"/>
          <p:cNvSpPr txBox="1"/>
          <p:nvPr/>
        </p:nvSpPr>
        <p:spPr>
          <a:xfrm>
            <a:off x="8226552" y="5248656"/>
            <a:ext cx="3267456" cy="219456"/>
          </a:xfrm>
          <a:prstGeom prst="rect">
            <a:avLst/>
          </a:prstGeom>
          <a:noFill/>
          <a:ln/>
        </p:spPr>
        <p:txBody>
          <a:bodyPr wrap="square" lIns="0" tIns="0" rIns="0" bIns="0" rtlCol="0" anchor="ctr"/>
          <a:lstStyle/>
          <a:p>
            <a:pPr indent="0" marL="0">
              <a:buNone/>
            </a:pPr>
            <a:r>
              <a:rPr lang="en-US" sz="1050" b="1" dirty="0">
                <a:solidFill>
                  <a:srgbClr val="A3301F"/>
                </a:solidFill>
                <a:latin typeface="Poppins" pitchFamily="34" charset="0"/>
                <a:ea typeface="Poppins" pitchFamily="34" charset="-122"/>
                <a:cs typeface="Poppins" pitchFamily="34" charset="-120"/>
              </a:rPr>
              <a:t>What they do not say</a:t>
            </a:r>
            <a:endParaRPr lang="en-US" sz="1050" dirty="0"/>
          </a:p>
        </p:txBody>
      </p:sp>
      <p:sp>
        <p:nvSpPr>
          <p:cNvPr id="18" name="Text 15"/>
          <p:cNvSpPr txBox="1"/>
          <p:nvPr/>
        </p:nvSpPr>
        <p:spPr>
          <a:xfrm>
            <a:off x="8226552" y="5486400"/>
            <a:ext cx="3267456" cy="548640"/>
          </a:xfrm>
          <a:prstGeom prst="rect">
            <a:avLst/>
          </a:prstGeom>
          <a:noFill/>
          <a:ln/>
        </p:spPr>
        <p:txBody>
          <a:bodyPr wrap="square" lIns="0" tIns="0" rIns="0" bIns="0" rtlCol="0" anchor="ctr"/>
          <a:lstStyle/>
          <a:p>
            <a:pPr indent="0" marL="0">
              <a:lnSpc>
                <a:spcPct val="114000"/>
              </a:lnSpc>
              <a:buNone/>
            </a:pPr>
            <a:r>
              <a:rPr lang="en-US" sz="850" dirty="0">
                <a:solidFill>
                  <a:srgbClr val="6B2015"/>
                </a:solidFill>
                <a:latin typeface="Poppins" pitchFamily="34" charset="0"/>
                <a:ea typeface="Poppins" pitchFamily="34" charset="-122"/>
                <a:cs typeface="Poppins" pitchFamily="34" charset="-120"/>
              </a:rPr>
              <a:t>Every dot is one mounting, one session. Stable under re-splitting is not the same as general.</a:t>
            </a:r>
            <a:endParaRPr lang="en-US" sz="850" dirty="0"/>
          </a:p>
        </p:txBody>
      </p:sp>
      <p:sp>
        <p:nvSpPr>
          <p:cNvPr id="19" name="Text 16"/>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7A5A3F"/>
                </a:solidFill>
                <a:latin typeface="Poppins" pitchFamily="34" charset="0"/>
                <a:ea typeface="Poppins" pitchFamily="34" charset="-122"/>
                <a:cs typeface="Poppins" pitchFamily="34" charset="-120"/>
              </a:rPr>
              <a:t>Grouped 5-fold, 100 repeats per estimator — 1,500 fits, from our own benchmark output.</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D1700"/>
        </a:solidFill>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C9AE86"/>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C9AE86"/>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6B4423"/>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FDF8EA"/>
                </a:solidFill>
                <a:latin typeface="Poppins" pitchFamily="34" charset="0"/>
                <a:ea typeface="Poppins" pitchFamily="34" charset="-122"/>
                <a:cs typeface="Poppins" pitchFamily="34" charset="-120"/>
              </a:rPr>
              <a:t>Results (4/4)</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C9AE86"/>
                </a:solidFill>
                <a:latin typeface="Poppins" pitchFamily="34" charset="0"/>
                <a:ea typeface="Poppins" pitchFamily="34" charset="-122"/>
                <a:cs typeface="Poppins" pitchFamily="34" charset="-120"/>
              </a:rPr>
              <a:t>What this does not yet show</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8A6A4F"/>
                </a:solidFill>
                <a:latin typeface="Poppins" pitchFamily="34" charset="0"/>
                <a:ea typeface="Poppins" pitchFamily="34" charset="-122"/>
                <a:cs typeface="Poppins" pitchFamily="34" charset="-120"/>
              </a:rPr>
              <a:t>18</a:t>
            </a:r>
            <a:endParaRPr lang="en-US" sz="1500" dirty="0"/>
          </a:p>
        </p:txBody>
      </p:sp>
      <p:graphicFrame>
        <p:nvGraphicFramePr>
          <p:cNvPr id="8" name="Chart 0" descr=""/>
          <p:cNvGraphicFramePr/>
          <p:nvPr/>
        </p:nvGraphicFramePr>
        <p:xfrm>
          <a:off x="502920" y="1417320"/>
          <a:ext cx="5486400" cy="22402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02920" y="3712464"/>
            <a:ext cx="5486400" cy="676656"/>
          </a:xfrm>
          <a:prstGeom prst="rect">
            <a:avLst/>
          </a:prstGeom>
          <a:noFill/>
          <a:ln/>
        </p:spPr>
        <p:txBody>
          <a:bodyPr wrap="square" lIns="0" tIns="0" rIns="0" bIns="0" rtlCol="0" anchor="ctr"/>
          <a:lstStyle/>
          <a:p>
            <a:pPr indent="0" marL="0">
              <a:lnSpc>
                <a:spcPct val="116000"/>
              </a:lnSpc>
              <a:buNone/>
            </a:pPr>
            <a:r>
              <a:rPr lang="en-US" sz="1000" dirty="0">
                <a:solidFill>
                  <a:srgbClr val="C9AE86"/>
                </a:solidFill>
                <a:latin typeface="Poppins" pitchFamily="34" charset="0"/>
                <a:ea typeface="Poppins" pitchFamily="34" charset="-122"/>
                <a:cs typeface="Poppins" pitchFamily="34" charset="-120"/>
              </a:rPr>
              <a:t>How far the reading falls when the dressing leaves the skin. The threshold is 300 counts.</a:t>
            </a:r>
            <a:endParaRPr lang="en-US" sz="1000" dirty="0"/>
          </a:p>
        </p:txBody>
      </p:sp>
      <p:sp>
        <p:nvSpPr>
          <p:cNvPr id="10" name="Shape 7"/>
          <p:cNvSpPr/>
          <p:nvPr/>
        </p:nvSpPr>
        <p:spPr>
          <a:xfrm>
            <a:off x="6263640" y="1417320"/>
            <a:ext cx="5394960" cy="1005840"/>
          </a:xfrm>
          <a:prstGeom prst="roundRect">
            <a:avLst>
              <a:gd name="adj" fmla="val 5455"/>
            </a:avLst>
          </a:prstGeom>
          <a:solidFill>
            <a:srgbClr val="543110"/>
          </a:solidFill>
          <a:ln w="12700">
            <a:solidFill>
              <a:srgbClr val="6B4423"/>
            </a:solidFill>
            <a:prstDash val="solid"/>
          </a:ln>
          <a:effectLst>
            <a:outerShdw sx="100000" sy="100000" kx="0" ky="0" algn="bl" rotWithShape="0" blurRad="127000" dist="25400" dir="5400000">
              <a:srgbClr val="3D1700">
                <a:alpha val="13000"/>
              </a:srgbClr>
            </a:outerShdw>
          </a:effectLst>
        </p:spPr>
      </p:sp>
      <p:sp>
        <p:nvSpPr>
          <p:cNvPr id="11" name="Shape 8"/>
          <p:cNvSpPr/>
          <p:nvPr/>
        </p:nvSpPr>
        <p:spPr>
          <a:xfrm>
            <a:off x="6419088" y="1554480"/>
            <a:ext cx="237744" cy="237744"/>
          </a:xfrm>
          <a:prstGeom prst="ellipse">
            <a:avLst/>
          </a:prstGeom>
          <a:solidFill>
            <a:srgbClr val="A3301F"/>
          </a:solidFill>
          <a:ln w="12700">
            <a:solidFill>
              <a:srgbClr val="333333"/>
            </a:solidFill>
            <a:prstDash val="solid"/>
          </a:ln>
        </p:spPr>
      </p:sp>
      <p:sp>
        <p:nvSpPr>
          <p:cNvPr id="12" name="Text 9"/>
          <p:cNvSpPr txBox="1"/>
          <p:nvPr/>
        </p:nvSpPr>
        <p:spPr>
          <a:xfrm>
            <a:off x="6419088" y="1554480"/>
            <a:ext cx="237744" cy="237744"/>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1</a:t>
            </a:r>
            <a:endParaRPr lang="en-US" sz="900" dirty="0"/>
          </a:p>
        </p:txBody>
      </p:sp>
      <p:sp>
        <p:nvSpPr>
          <p:cNvPr id="13" name="Text 10"/>
          <p:cNvSpPr txBox="1"/>
          <p:nvPr/>
        </p:nvSpPr>
        <p:spPr>
          <a:xfrm>
            <a:off x="6766560" y="1536192"/>
            <a:ext cx="4800600" cy="256032"/>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Horizontal detachment is invisible to this patch</a:t>
            </a:r>
            <a:endParaRPr lang="en-US" sz="1050" dirty="0"/>
          </a:p>
        </p:txBody>
      </p:sp>
      <p:sp>
        <p:nvSpPr>
          <p:cNvPr id="14" name="Text 11"/>
          <p:cNvSpPr txBox="1"/>
          <p:nvPr/>
        </p:nvSpPr>
        <p:spPr>
          <a:xfrm>
            <a:off x="6766560" y="1810512"/>
            <a:ext cx="4800600" cy="548640"/>
          </a:xfrm>
          <a:prstGeom prst="rect">
            <a:avLst/>
          </a:prstGeom>
          <a:noFill/>
          <a:ln/>
        </p:spPr>
        <p:txBody>
          <a:bodyPr wrap="square" lIns="0" tIns="0" rIns="0" bIns="0" rtlCol="0" anchor="ctr"/>
          <a:lstStyle/>
          <a:p>
            <a:pPr indent="0" marL="0">
              <a:lnSpc>
                <a:spcPct val="114000"/>
              </a:lnSpc>
              <a:buNone/>
            </a:pPr>
            <a:r>
              <a:rPr lang="en-US" sz="1000" dirty="0">
                <a:solidFill>
                  <a:srgbClr val="C9AE86"/>
                </a:solidFill>
                <a:latin typeface="Poppins" pitchFamily="34" charset="0"/>
                <a:ea typeface="Poppins" pitchFamily="34" charset="-122"/>
                <a:cs typeface="Poppins" pitchFamily="34" charset="-120"/>
              </a:rPr>
              <a:t>No lift signal at all. Whatever is flagged there is flagged as a press.</a:t>
            </a:r>
            <a:endParaRPr lang="en-US" sz="1000" dirty="0"/>
          </a:p>
        </p:txBody>
      </p:sp>
      <p:sp>
        <p:nvSpPr>
          <p:cNvPr id="15" name="Shape 12"/>
          <p:cNvSpPr/>
          <p:nvPr/>
        </p:nvSpPr>
        <p:spPr>
          <a:xfrm>
            <a:off x="6263640" y="2514600"/>
            <a:ext cx="5394960" cy="1005840"/>
          </a:xfrm>
          <a:prstGeom prst="roundRect">
            <a:avLst>
              <a:gd name="adj" fmla="val 5455"/>
            </a:avLst>
          </a:prstGeom>
          <a:solidFill>
            <a:srgbClr val="543110"/>
          </a:solidFill>
          <a:ln w="12700">
            <a:solidFill>
              <a:srgbClr val="6B4423"/>
            </a:solidFill>
            <a:prstDash val="solid"/>
          </a:ln>
          <a:effectLst>
            <a:outerShdw sx="100000" sy="100000" kx="0" ky="0" algn="bl" rotWithShape="0" blurRad="127000" dist="25400" dir="5400000">
              <a:srgbClr val="3D1700">
                <a:alpha val="13000"/>
              </a:srgbClr>
            </a:outerShdw>
          </a:effectLst>
        </p:spPr>
      </p:sp>
      <p:sp>
        <p:nvSpPr>
          <p:cNvPr id="16" name="Shape 13"/>
          <p:cNvSpPr/>
          <p:nvPr/>
        </p:nvSpPr>
        <p:spPr>
          <a:xfrm>
            <a:off x="6419088" y="2651760"/>
            <a:ext cx="237744" cy="237744"/>
          </a:xfrm>
          <a:prstGeom prst="ellipse">
            <a:avLst/>
          </a:prstGeom>
          <a:solidFill>
            <a:srgbClr val="A3301F"/>
          </a:solidFill>
          <a:ln w="12700">
            <a:solidFill>
              <a:srgbClr val="333333"/>
            </a:solidFill>
            <a:prstDash val="solid"/>
          </a:ln>
        </p:spPr>
      </p:sp>
      <p:sp>
        <p:nvSpPr>
          <p:cNvPr id="17" name="Text 14"/>
          <p:cNvSpPr txBox="1"/>
          <p:nvPr/>
        </p:nvSpPr>
        <p:spPr>
          <a:xfrm>
            <a:off x="6419088" y="2651760"/>
            <a:ext cx="237744" cy="237744"/>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2</a:t>
            </a:r>
            <a:endParaRPr lang="en-US" sz="900" dirty="0"/>
          </a:p>
        </p:txBody>
      </p:sp>
      <p:sp>
        <p:nvSpPr>
          <p:cNvPr id="18" name="Text 15"/>
          <p:cNvSpPr txBox="1"/>
          <p:nvPr/>
        </p:nvSpPr>
        <p:spPr>
          <a:xfrm>
            <a:off x="6766560" y="2633472"/>
            <a:ext cx="4800600" cy="256032"/>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One session, one mounting</a:t>
            </a:r>
            <a:endParaRPr lang="en-US" sz="1050" dirty="0"/>
          </a:p>
        </p:txBody>
      </p:sp>
      <p:sp>
        <p:nvSpPr>
          <p:cNvPr id="19" name="Text 16"/>
          <p:cNvSpPr txBox="1"/>
          <p:nvPr/>
        </p:nvSpPr>
        <p:spPr>
          <a:xfrm>
            <a:off x="6766560" y="2907792"/>
            <a:ext cx="4800600" cy="548640"/>
          </a:xfrm>
          <a:prstGeom prst="rect">
            <a:avLst/>
          </a:prstGeom>
          <a:noFill/>
          <a:ln/>
        </p:spPr>
        <p:txBody>
          <a:bodyPr wrap="square" lIns="0" tIns="0" rIns="0" bIns="0" rtlCol="0" anchor="ctr"/>
          <a:lstStyle/>
          <a:p>
            <a:pPr indent="0" marL="0">
              <a:lnSpc>
                <a:spcPct val="114000"/>
              </a:lnSpc>
              <a:buNone/>
            </a:pPr>
            <a:r>
              <a:rPr lang="en-US" sz="1000" dirty="0">
                <a:solidFill>
                  <a:srgbClr val="C9AE86"/>
                </a:solidFill>
                <a:latin typeface="Poppins" pitchFamily="34" charset="0"/>
                <a:ea typeface="Poppins" pitchFamily="34" charset="-122"/>
                <a:cs typeface="Poppins" pitchFamily="34" charset="-120"/>
              </a:rPr>
              <a:t>All 81 recordings share one attachment. Nothing shows it survives re-application.</a:t>
            </a:r>
            <a:endParaRPr lang="en-US" sz="1000" dirty="0"/>
          </a:p>
        </p:txBody>
      </p:sp>
      <p:sp>
        <p:nvSpPr>
          <p:cNvPr id="20" name="Shape 17"/>
          <p:cNvSpPr/>
          <p:nvPr/>
        </p:nvSpPr>
        <p:spPr>
          <a:xfrm>
            <a:off x="6263640" y="3611880"/>
            <a:ext cx="5394960" cy="1005840"/>
          </a:xfrm>
          <a:prstGeom prst="roundRect">
            <a:avLst>
              <a:gd name="adj" fmla="val 5455"/>
            </a:avLst>
          </a:prstGeom>
          <a:solidFill>
            <a:srgbClr val="543110"/>
          </a:solidFill>
          <a:ln w="12700">
            <a:solidFill>
              <a:srgbClr val="6B4423"/>
            </a:solidFill>
            <a:prstDash val="solid"/>
          </a:ln>
          <a:effectLst>
            <a:outerShdw sx="100000" sy="100000" kx="0" ky="0" algn="bl" rotWithShape="0" blurRad="127000" dist="25400" dir="5400000">
              <a:srgbClr val="3D1700">
                <a:alpha val="13000"/>
              </a:srgbClr>
            </a:outerShdw>
          </a:effectLst>
        </p:spPr>
      </p:sp>
      <p:sp>
        <p:nvSpPr>
          <p:cNvPr id="21" name="Shape 18"/>
          <p:cNvSpPr/>
          <p:nvPr/>
        </p:nvSpPr>
        <p:spPr>
          <a:xfrm>
            <a:off x="6419088" y="3749040"/>
            <a:ext cx="237744" cy="237744"/>
          </a:xfrm>
          <a:prstGeom prst="ellipse">
            <a:avLst/>
          </a:prstGeom>
          <a:solidFill>
            <a:srgbClr val="A3301F"/>
          </a:solidFill>
          <a:ln w="12700">
            <a:solidFill>
              <a:srgbClr val="333333"/>
            </a:solidFill>
            <a:prstDash val="solid"/>
          </a:ln>
        </p:spPr>
      </p:sp>
      <p:sp>
        <p:nvSpPr>
          <p:cNvPr id="22" name="Text 19"/>
          <p:cNvSpPr txBox="1"/>
          <p:nvPr/>
        </p:nvSpPr>
        <p:spPr>
          <a:xfrm>
            <a:off x="6419088" y="3749040"/>
            <a:ext cx="237744" cy="237744"/>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3</a:t>
            </a:r>
            <a:endParaRPr lang="en-US" sz="900" dirty="0"/>
          </a:p>
        </p:txBody>
      </p:sp>
      <p:sp>
        <p:nvSpPr>
          <p:cNvPr id="23" name="Text 20"/>
          <p:cNvSpPr txBox="1"/>
          <p:nvPr/>
        </p:nvSpPr>
        <p:spPr>
          <a:xfrm>
            <a:off x="6766560" y="3730752"/>
            <a:ext cx="4800600" cy="256032"/>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The alarm setting is tuned in-sample</a:t>
            </a:r>
            <a:endParaRPr lang="en-US" sz="1050" dirty="0"/>
          </a:p>
        </p:txBody>
      </p:sp>
      <p:sp>
        <p:nvSpPr>
          <p:cNvPr id="24" name="Text 21"/>
          <p:cNvSpPr txBox="1"/>
          <p:nvPr/>
        </p:nvSpPr>
        <p:spPr>
          <a:xfrm>
            <a:off x="6766560" y="4005072"/>
            <a:ext cx="4800600" cy="548640"/>
          </a:xfrm>
          <a:prstGeom prst="rect">
            <a:avLst/>
          </a:prstGeom>
          <a:noFill/>
          <a:ln/>
        </p:spPr>
        <p:txBody>
          <a:bodyPr wrap="square" lIns="0" tIns="0" rIns="0" bIns="0" rtlCol="0" anchor="ctr"/>
          <a:lstStyle/>
          <a:p>
            <a:pPr indent="0" marL="0">
              <a:lnSpc>
                <a:spcPct val="114000"/>
              </a:lnSpc>
              <a:buNone/>
            </a:pPr>
            <a:r>
              <a:rPr lang="en-US" sz="1000" dirty="0">
                <a:solidFill>
                  <a:srgbClr val="C9AE86"/>
                </a:solidFill>
                <a:latin typeface="Poppins" pitchFamily="34" charset="0"/>
                <a:ea typeface="Poppins" pitchFamily="34" charset="-122"/>
                <a:cs typeface="Poppins" pitchFamily="34" charset="-120"/>
              </a:rPr>
              <a:t>Chosen on this corpus. It must be measured on round 2 without retuning.</a:t>
            </a:r>
            <a:endParaRPr lang="en-US" sz="1000" dirty="0"/>
          </a:p>
        </p:txBody>
      </p:sp>
      <p:sp>
        <p:nvSpPr>
          <p:cNvPr id="25" name="Shape 22"/>
          <p:cNvSpPr/>
          <p:nvPr/>
        </p:nvSpPr>
        <p:spPr>
          <a:xfrm>
            <a:off x="6263640" y="4709160"/>
            <a:ext cx="5394960" cy="1005840"/>
          </a:xfrm>
          <a:prstGeom prst="roundRect">
            <a:avLst>
              <a:gd name="adj" fmla="val 5455"/>
            </a:avLst>
          </a:prstGeom>
          <a:solidFill>
            <a:srgbClr val="543110"/>
          </a:solidFill>
          <a:ln w="12700">
            <a:solidFill>
              <a:srgbClr val="6B4423"/>
            </a:solidFill>
            <a:prstDash val="solid"/>
          </a:ln>
          <a:effectLst>
            <a:outerShdw sx="100000" sy="100000" kx="0" ky="0" algn="bl" rotWithShape="0" blurRad="127000" dist="25400" dir="5400000">
              <a:srgbClr val="3D1700">
                <a:alpha val="13000"/>
              </a:srgbClr>
            </a:outerShdw>
          </a:effectLst>
        </p:spPr>
      </p:sp>
      <p:sp>
        <p:nvSpPr>
          <p:cNvPr id="26" name="Shape 23"/>
          <p:cNvSpPr/>
          <p:nvPr/>
        </p:nvSpPr>
        <p:spPr>
          <a:xfrm>
            <a:off x="6419088" y="4846320"/>
            <a:ext cx="237744" cy="237744"/>
          </a:xfrm>
          <a:prstGeom prst="ellipse">
            <a:avLst/>
          </a:prstGeom>
          <a:solidFill>
            <a:srgbClr val="A3301F"/>
          </a:solidFill>
          <a:ln w="12700">
            <a:solidFill>
              <a:srgbClr val="333333"/>
            </a:solidFill>
            <a:prstDash val="solid"/>
          </a:ln>
        </p:spPr>
      </p:sp>
      <p:sp>
        <p:nvSpPr>
          <p:cNvPr id="27" name="Text 24"/>
          <p:cNvSpPr txBox="1"/>
          <p:nvPr/>
        </p:nvSpPr>
        <p:spPr>
          <a:xfrm>
            <a:off x="6419088" y="4846320"/>
            <a:ext cx="237744" cy="237744"/>
          </a:xfrm>
          <a:prstGeom prst="rect">
            <a:avLst/>
          </a:prstGeom>
          <a:noFill/>
          <a:ln/>
        </p:spPr>
        <p:txBody>
          <a:bodyPr wrap="square" lIns="0" tIns="0" rIns="0" bIns="0" rtlCol="0" anchor="ctr"/>
          <a:lstStyle/>
          <a:p>
            <a:pPr algn="ctr" indent="0" marL="0">
              <a:buNone/>
            </a:pPr>
            <a:r>
              <a:rPr lang="en-US" sz="900" b="1" dirty="0">
                <a:solidFill>
                  <a:srgbClr val="FDF8EA"/>
                </a:solidFill>
                <a:latin typeface="Poppins" pitchFamily="34" charset="0"/>
                <a:ea typeface="Poppins" pitchFamily="34" charset="-122"/>
                <a:cs typeface="Poppins" pitchFamily="34" charset="-120"/>
              </a:rPr>
              <a:t>4</a:t>
            </a:r>
            <a:endParaRPr lang="en-US" sz="900" dirty="0"/>
          </a:p>
        </p:txBody>
      </p:sp>
      <p:sp>
        <p:nvSpPr>
          <p:cNvPr id="28" name="Text 25"/>
          <p:cNvSpPr txBox="1"/>
          <p:nvPr/>
        </p:nvSpPr>
        <p:spPr>
          <a:xfrm>
            <a:off x="6766560" y="4828032"/>
            <a:ext cx="4800600" cy="256032"/>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Spatial output from live hardware is unverified</a:t>
            </a:r>
            <a:endParaRPr lang="en-US" sz="1050" dirty="0"/>
          </a:p>
        </p:txBody>
      </p:sp>
      <p:sp>
        <p:nvSpPr>
          <p:cNvPr id="29" name="Text 26"/>
          <p:cNvSpPr txBox="1"/>
          <p:nvPr/>
        </p:nvSpPr>
        <p:spPr>
          <a:xfrm>
            <a:off x="6766560" y="5102352"/>
            <a:ext cx="4800600" cy="548640"/>
          </a:xfrm>
          <a:prstGeom prst="rect">
            <a:avLst/>
          </a:prstGeom>
          <a:noFill/>
          <a:ln/>
        </p:spPr>
        <p:txBody>
          <a:bodyPr wrap="square" lIns="0" tIns="0" rIns="0" bIns="0" rtlCol="0" anchor="ctr"/>
          <a:lstStyle/>
          <a:p>
            <a:pPr indent="0" marL="0">
              <a:lnSpc>
                <a:spcPct val="114000"/>
              </a:lnSpc>
              <a:buNone/>
            </a:pPr>
            <a:r>
              <a:rPr lang="en-US" sz="1000" dirty="0">
                <a:solidFill>
                  <a:srgbClr val="C9AE86"/>
                </a:solidFill>
                <a:latin typeface="Poppins" pitchFamily="34" charset="0"/>
                <a:ea typeface="Poppins" pitchFamily="34" charset="-122"/>
                <a:cs typeface="Poppins" pitchFamily="34" charset="-120"/>
              </a:rPr>
              <a:t>Confirmed for the recorded corpus, never through the live path.</a:t>
            </a:r>
            <a:endParaRPr lang="en-US" sz="1000" dirty="0"/>
          </a:p>
        </p:txBody>
      </p:sp>
      <p:sp>
        <p:nvSpPr>
          <p:cNvPr id="30" name="Shape 27"/>
          <p:cNvSpPr/>
          <p:nvPr/>
        </p:nvSpPr>
        <p:spPr>
          <a:xfrm>
            <a:off x="502920" y="4480560"/>
            <a:ext cx="5486400" cy="1627632"/>
          </a:xfrm>
          <a:prstGeom prst="roundRect">
            <a:avLst>
              <a:gd name="adj" fmla="val 3371"/>
            </a:avLst>
          </a:prstGeom>
          <a:solidFill>
            <a:srgbClr val="543110"/>
          </a:solidFill>
          <a:ln w="12700">
            <a:solidFill>
              <a:srgbClr val="6B4423"/>
            </a:solidFill>
            <a:prstDash val="solid"/>
          </a:ln>
          <a:effectLst>
            <a:outerShdw sx="100000" sy="100000" kx="0" ky="0" algn="bl" rotWithShape="0" blurRad="127000" dist="25400" dir="5400000">
              <a:srgbClr val="3D1700">
                <a:alpha val="13000"/>
              </a:srgbClr>
            </a:outerShdw>
          </a:effectLst>
        </p:spPr>
      </p:sp>
      <p:sp>
        <p:nvSpPr>
          <p:cNvPr id="31" name="Text 28"/>
          <p:cNvSpPr txBox="1"/>
          <p:nvPr/>
        </p:nvSpPr>
        <p:spPr>
          <a:xfrm>
            <a:off x="685800" y="4590288"/>
            <a:ext cx="5120640" cy="256032"/>
          </a:xfrm>
          <a:prstGeom prst="rect">
            <a:avLst/>
          </a:prstGeom>
          <a:noFill/>
          <a:ln/>
        </p:spPr>
        <p:txBody>
          <a:bodyPr wrap="square" lIns="0" tIns="0" rIns="0" bIns="0" rtlCol="0" anchor="ctr"/>
          <a:lstStyle/>
          <a:p>
            <a:pPr indent="0" marL="0">
              <a:buNone/>
            </a:pPr>
            <a:r>
              <a:rPr lang="en-US" sz="1200" b="1" dirty="0">
                <a:solidFill>
                  <a:srgbClr val="3E6C8A"/>
                </a:solidFill>
                <a:latin typeface="Poppins" pitchFamily="34" charset="0"/>
                <a:ea typeface="Poppins" pitchFamily="34" charset="-122"/>
                <a:cs typeface="Poppins" pitchFamily="34" charset="-120"/>
              </a:rPr>
              <a:t>This is continuity, not a new failure</a:t>
            </a:r>
            <a:endParaRPr lang="en-US" sz="1200" dirty="0"/>
          </a:p>
        </p:txBody>
      </p:sp>
      <p:sp>
        <p:nvSpPr>
          <p:cNvPr id="32" name="Text 29"/>
          <p:cNvSpPr txBox="1"/>
          <p:nvPr/>
        </p:nvSpPr>
        <p:spPr>
          <a:xfrm>
            <a:off x="685800" y="4873752"/>
            <a:ext cx="5120640" cy="1170432"/>
          </a:xfrm>
          <a:prstGeom prst="rect">
            <a:avLst/>
          </a:prstGeom>
          <a:noFill/>
          <a:ln/>
        </p:spPr>
        <p:txBody>
          <a:bodyPr wrap="square" lIns="0" tIns="0" rIns="0" bIns="0" rtlCol="0" anchor="ctr"/>
          <a:lstStyle/>
          <a:p>
            <a:pPr indent="0" marL="0">
              <a:lnSpc>
                <a:spcPct val="117000"/>
              </a:lnSpc>
              <a:buNone/>
            </a:pPr>
            <a:r>
              <a:rPr lang="en-US" sz="950" dirty="0">
                <a:solidFill>
                  <a:srgbClr val="F5EBD8"/>
                </a:solidFill>
                <a:latin typeface="Poppins" pitchFamily="34" charset="0"/>
                <a:ea typeface="Poppins" pitchFamily="34" charset="-122"/>
                <a:cs typeface="Poppins" pitchFamily="34" charset="-120"/>
              </a:rPr>
              <a:t>Our own earlier autoencoder reported F1 0.882 vertical against 0.833 horizontal, with false detections.</a:t>
            </a:r>
            <a:endParaRPr lang="en-US" sz="950" dirty="0"/>
          </a:p>
          <a:p>
            <a:pPr indent="0" marL="0">
              <a:lnSpc>
                <a:spcPct val="117000"/>
              </a:lnSpc>
              <a:buNone/>
            </a:pPr>
            <a:endParaRPr lang="en-US" sz="950" dirty="0"/>
          </a:p>
          <a:p>
            <a:pPr indent="0" marL="0">
              <a:lnSpc>
                <a:spcPct val="117000"/>
              </a:lnSpc>
              <a:buNone/>
            </a:pPr>
            <a:r>
              <a:rPr lang="en-US" sz="950" dirty="0">
                <a:solidFill>
                  <a:srgbClr val="F5EBD8"/>
                </a:solidFill>
                <a:latin typeface="Poppins" pitchFamily="34" charset="0"/>
                <a:ea typeface="Poppins" pitchFamily="34" charset="-122"/>
                <a:cs typeface="Poppins" pitchFamily="34" charset="-120"/>
              </a:rPr>
              <a:t>Two independent methods, same hardware, same wall. The wall is the sensor.</a:t>
            </a:r>
            <a:endParaRPr lang="en-US" sz="950" dirty="0"/>
          </a:p>
        </p:txBody>
      </p:sp>
      <p:sp>
        <p:nvSpPr>
          <p:cNvPr id="33" name="Text 30"/>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C9AE86"/>
                </a:solidFill>
                <a:latin typeface="Poppins" pitchFamily="34" charset="0"/>
                <a:ea typeface="Poppins" pitchFamily="34" charset="-122"/>
                <a:cs typeface="Poppins" pitchFamily="34" charset="-120"/>
              </a:rPr>
              <a:t>Round-1 corpus; prior-method scores from our earlier autoencoder study.</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8A6A4F"/>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8A6A4F"/>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DFCEA9"/>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3D1700"/>
                </a:solidFill>
                <a:latin typeface="Poppins" pitchFamily="34" charset="0"/>
                <a:ea typeface="Poppins" pitchFamily="34" charset="-122"/>
                <a:cs typeface="Poppins" pitchFamily="34" charset="-120"/>
              </a:rPr>
              <a:t>Discussion</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7A5A3F"/>
                </a:solidFill>
                <a:latin typeface="Poppins" pitchFamily="34" charset="0"/>
                <a:ea typeface="Poppins" pitchFamily="34" charset="-122"/>
                <a:cs typeface="Poppins" pitchFamily="34" charset="-120"/>
              </a:rPr>
              <a:t>From relative delta to absolute capacitance</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DFCEA9"/>
                </a:solidFill>
                <a:latin typeface="Poppins" pitchFamily="34" charset="0"/>
                <a:ea typeface="Poppins" pitchFamily="34" charset="-122"/>
                <a:cs typeface="Poppins" pitchFamily="34" charset="-120"/>
              </a:rPr>
              <a:t>19</a:t>
            </a:r>
            <a:endParaRPr lang="en-US" sz="1500" dirty="0"/>
          </a:p>
        </p:txBody>
      </p:sp>
      <p:sp>
        <p:nvSpPr>
          <p:cNvPr id="8" name="Shape 6"/>
          <p:cNvSpPr/>
          <p:nvPr/>
        </p:nvSpPr>
        <p:spPr>
          <a:xfrm>
            <a:off x="502920" y="1417320"/>
            <a:ext cx="5486400" cy="3931920"/>
          </a:xfrm>
          <a:prstGeom prst="roundRect">
            <a:avLst>
              <a:gd name="adj" fmla="val 1395"/>
            </a:avLst>
          </a:prstGeom>
          <a:solidFill>
            <a:srgbClr val="FDF8EA"/>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9" name="Shape 7"/>
          <p:cNvSpPr/>
          <p:nvPr/>
        </p:nvSpPr>
        <p:spPr>
          <a:xfrm>
            <a:off x="731520" y="1600200"/>
            <a:ext cx="1371600" cy="274320"/>
          </a:xfrm>
          <a:prstGeom prst="roundRect">
            <a:avLst>
              <a:gd name="adj" fmla="val 50000"/>
            </a:avLst>
          </a:prstGeom>
          <a:solidFill>
            <a:srgbClr val="F4EAD2"/>
          </a:solidFill>
          <a:ln w="12700">
            <a:solidFill>
              <a:srgbClr val="B4762A"/>
            </a:solidFill>
            <a:prstDash val="solid"/>
          </a:ln>
        </p:spPr>
      </p:sp>
      <p:sp>
        <p:nvSpPr>
          <p:cNvPr id="10" name="Text 8"/>
          <p:cNvSpPr txBox="1"/>
          <p:nvPr/>
        </p:nvSpPr>
        <p:spPr>
          <a:xfrm>
            <a:off x="731520" y="1600200"/>
            <a:ext cx="1371600"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TODAY</a:t>
            </a:r>
            <a:endParaRPr lang="en-US" sz="900" dirty="0"/>
          </a:p>
        </p:txBody>
      </p:sp>
      <p:sp>
        <p:nvSpPr>
          <p:cNvPr id="11" name="Text 9"/>
          <p:cNvSpPr txBox="1"/>
          <p:nvPr/>
        </p:nvSpPr>
        <p:spPr>
          <a:xfrm>
            <a:off x="731520" y="1975104"/>
            <a:ext cx="5029200" cy="310896"/>
          </a:xfrm>
          <a:prstGeom prst="rect">
            <a:avLst/>
          </a:prstGeom>
          <a:noFill/>
          <a:ln/>
        </p:spPr>
        <p:txBody>
          <a:bodyPr wrap="square" lIns="0" tIns="0" rIns="0" bIns="0" rtlCol="0" anchor="ctr"/>
          <a:lstStyle/>
          <a:p>
            <a:pPr indent="0" marL="0">
              <a:buNone/>
            </a:pPr>
            <a:r>
              <a:rPr lang="en-US" sz="1700" b="1" dirty="0">
                <a:solidFill>
                  <a:srgbClr val="3D1700"/>
                </a:solidFill>
                <a:latin typeface="Poppins" pitchFamily="34" charset="0"/>
                <a:ea typeface="Poppins" pitchFamily="34" charset="-122"/>
                <a:cs typeface="Poppins" pitchFamily="34" charset="-120"/>
              </a:rPr>
              <a:t>Relative reading</a:t>
            </a:r>
            <a:endParaRPr lang="en-US" sz="1700" dirty="0"/>
          </a:p>
        </p:txBody>
      </p:sp>
      <p:sp>
        <p:nvSpPr>
          <p:cNvPr id="12" name="Text 10"/>
          <p:cNvSpPr txBox="1"/>
          <p:nvPr/>
        </p:nvSpPr>
        <p:spPr>
          <a:xfrm>
            <a:off x="731520" y="2322576"/>
            <a:ext cx="5029200" cy="621792"/>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Every pad is measured against a baseline taken at start-up — never an absolute value.</a:t>
            </a:r>
            <a:endParaRPr lang="en-US" sz="1050" dirty="0"/>
          </a:p>
        </p:txBody>
      </p:sp>
      <p:sp>
        <p:nvSpPr>
          <p:cNvPr id="13" name="Text 11"/>
          <p:cNvSpPr txBox="1"/>
          <p:nvPr/>
        </p:nvSpPr>
        <p:spPr>
          <a:xfrm>
            <a:off x="731520" y="3017520"/>
            <a:ext cx="5029200" cy="1371600"/>
          </a:xfrm>
          <a:prstGeom prst="rect">
            <a:avLst/>
          </a:prstGeom>
          <a:noFill/>
          <a:ln/>
        </p:spPr>
        <p:txBody>
          <a:bodyPr wrap="square" lIns="0" tIns="0" rIns="0" bIns="0" rtlCol="0" anchor="ctr"/>
          <a:lstStyle/>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Attached at power-on and detached at power-on give two references for one state.</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So it knows something changed, but not what state it began in.</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A patch already lifted at power-on reads as normal all session.</a:t>
            </a:r>
            <a:endParaRPr lang="en-US" sz="1000" dirty="0"/>
          </a:p>
        </p:txBody>
      </p:sp>
      <p:sp>
        <p:nvSpPr>
          <p:cNvPr id="14" name="Text 12"/>
          <p:cNvSpPr txBox="1"/>
          <p:nvPr/>
        </p:nvSpPr>
        <p:spPr>
          <a:xfrm>
            <a:off x="731520" y="4590288"/>
            <a:ext cx="5029200" cy="548640"/>
          </a:xfrm>
          <a:prstGeom prst="rect">
            <a:avLst/>
          </a:prstGeom>
          <a:noFill/>
          <a:ln/>
        </p:spPr>
        <p:txBody>
          <a:bodyPr wrap="square" lIns="0" tIns="0" rIns="0" bIns="0" rtlCol="0" anchor="ctr"/>
          <a:lstStyle/>
          <a:p>
            <a:pPr indent="0" marL="0">
              <a:lnSpc>
                <a:spcPct val="115000"/>
              </a:lnSpc>
              <a:buNone/>
            </a:pPr>
            <a:r>
              <a:rPr lang="en-US" sz="950" i="1" dirty="0">
                <a:solidFill>
                  <a:srgbClr val="7A5A3F"/>
                </a:solidFill>
                <a:latin typeface="Poppins" pitchFamily="34" charset="0"/>
                <a:ea typeface="Poppins" pitchFamily="34" charset="-122"/>
                <a:cs typeface="Poppins" pitchFamily="34" charset="-120"/>
              </a:rPr>
              <a:t>Resting attached ≈ 28,000 counts. Deepest anomaly measured: 27,251.</a:t>
            </a:r>
            <a:endParaRPr lang="en-US" sz="950" dirty="0"/>
          </a:p>
        </p:txBody>
      </p:sp>
      <p:sp>
        <p:nvSpPr>
          <p:cNvPr id="15" name="Shape 13"/>
          <p:cNvSpPr/>
          <p:nvPr/>
        </p:nvSpPr>
        <p:spPr>
          <a:xfrm>
            <a:off x="6309360" y="1417320"/>
            <a:ext cx="5349240" cy="3931920"/>
          </a:xfrm>
          <a:prstGeom prst="roundRect">
            <a:avLst>
              <a:gd name="adj" fmla="val 1395"/>
            </a:avLst>
          </a:prstGeom>
          <a:solidFill>
            <a:srgbClr val="EAF0E2"/>
          </a:solidFill>
          <a:ln w="12700">
            <a:solidFill>
              <a:srgbClr val="5A7247"/>
            </a:solidFill>
            <a:prstDash val="solid"/>
          </a:ln>
          <a:effectLst>
            <a:outerShdw sx="100000" sy="100000" kx="0" ky="0" algn="bl" rotWithShape="0" blurRad="127000" dist="25400" dir="5400000">
              <a:srgbClr val="3D1700">
                <a:alpha val="13000"/>
              </a:srgbClr>
            </a:outerShdw>
          </a:effectLst>
        </p:spPr>
      </p:sp>
      <p:sp>
        <p:nvSpPr>
          <p:cNvPr id="16" name="Shape 14"/>
          <p:cNvSpPr/>
          <p:nvPr/>
        </p:nvSpPr>
        <p:spPr>
          <a:xfrm>
            <a:off x="6537960" y="1600200"/>
            <a:ext cx="1737360" cy="274320"/>
          </a:xfrm>
          <a:prstGeom prst="roundRect">
            <a:avLst>
              <a:gd name="adj" fmla="val 50000"/>
            </a:avLst>
          </a:prstGeom>
          <a:solidFill>
            <a:srgbClr val="F4EAD2"/>
          </a:solidFill>
          <a:ln w="12700">
            <a:solidFill>
              <a:srgbClr val="5A7247"/>
            </a:solidFill>
            <a:prstDash val="solid"/>
          </a:ln>
        </p:spPr>
      </p:sp>
      <p:sp>
        <p:nvSpPr>
          <p:cNvPr id="17" name="Text 15"/>
          <p:cNvSpPr txBox="1"/>
          <p:nvPr/>
        </p:nvSpPr>
        <p:spPr>
          <a:xfrm>
            <a:off x="6537960" y="1600200"/>
            <a:ext cx="1737360" cy="274320"/>
          </a:xfrm>
          <a:prstGeom prst="rect">
            <a:avLst/>
          </a:prstGeom>
          <a:noFill/>
          <a:ln/>
        </p:spPr>
        <p:txBody>
          <a:bodyPr wrap="square" lIns="0" tIns="0" rIns="0" bIns="0" rtlCol="0" anchor="ctr"/>
          <a:lstStyle/>
          <a:p>
            <a:pPr algn="ctr" indent="0" marL="0">
              <a:buNone/>
            </a:pPr>
            <a:r>
              <a:rPr lang="en-US" sz="900" b="1" dirty="0">
                <a:solidFill>
                  <a:srgbClr val="543110"/>
                </a:solidFill>
                <a:latin typeface="Poppins" pitchFamily="34" charset="0"/>
                <a:ea typeface="Poppins" pitchFamily="34" charset="-122"/>
                <a:cs typeface="Poppins" pitchFamily="34" charset="-120"/>
              </a:rPr>
              <a:t>NEXT GENERATION</a:t>
            </a:r>
            <a:endParaRPr lang="en-US" sz="900" dirty="0"/>
          </a:p>
        </p:txBody>
      </p:sp>
      <p:sp>
        <p:nvSpPr>
          <p:cNvPr id="18" name="Text 16"/>
          <p:cNvSpPr txBox="1"/>
          <p:nvPr/>
        </p:nvSpPr>
        <p:spPr>
          <a:xfrm>
            <a:off x="6537960" y="1975104"/>
            <a:ext cx="4937760" cy="310896"/>
          </a:xfrm>
          <a:prstGeom prst="rect">
            <a:avLst/>
          </a:prstGeom>
          <a:noFill/>
          <a:ln/>
        </p:spPr>
        <p:txBody>
          <a:bodyPr wrap="square" lIns="0" tIns="0" rIns="0" bIns="0" rtlCol="0" anchor="ctr"/>
          <a:lstStyle/>
          <a:p>
            <a:pPr indent="0" marL="0">
              <a:buNone/>
            </a:pPr>
            <a:r>
              <a:rPr lang="en-US" sz="1700" b="1" dirty="0">
                <a:solidFill>
                  <a:srgbClr val="3D1700"/>
                </a:solidFill>
                <a:latin typeface="Poppins" pitchFamily="34" charset="0"/>
                <a:ea typeface="Poppins" pitchFamily="34" charset="-122"/>
                <a:cs typeface="Poppins" pitchFamily="34" charset="-120"/>
              </a:rPr>
              <a:t>Absolute reading</a:t>
            </a:r>
            <a:endParaRPr lang="en-US" sz="1700" dirty="0"/>
          </a:p>
        </p:txBody>
      </p:sp>
      <p:sp>
        <p:nvSpPr>
          <p:cNvPr id="19" name="Text 17"/>
          <p:cNvSpPr txBox="1"/>
          <p:nvPr/>
        </p:nvSpPr>
        <p:spPr>
          <a:xfrm>
            <a:off x="6537960" y="2322576"/>
            <a:ext cx="4937760" cy="621792"/>
          </a:xfrm>
          <a:prstGeom prst="rect">
            <a:avLst/>
          </a:prstGeom>
          <a:noFill/>
          <a:ln/>
        </p:spPr>
        <p:txBody>
          <a:bodyPr wrap="square" lIns="0" tIns="0" rIns="0" bIns="0" rtlCol="0" anchor="ctr"/>
          <a:lstStyle/>
          <a:p>
            <a:pPr indent="0" marL="0">
              <a:lnSpc>
                <a:spcPct val="115000"/>
              </a:lnSpc>
              <a:buNone/>
            </a:pPr>
            <a:r>
              <a:rPr lang="en-US" sz="1050" dirty="0">
                <a:solidFill>
                  <a:srgbClr val="543110"/>
                </a:solidFill>
                <a:latin typeface="Poppins" pitchFamily="34" charset="0"/>
                <a:ea typeface="Poppins" pitchFamily="34" charset="-122"/>
                <a:cs typeface="Poppins" pitchFamily="34" charset="-120"/>
              </a:rPr>
              <a:t>A capacitance-to-digital converter reports each pad in real units — no assumed starting point.</a:t>
            </a:r>
            <a:endParaRPr lang="en-US" sz="1050" dirty="0"/>
          </a:p>
        </p:txBody>
      </p:sp>
      <p:sp>
        <p:nvSpPr>
          <p:cNvPr id="20" name="Text 18"/>
          <p:cNvSpPr txBox="1"/>
          <p:nvPr/>
        </p:nvSpPr>
        <p:spPr>
          <a:xfrm>
            <a:off x="6537960" y="3017520"/>
            <a:ext cx="4937760" cy="1691640"/>
          </a:xfrm>
          <a:prstGeom prst="rect">
            <a:avLst/>
          </a:prstGeom>
          <a:noFill/>
          <a:ln/>
        </p:spPr>
        <p:txBody>
          <a:bodyPr wrap="square" lIns="0" tIns="0" rIns="0" bIns="0" rtlCol="0" anchor="ctr"/>
          <a:lstStyle/>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No start-up calibration, and no dependence on how the patch was sitting.</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Tube placement confirmable at the moment of attachment.</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An already-lifted patch is visible immediately.</a:t>
            </a:r>
            <a:endParaRPr lang="en-US" sz="1000" dirty="0"/>
          </a:p>
          <a:p>
            <a:pPr marL="342900" indent="-342900">
              <a:lnSpc>
                <a:spcPct val="118000"/>
              </a:lnSpc>
              <a:spcAft>
                <a:spcPts val="700"/>
              </a:spcAft>
              <a:buSzPct val="100000"/>
              <a:buChar char="•"/>
            </a:pPr>
            <a:r>
              <a:rPr lang="en-US" sz="1000" dirty="0">
                <a:solidFill>
                  <a:srgbClr val="543110"/>
                </a:solidFill>
                <a:latin typeface="Poppins" pitchFamily="34" charset="0"/>
                <a:ea typeface="Poppins" pitchFamily="34" charset="-122"/>
                <a:cs typeface="Poppins" pitchFamily="34" charset="-120"/>
              </a:rPr>
              <a:t>Features and classifier unchanged — only the input units move.</a:t>
            </a:r>
            <a:endParaRPr lang="en-US" sz="1000" dirty="0"/>
          </a:p>
        </p:txBody>
      </p:sp>
      <p:sp>
        <p:nvSpPr>
          <p:cNvPr id="21" name="Shape 19"/>
          <p:cNvSpPr/>
          <p:nvPr/>
        </p:nvSpPr>
        <p:spPr>
          <a:xfrm>
            <a:off x="502920" y="5532120"/>
            <a:ext cx="11155680" cy="658368"/>
          </a:xfrm>
          <a:prstGeom prst="roundRect">
            <a:avLst>
              <a:gd name="adj" fmla="val 8333"/>
            </a:avLst>
          </a:prstGeom>
          <a:solidFill>
            <a:srgbClr val="F4EAD2"/>
          </a:solidFill>
          <a:ln w="12700">
            <a:solidFill>
              <a:srgbClr val="DFCEA9"/>
            </a:solidFill>
            <a:prstDash val="solid"/>
          </a:ln>
          <a:effectLst>
            <a:outerShdw sx="100000" sy="100000" kx="0" ky="0" algn="bl" rotWithShape="0" blurRad="127000" dist="25400" dir="5400000">
              <a:srgbClr val="3D1700">
                <a:alpha val="13000"/>
              </a:srgbClr>
            </a:outerShdw>
          </a:effectLst>
        </p:spPr>
      </p:sp>
      <p:sp>
        <p:nvSpPr>
          <p:cNvPr id="22" name="Text 20"/>
          <p:cNvSpPr txBox="1"/>
          <p:nvPr/>
        </p:nvSpPr>
        <p:spPr>
          <a:xfrm>
            <a:off x="685800" y="5632704"/>
            <a:ext cx="10789920" cy="475488"/>
          </a:xfrm>
          <a:prstGeom prst="rect">
            <a:avLst/>
          </a:prstGeom>
          <a:noFill/>
          <a:ln/>
        </p:spPr>
        <p:txBody>
          <a:bodyPr wrap="square" lIns="0" tIns="0" rIns="0" bIns="0" rtlCol="0" anchor="ctr"/>
          <a:lstStyle/>
          <a:p>
            <a:pPr indent="0" marL="0">
              <a:lnSpc>
                <a:spcPct val="114000"/>
              </a:lnSpc>
              <a:buNone/>
            </a:pPr>
            <a:r>
              <a:rPr lang="en-US" sz="1000" dirty="0">
                <a:solidFill>
                  <a:srgbClr val="543110"/>
                </a:solidFill>
                <a:latin typeface="Poppins" pitchFamily="34" charset="0"/>
                <a:ea typeface="Poppins" pitchFamily="34" charset="-122"/>
                <a:cs typeface="Poppins" pitchFamily="34" charset="-120"/>
              </a:rPr>
              <a:t>The classifier, the features and the annunciator all survive the change — but every figure in this deck must then be re-measured.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D1700"/>
        </a:solidFill>
      </p:bgPr>
    </p:bg>
    <p:spTree>
      <p:nvGrpSpPr>
        <p:cNvPr id="1" name=""/>
        <p:cNvGrpSpPr/>
        <p:nvPr/>
      </p:nvGrpSpPr>
      <p:grpSpPr>
        <a:xfrm>
          <a:off x="0" y="0"/>
          <a:ext cx="0" cy="0"/>
          <a:chOff x="0" y="0"/>
          <a:chExt cx="0" cy="0"/>
        </a:xfrm>
      </p:grpSpPr>
      <p:sp>
        <p:nvSpPr>
          <p:cNvPr id="2" name="Text 0"/>
          <p:cNvSpPr txBox="1"/>
          <p:nvPr/>
        </p:nvSpPr>
        <p:spPr>
          <a:xfrm>
            <a:off x="502920" y="109728"/>
            <a:ext cx="5486400" cy="182880"/>
          </a:xfrm>
          <a:prstGeom prst="rect">
            <a:avLst/>
          </a:prstGeom>
          <a:noFill/>
          <a:ln/>
        </p:spPr>
        <p:txBody>
          <a:bodyPr wrap="square" lIns="0" tIns="0" rIns="0" bIns="0" rtlCol="0" anchor="ctr"/>
          <a:lstStyle/>
          <a:p>
            <a:pPr indent="0" marL="0">
              <a:buNone/>
            </a:pPr>
            <a:r>
              <a:rPr lang="en-US" sz="750" b="1" spc="160" kern="0" dirty="0">
                <a:solidFill>
                  <a:srgbClr val="C9AE86"/>
                </a:solidFill>
                <a:latin typeface="Poppins" pitchFamily="34" charset="0"/>
                <a:ea typeface="Poppins" pitchFamily="34" charset="-122"/>
                <a:cs typeface="Poppins" pitchFamily="34" charset="-120"/>
              </a:rPr>
              <a:t>SMART EXTUBATION EARLY WARNING</a:t>
            </a:r>
            <a:endParaRPr lang="en-US" sz="750" dirty="0"/>
          </a:p>
        </p:txBody>
      </p:sp>
      <p:sp>
        <p:nvSpPr>
          <p:cNvPr id="3" name="Text 1"/>
          <p:cNvSpPr txBox="1"/>
          <p:nvPr/>
        </p:nvSpPr>
        <p:spPr>
          <a:xfrm>
            <a:off x="10561320" y="109728"/>
            <a:ext cx="1097280" cy="182880"/>
          </a:xfrm>
          <a:prstGeom prst="rect">
            <a:avLst/>
          </a:prstGeom>
          <a:noFill/>
          <a:ln/>
        </p:spPr>
        <p:txBody>
          <a:bodyPr wrap="square" lIns="0" tIns="0" rIns="0" bIns="0" rtlCol="0" anchor="ctr"/>
          <a:lstStyle/>
          <a:p>
            <a:pPr algn="r" indent="0" marL="0">
              <a:buNone/>
            </a:pPr>
            <a:r>
              <a:rPr lang="en-US" sz="750" b="1" spc="160" kern="0" dirty="0">
                <a:solidFill>
                  <a:srgbClr val="C9AE86"/>
                </a:solidFill>
                <a:latin typeface="Poppins" pitchFamily="34" charset="0"/>
                <a:ea typeface="Poppins" pitchFamily="34" charset="-122"/>
                <a:cs typeface="Poppins" pitchFamily="34" charset="-120"/>
              </a:rPr>
              <a:t>2026</a:t>
            </a:r>
            <a:endParaRPr lang="en-US" sz="750" dirty="0"/>
          </a:p>
        </p:txBody>
      </p:sp>
      <p:sp>
        <p:nvSpPr>
          <p:cNvPr id="4" name="Shape 2"/>
          <p:cNvSpPr/>
          <p:nvPr/>
        </p:nvSpPr>
        <p:spPr>
          <a:xfrm>
            <a:off x="502920" y="274320"/>
            <a:ext cx="11155680" cy="7315"/>
          </a:xfrm>
          <a:prstGeom prst="rect">
            <a:avLst/>
          </a:prstGeom>
          <a:solidFill>
            <a:srgbClr val="6B4423"/>
          </a:solidFill>
          <a:ln w="12700">
            <a:solidFill>
              <a:srgbClr val="333333"/>
            </a:solidFill>
            <a:prstDash val="solid"/>
          </a:ln>
        </p:spPr>
      </p:sp>
      <p:sp>
        <p:nvSpPr>
          <p:cNvPr id="5" name="Text 3"/>
          <p:cNvSpPr txBox="1"/>
          <p:nvPr/>
        </p:nvSpPr>
        <p:spPr>
          <a:xfrm>
            <a:off x="502920" y="329184"/>
            <a:ext cx="10515600" cy="566928"/>
          </a:xfrm>
          <a:prstGeom prst="rect">
            <a:avLst/>
          </a:prstGeom>
          <a:noFill/>
          <a:ln/>
        </p:spPr>
        <p:txBody>
          <a:bodyPr wrap="square" lIns="0" tIns="0" rIns="0" bIns="0" rtlCol="0" anchor="ctr"/>
          <a:lstStyle/>
          <a:p>
            <a:pPr indent="0" marL="0">
              <a:buNone/>
            </a:pPr>
            <a:r>
              <a:rPr lang="en-US" sz="2700" b="1" dirty="0">
                <a:solidFill>
                  <a:srgbClr val="FDF8EA"/>
                </a:solidFill>
                <a:latin typeface="Poppins" pitchFamily="34" charset="0"/>
                <a:ea typeface="Poppins" pitchFamily="34" charset="-122"/>
                <a:cs typeface="Poppins" pitchFamily="34" charset="-120"/>
              </a:rPr>
              <a:t>Conclusion</a:t>
            </a:r>
            <a:endParaRPr lang="en-US" sz="2700" dirty="0"/>
          </a:p>
        </p:txBody>
      </p:sp>
      <p:sp>
        <p:nvSpPr>
          <p:cNvPr id="6" name="Text 4"/>
          <p:cNvSpPr txBox="1"/>
          <p:nvPr/>
        </p:nvSpPr>
        <p:spPr>
          <a:xfrm>
            <a:off x="502920" y="905256"/>
            <a:ext cx="10515600" cy="292608"/>
          </a:xfrm>
          <a:prstGeom prst="rect">
            <a:avLst/>
          </a:prstGeom>
          <a:noFill/>
          <a:ln/>
        </p:spPr>
        <p:txBody>
          <a:bodyPr wrap="square" lIns="0" tIns="0" rIns="0" bIns="0" rtlCol="0" anchor="ctr"/>
          <a:lstStyle/>
          <a:p>
            <a:pPr indent="0" marL="0">
              <a:buNone/>
            </a:pPr>
            <a:r>
              <a:rPr lang="en-US" sz="1250" dirty="0">
                <a:solidFill>
                  <a:srgbClr val="C9AE86"/>
                </a:solidFill>
                <a:latin typeface="Poppins" pitchFamily="34" charset="0"/>
                <a:ea typeface="Poppins" pitchFamily="34" charset="-122"/>
                <a:cs typeface="Poppins" pitchFamily="34" charset="-120"/>
              </a:rPr>
              <a:t>Where this stands, and what has to be measured next</a:t>
            </a:r>
            <a:endParaRPr lang="en-US" sz="1250" dirty="0"/>
          </a:p>
        </p:txBody>
      </p:sp>
      <p:sp>
        <p:nvSpPr>
          <p:cNvPr id="7" name="Text 5"/>
          <p:cNvSpPr txBox="1"/>
          <p:nvPr/>
        </p:nvSpPr>
        <p:spPr>
          <a:xfrm>
            <a:off x="11155680" y="329184"/>
            <a:ext cx="502920" cy="411480"/>
          </a:xfrm>
          <a:prstGeom prst="rect">
            <a:avLst/>
          </a:prstGeom>
          <a:noFill/>
          <a:ln/>
        </p:spPr>
        <p:txBody>
          <a:bodyPr wrap="square" lIns="0" tIns="0" rIns="0" bIns="0" rtlCol="0" anchor="ctr"/>
          <a:lstStyle/>
          <a:p>
            <a:pPr algn="r" indent="0" marL="0">
              <a:buNone/>
            </a:pPr>
            <a:r>
              <a:rPr lang="en-US" sz="1500" b="1" dirty="0">
                <a:solidFill>
                  <a:srgbClr val="8A6A4F"/>
                </a:solidFill>
                <a:latin typeface="Poppins" pitchFamily="34" charset="0"/>
                <a:ea typeface="Poppins" pitchFamily="34" charset="-122"/>
                <a:cs typeface="Poppins" pitchFamily="34" charset="-120"/>
              </a:rPr>
              <a:t>20</a:t>
            </a:r>
            <a:endParaRPr lang="en-US" sz="1500" dirty="0"/>
          </a:p>
        </p:txBody>
      </p:sp>
      <p:sp>
        <p:nvSpPr>
          <p:cNvPr id="8" name="Shape 6"/>
          <p:cNvSpPr/>
          <p:nvPr/>
        </p:nvSpPr>
        <p:spPr>
          <a:xfrm>
            <a:off x="502920" y="1371600"/>
            <a:ext cx="5760720" cy="3017520"/>
          </a:xfrm>
          <a:prstGeom prst="roundRect">
            <a:avLst>
              <a:gd name="adj" fmla="val 1818"/>
            </a:avLst>
          </a:prstGeom>
          <a:solidFill>
            <a:srgbClr val="543110"/>
          </a:solidFill>
          <a:ln w="12700">
            <a:solidFill>
              <a:srgbClr val="6B4423"/>
            </a:solidFill>
            <a:prstDash val="solid"/>
          </a:ln>
          <a:effectLst>
            <a:outerShdw sx="100000" sy="100000" kx="0" ky="0" algn="bl" rotWithShape="0" blurRad="127000" dist="25400" dir="5400000">
              <a:srgbClr val="3D1700">
                <a:alpha val="13000"/>
              </a:srgbClr>
            </a:outerShdw>
          </a:effectLst>
        </p:spPr>
      </p:sp>
      <p:sp>
        <p:nvSpPr>
          <p:cNvPr id="9" name="Text 7"/>
          <p:cNvSpPr txBox="1"/>
          <p:nvPr/>
        </p:nvSpPr>
        <p:spPr>
          <a:xfrm>
            <a:off x="704088" y="1499616"/>
            <a:ext cx="5394960" cy="274320"/>
          </a:xfrm>
          <a:prstGeom prst="rect">
            <a:avLst/>
          </a:prstGeom>
          <a:noFill/>
          <a:ln/>
        </p:spPr>
        <p:txBody>
          <a:bodyPr wrap="square" lIns="0" tIns="0" rIns="0" bIns="0" rtlCol="0" anchor="ctr"/>
          <a:lstStyle/>
          <a:p>
            <a:pPr indent="0" marL="0">
              <a:buNone/>
            </a:pPr>
            <a:r>
              <a:rPr lang="en-US" sz="1300" b="1" dirty="0">
                <a:solidFill>
                  <a:srgbClr val="3E6C8A"/>
                </a:solidFill>
                <a:latin typeface="Poppins" pitchFamily="34" charset="0"/>
                <a:ea typeface="Poppins" pitchFamily="34" charset="-122"/>
                <a:cs typeface="Poppins" pitchFamily="34" charset="-120"/>
              </a:rPr>
              <a:t>Before 7 September</a:t>
            </a:r>
            <a:endParaRPr lang="en-US" sz="1300" dirty="0"/>
          </a:p>
        </p:txBody>
      </p:sp>
      <p:sp>
        <p:nvSpPr>
          <p:cNvPr id="10" name="Text 8"/>
          <p:cNvSpPr txBox="1"/>
          <p:nvPr/>
        </p:nvSpPr>
        <p:spPr>
          <a:xfrm>
            <a:off x="704088" y="1828800"/>
            <a:ext cx="3977640" cy="219456"/>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Dual-feed demonstration video</a:t>
            </a:r>
            <a:endParaRPr lang="en-US" sz="1050" dirty="0"/>
          </a:p>
        </p:txBody>
      </p:sp>
      <p:sp>
        <p:nvSpPr>
          <p:cNvPr id="11" name="Text 9"/>
          <p:cNvSpPr txBox="1"/>
          <p:nvPr/>
        </p:nvSpPr>
        <p:spPr>
          <a:xfrm>
            <a:off x="704088" y="2048256"/>
            <a:ext cx="3977640" cy="347472"/>
          </a:xfrm>
          <a:prstGeom prst="rect">
            <a:avLst/>
          </a:prstGeom>
          <a:noFill/>
          <a:ln/>
        </p:spPr>
        <p:txBody>
          <a:bodyPr wrap="square" lIns="0" tIns="0" rIns="0" bIns="0" rtlCol="0" anchor="ctr"/>
          <a:lstStyle/>
          <a:p>
            <a:pPr indent="0" marL="0">
              <a:lnSpc>
                <a:spcPct val="112000"/>
              </a:lnSpc>
              <a:buNone/>
            </a:pPr>
            <a:r>
              <a:rPr lang="en-US" sz="950" dirty="0">
                <a:solidFill>
                  <a:srgbClr val="C9AE86"/>
                </a:solidFill>
                <a:latin typeface="Poppins" pitchFamily="34" charset="0"/>
                <a:ea typeface="Poppins" pitchFamily="34" charset="-122"/>
                <a:cs typeface="Poppins" pitchFamily="34" charset="-120"/>
              </a:rPr>
              <a:t>Webcam and console on one clock.</a:t>
            </a:r>
            <a:endParaRPr lang="en-US" sz="950" dirty="0"/>
          </a:p>
        </p:txBody>
      </p:sp>
      <p:sp>
        <p:nvSpPr>
          <p:cNvPr id="12" name="Shape 10"/>
          <p:cNvSpPr/>
          <p:nvPr/>
        </p:nvSpPr>
        <p:spPr>
          <a:xfrm>
            <a:off x="4800600" y="1883664"/>
            <a:ext cx="1280160" cy="274320"/>
          </a:xfrm>
          <a:prstGeom prst="roundRect">
            <a:avLst>
              <a:gd name="adj" fmla="val 50000"/>
            </a:avLst>
          </a:prstGeom>
          <a:solidFill>
            <a:srgbClr val="543110"/>
          </a:solidFill>
          <a:ln w="12700">
            <a:solidFill>
              <a:srgbClr val="8A6A4F"/>
            </a:solidFill>
            <a:prstDash val="solid"/>
          </a:ln>
        </p:spPr>
      </p:sp>
      <p:sp>
        <p:nvSpPr>
          <p:cNvPr id="13" name="Text 11"/>
          <p:cNvSpPr txBox="1"/>
          <p:nvPr/>
        </p:nvSpPr>
        <p:spPr>
          <a:xfrm>
            <a:off x="4800600" y="1883664"/>
            <a:ext cx="12801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Not started</a:t>
            </a:r>
            <a:endParaRPr lang="en-US" sz="900" dirty="0"/>
          </a:p>
        </p:txBody>
      </p:sp>
      <p:sp>
        <p:nvSpPr>
          <p:cNvPr id="14" name="Text 12"/>
          <p:cNvSpPr txBox="1"/>
          <p:nvPr/>
        </p:nvSpPr>
        <p:spPr>
          <a:xfrm>
            <a:off x="704088" y="2450592"/>
            <a:ext cx="3977640" cy="219456"/>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This slide deck</a:t>
            </a:r>
            <a:endParaRPr lang="en-US" sz="1050" dirty="0"/>
          </a:p>
        </p:txBody>
      </p:sp>
      <p:sp>
        <p:nvSpPr>
          <p:cNvPr id="15" name="Text 13"/>
          <p:cNvSpPr txBox="1"/>
          <p:nvPr/>
        </p:nvSpPr>
        <p:spPr>
          <a:xfrm>
            <a:off x="704088" y="2670048"/>
            <a:ext cx="3977640" cy="347472"/>
          </a:xfrm>
          <a:prstGeom prst="rect">
            <a:avLst/>
          </a:prstGeom>
          <a:noFill/>
          <a:ln/>
        </p:spPr>
        <p:txBody>
          <a:bodyPr wrap="square" lIns="0" tIns="0" rIns="0" bIns="0" rtlCol="0" anchor="ctr"/>
          <a:lstStyle/>
          <a:p>
            <a:pPr indent="0" marL="0">
              <a:lnSpc>
                <a:spcPct val="112000"/>
              </a:lnSpc>
              <a:buNone/>
            </a:pPr>
            <a:r>
              <a:rPr lang="en-US" sz="950" dirty="0">
                <a:solidFill>
                  <a:srgbClr val="C9AE86"/>
                </a:solidFill>
                <a:latin typeface="Poppins" pitchFamily="34" charset="0"/>
                <a:ea typeface="Poppins" pitchFamily="34" charset="-122"/>
                <a:cs typeface="Poppins" pitchFamily="34" charset="-120"/>
              </a:rPr>
              <a:t>English, every figure traceable to the metrics file.</a:t>
            </a:r>
            <a:endParaRPr lang="en-US" sz="950" dirty="0"/>
          </a:p>
        </p:txBody>
      </p:sp>
      <p:sp>
        <p:nvSpPr>
          <p:cNvPr id="16" name="Shape 14"/>
          <p:cNvSpPr/>
          <p:nvPr/>
        </p:nvSpPr>
        <p:spPr>
          <a:xfrm>
            <a:off x="4800600" y="2505456"/>
            <a:ext cx="1280160" cy="274320"/>
          </a:xfrm>
          <a:prstGeom prst="roundRect">
            <a:avLst>
              <a:gd name="adj" fmla="val 50000"/>
            </a:avLst>
          </a:prstGeom>
          <a:solidFill>
            <a:srgbClr val="543110"/>
          </a:solidFill>
          <a:ln w="12700">
            <a:solidFill>
              <a:srgbClr val="5A7247"/>
            </a:solidFill>
            <a:prstDash val="solid"/>
          </a:ln>
        </p:spPr>
      </p:sp>
      <p:sp>
        <p:nvSpPr>
          <p:cNvPr id="17" name="Text 15"/>
          <p:cNvSpPr txBox="1"/>
          <p:nvPr/>
        </p:nvSpPr>
        <p:spPr>
          <a:xfrm>
            <a:off x="4800600" y="2505456"/>
            <a:ext cx="12801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Draft ready</a:t>
            </a:r>
            <a:endParaRPr lang="en-US" sz="900" dirty="0"/>
          </a:p>
        </p:txBody>
      </p:sp>
      <p:sp>
        <p:nvSpPr>
          <p:cNvPr id="18" name="Text 16"/>
          <p:cNvSpPr txBox="1"/>
          <p:nvPr/>
        </p:nvSpPr>
        <p:spPr>
          <a:xfrm>
            <a:off x="704088" y="3072384"/>
            <a:ext cx="3977640" cy="219456"/>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Console screenshot</a:t>
            </a:r>
            <a:endParaRPr lang="en-US" sz="1050" dirty="0"/>
          </a:p>
        </p:txBody>
      </p:sp>
      <p:sp>
        <p:nvSpPr>
          <p:cNvPr id="19" name="Text 17"/>
          <p:cNvSpPr txBox="1"/>
          <p:nvPr/>
        </p:nvSpPr>
        <p:spPr>
          <a:xfrm>
            <a:off x="704088" y="3291840"/>
            <a:ext cx="3977640" cy="347472"/>
          </a:xfrm>
          <a:prstGeom prst="rect">
            <a:avLst/>
          </a:prstGeom>
          <a:noFill/>
          <a:ln/>
        </p:spPr>
        <p:txBody>
          <a:bodyPr wrap="square" lIns="0" tIns="0" rIns="0" bIns="0" rtlCol="0" anchor="ctr"/>
          <a:lstStyle/>
          <a:p>
            <a:pPr indent="0" marL="0">
              <a:lnSpc>
                <a:spcPct val="112000"/>
              </a:lnSpc>
              <a:buNone/>
            </a:pPr>
            <a:r>
              <a:rPr lang="en-US" sz="950" dirty="0">
                <a:solidFill>
                  <a:srgbClr val="C9AE86"/>
                </a:solidFill>
                <a:latin typeface="Poppins" pitchFamily="34" charset="0"/>
                <a:ea typeface="Poppins" pitchFamily="34" charset="-122"/>
                <a:cs typeface="Poppins" pitchFamily="34" charset="-120"/>
              </a:rPr>
              <a:t>Light theme, English, level-3 frame.</a:t>
            </a:r>
            <a:endParaRPr lang="en-US" sz="950" dirty="0"/>
          </a:p>
        </p:txBody>
      </p:sp>
      <p:sp>
        <p:nvSpPr>
          <p:cNvPr id="20" name="Shape 18"/>
          <p:cNvSpPr/>
          <p:nvPr/>
        </p:nvSpPr>
        <p:spPr>
          <a:xfrm>
            <a:off x="4800600" y="3127248"/>
            <a:ext cx="1280160" cy="274320"/>
          </a:xfrm>
          <a:prstGeom prst="roundRect">
            <a:avLst>
              <a:gd name="adj" fmla="val 50000"/>
            </a:avLst>
          </a:prstGeom>
          <a:solidFill>
            <a:srgbClr val="543110"/>
          </a:solidFill>
          <a:ln w="12700">
            <a:solidFill>
              <a:srgbClr val="8A6A4F"/>
            </a:solidFill>
            <a:prstDash val="solid"/>
          </a:ln>
        </p:spPr>
      </p:sp>
      <p:sp>
        <p:nvSpPr>
          <p:cNvPr id="21" name="Text 19"/>
          <p:cNvSpPr txBox="1"/>
          <p:nvPr/>
        </p:nvSpPr>
        <p:spPr>
          <a:xfrm>
            <a:off x="4800600" y="3127248"/>
            <a:ext cx="12801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Not started</a:t>
            </a:r>
            <a:endParaRPr lang="en-US" sz="900" dirty="0"/>
          </a:p>
        </p:txBody>
      </p:sp>
      <p:sp>
        <p:nvSpPr>
          <p:cNvPr id="22" name="Text 20"/>
          <p:cNvSpPr txBox="1"/>
          <p:nvPr/>
        </p:nvSpPr>
        <p:spPr>
          <a:xfrm>
            <a:off x="704088" y="3694176"/>
            <a:ext cx="3977640" cy="219456"/>
          </a:xfrm>
          <a:prstGeom prst="rect">
            <a:avLst/>
          </a:prstGeom>
          <a:noFill/>
          <a:ln/>
        </p:spPr>
        <p:txBody>
          <a:bodyPr wrap="square" lIns="0" tIns="0" rIns="0" bIns="0" rtlCol="0" anchor="ctr"/>
          <a:lstStyle/>
          <a:p>
            <a:pPr indent="0" marL="0">
              <a:buNone/>
            </a:pPr>
            <a:r>
              <a:rPr lang="en-US" sz="1050" b="1" dirty="0">
                <a:solidFill>
                  <a:srgbClr val="FDF8EA"/>
                </a:solidFill>
                <a:latin typeface="Poppins" pitchFamily="34" charset="0"/>
                <a:ea typeface="Poppins" pitchFamily="34" charset="-122"/>
                <a:cs typeface="Poppins" pitchFamily="34" charset="-120"/>
              </a:rPr>
              <a:t>Round-2 recordings</a:t>
            </a:r>
            <a:endParaRPr lang="en-US" sz="1050" dirty="0"/>
          </a:p>
        </p:txBody>
      </p:sp>
      <p:sp>
        <p:nvSpPr>
          <p:cNvPr id="23" name="Text 21"/>
          <p:cNvSpPr txBox="1"/>
          <p:nvPr/>
        </p:nvSpPr>
        <p:spPr>
          <a:xfrm>
            <a:off x="704088" y="3913632"/>
            <a:ext cx="3977640" cy="347472"/>
          </a:xfrm>
          <a:prstGeom prst="rect">
            <a:avLst/>
          </a:prstGeom>
          <a:noFill/>
          <a:ln/>
        </p:spPr>
        <p:txBody>
          <a:bodyPr wrap="square" lIns="0" tIns="0" rIns="0" bIns="0" rtlCol="0" anchor="ctr"/>
          <a:lstStyle/>
          <a:p>
            <a:pPr indent="0" marL="0">
              <a:lnSpc>
                <a:spcPct val="112000"/>
              </a:lnSpc>
              <a:buNone/>
            </a:pPr>
            <a:r>
              <a:rPr lang="en-US" sz="950" dirty="0">
                <a:solidFill>
                  <a:srgbClr val="C9AE86"/>
                </a:solidFill>
                <a:latin typeface="Poppins" pitchFamily="34" charset="0"/>
                <a:ea typeface="Poppins" pitchFamily="34" charset="-122"/>
                <a:cs typeface="Poppins" pitchFamily="34" charset="-120"/>
              </a:rPr>
              <a:t>First acquisition on the high-suction bench.</a:t>
            </a:r>
            <a:endParaRPr lang="en-US" sz="950" dirty="0"/>
          </a:p>
        </p:txBody>
      </p:sp>
      <p:sp>
        <p:nvSpPr>
          <p:cNvPr id="24" name="Shape 22"/>
          <p:cNvSpPr/>
          <p:nvPr/>
        </p:nvSpPr>
        <p:spPr>
          <a:xfrm>
            <a:off x="4800600" y="3749040"/>
            <a:ext cx="1280160" cy="274320"/>
          </a:xfrm>
          <a:prstGeom prst="roundRect">
            <a:avLst>
              <a:gd name="adj" fmla="val 50000"/>
            </a:avLst>
          </a:prstGeom>
          <a:solidFill>
            <a:srgbClr val="543110"/>
          </a:solidFill>
          <a:ln w="12700">
            <a:solidFill>
              <a:srgbClr val="B4762A"/>
            </a:solidFill>
            <a:prstDash val="solid"/>
          </a:ln>
        </p:spPr>
      </p:sp>
      <p:sp>
        <p:nvSpPr>
          <p:cNvPr id="25" name="Text 23"/>
          <p:cNvSpPr txBox="1"/>
          <p:nvPr/>
        </p:nvSpPr>
        <p:spPr>
          <a:xfrm>
            <a:off x="4800600" y="3749040"/>
            <a:ext cx="1280160" cy="274320"/>
          </a:xfrm>
          <a:prstGeom prst="rect">
            <a:avLst/>
          </a:prstGeom>
          <a:noFill/>
          <a:ln/>
        </p:spPr>
        <p:txBody>
          <a:bodyPr wrap="square" lIns="0" tIns="0" rIns="0" bIns="0" rtlCol="0" anchor="ctr"/>
          <a:lstStyle/>
          <a:p>
            <a:pPr algn="ctr" indent="0" marL="0">
              <a:buNone/>
            </a:pPr>
            <a:r>
              <a:rPr lang="en-US" sz="900" b="1" dirty="0">
                <a:solidFill>
                  <a:srgbClr val="F5EBD8"/>
                </a:solidFill>
                <a:latin typeface="Poppins" pitchFamily="34" charset="0"/>
                <a:ea typeface="Poppins" pitchFamily="34" charset="-122"/>
                <a:cs typeface="Poppins" pitchFamily="34" charset="-120"/>
              </a:rPr>
              <a:t>In progress</a:t>
            </a:r>
            <a:endParaRPr lang="en-US" sz="900" dirty="0"/>
          </a:p>
        </p:txBody>
      </p:sp>
      <p:sp>
        <p:nvSpPr>
          <p:cNvPr id="26" name="Shape 24"/>
          <p:cNvSpPr/>
          <p:nvPr/>
        </p:nvSpPr>
        <p:spPr>
          <a:xfrm>
            <a:off x="6446520" y="1371600"/>
            <a:ext cx="5212080" cy="3017520"/>
          </a:xfrm>
          <a:prstGeom prst="roundRect">
            <a:avLst>
              <a:gd name="adj" fmla="val 1818"/>
            </a:avLst>
          </a:prstGeom>
          <a:solidFill>
            <a:srgbClr val="543110"/>
          </a:solidFill>
          <a:ln w="12700">
            <a:solidFill>
              <a:srgbClr val="6B4423"/>
            </a:solidFill>
            <a:prstDash val="solid"/>
          </a:ln>
          <a:effectLst>
            <a:outerShdw sx="100000" sy="100000" kx="0" ky="0" algn="bl" rotWithShape="0" blurRad="127000" dist="25400" dir="5400000">
              <a:srgbClr val="3D1700">
                <a:alpha val="13000"/>
              </a:srgbClr>
            </a:outerShdw>
          </a:effectLst>
        </p:spPr>
      </p:sp>
      <p:sp>
        <p:nvSpPr>
          <p:cNvPr id="27" name="Text 25"/>
          <p:cNvSpPr txBox="1"/>
          <p:nvPr/>
        </p:nvSpPr>
        <p:spPr>
          <a:xfrm>
            <a:off x="6647688" y="1499616"/>
            <a:ext cx="4937760" cy="274320"/>
          </a:xfrm>
          <a:prstGeom prst="rect">
            <a:avLst/>
          </a:prstGeom>
          <a:noFill/>
          <a:ln/>
        </p:spPr>
        <p:txBody>
          <a:bodyPr wrap="square" lIns="0" tIns="0" rIns="0" bIns="0" rtlCol="0" anchor="ctr"/>
          <a:lstStyle/>
          <a:p>
            <a:pPr indent="0" marL="0">
              <a:buNone/>
            </a:pPr>
            <a:r>
              <a:rPr lang="en-US" sz="1300" b="1" dirty="0">
                <a:solidFill>
                  <a:srgbClr val="3E6C8A"/>
                </a:solidFill>
                <a:latin typeface="Poppins" pitchFamily="34" charset="0"/>
                <a:ea typeface="Poppins" pitchFamily="34" charset="-122"/>
                <a:cs typeface="Poppins" pitchFamily="34" charset="-120"/>
              </a:rPr>
              <a:t>Engineering road ahead</a:t>
            </a:r>
            <a:endParaRPr lang="en-US" sz="1300" dirty="0"/>
          </a:p>
        </p:txBody>
      </p:sp>
      <p:sp>
        <p:nvSpPr>
          <p:cNvPr id="28" name="Shape 26"/>
          <p:cNvSpPr/>
          <p:nvPr/>
        </p:nvSpPr>
        <p:spPr>
          <a:xfrm>
            <a:off x="6647688" y="1847088"/>
            <a:ext cx="868680" cy="237744"/>
          </a:xfrm>
          <a:prstGeom prst="roundRect">
            <a:avLst>
              <a:gd name="adj" fmla="val 50000"/>
            </a:avLst>
          </a:prstGeom>
          <a:solidFill>
            <a:srgbClr val="6B4423"/>
          </a:solidFill>
          <a:ln w="12700">
            <a:solidFill>
              <a:srgbClr val="333333"/>
            </a:solidFill>
            <a:prstDash val="solid"/>
          </a:ln>
        </p:spPr>
      </p:sp>
      <p:sp>
        <p:nvSpPr>
          <p:cNvPr id="29" name="Text 27"/>
          <p:cNvSpPr txBox="1"/>
          <p:nvPr/>
        </p:nvSpPr>
        <p:spPr>
          <a:xfrm>
            <a:off x="6647688" y="1847088"/>
            <a:ext cx="868680" cy="237744"/>
          </a:xfrm>
          <a:prstGeom prst="rect">
            <a:avLst/>
          </a:prstGeom>
          <a:noFill/>
          <a:ln/>
        </p:spPr>
        <p:txBody>
          <a:bodyPr wrap="square" lIns="0" tIns="0" rIns="0" bIns="0" rtlCol="0" anchor="ctr"/>
          <a:lstStyle/>
          <a:p>
            <a:pPr algn="ctr" indent="0" marL="0">
              <a:buNone/>
            </a:pPr>
            <a:r>
              <a:rPr lang="en-US" sz="800" b="1" dirty="0">
                <a:solidFill>
                  <a:srgbClr val="FDF8EA"/>
                </a:solidFill>
                <a:latin typeface="Poppins" pitchFamily="34" charset="0"/>
                <a:ea typeface="Poppins" pitchFamily="34" charset="-122"/>
                <a:cs typeface="Poppins" pitchFamily="34" charset="-120"/>
              </a:rPr>
              <a:t>Now</a:t>
            </a:r>
            <a:endParaRPr lang="en-US" sz="800" dirty="0"/>
          </a:p>
        </p:txBody>
      </p:sp>
      <p:sp>
        <p:nvSpPr>
          <p:cNvPr id="30" name="Text 28"/>
          <p:cNvSpPr txBox="1"/>
          <p:nvPr/>
        </p:nvSpPr>
        <p:spPr>
          <a:xfrm>
            <a:off x="7635240" y="1810512"/>
            <a:ext cx="3931920" cy="566928"/>
          </a:xfrm>
          <a:prstGeom prst="rect">
            <a:avLst/>
          </a:prstGeom>
          <a:noFill/>
          <a:ln/>
        </p:spPr>
        <p:txBody>
          <a:bodyPr wrap="square" lIns="0" tIns="0" rIns="0" bIns="0" rtlCol="0" anchor="ctr"/>
          <a:lstStyle/>
          <a:p>
            <a:pPr indent="0" marL="0">
              <a:lnSpc>
                <a:spcPct val="113000"/>
              </a:lnSpc>
              <a:buNone/>
            </a:pPr>
            <a:r>
              <a:rPr lang="en-US" sz="950" dirty="0">
                <a:solidFill>
                  <a:srgbClr val="C9AE86"/>
                </a:solidFill>
                <a:latin typeface="Poppins" pitchFamily="34" charset="0"/>
                <a:ea typeface="Poppins" pitchFamily="34" charset="-122"/>
                <a:cs typeface="Poppins" pitchFamily="34" charset="-120"/>
              </a:rPr>
              <a:t>Re-measure the alarm setting on round 2 — without retuning it.</a:t>
            </a:r>
            <a:endParaRPr lang="en-US" sz="950" dirty="0"/>
          </a:p>
        </p:txBody>
      </p:sp>
      <p:sp>
        <p:nvSpPr>
          <p:cNvPr id="31" name="Shape 29"/>
          <p:cNvSpPr/>
          <p:nvPr/>
        </p:nvSpPr>
        <p:spPr>
          <a:xfrm>
            <a:off x="6647688" y="2468880"/>
            <a:ext cx="868680" cy="237744"/>
          </a:xfrm>
          <a:prstGeom prst="roundRect">
            <a:avLst>
              <a:gd name="adj" fmla="val 50000"/>
            </a:avLst>
          </a:prstGeom>
          <a:solidFill>
            <a:srgbClr val="6B4423"/>
          </a:solidFill>
          <a:ln w="12700">
            <a:solidFill>
              <a:srgbClr val="333333"/>
            </a:solidFill>
            <a:prstDash val="solid"/>
          </a:ln>
        </p:spPr>
      </p:sp>
      <p:sp>
        <p:nvSpPr>
          <p:cNvPr id="32" name="Text 30"/>
          <p:cNvSpPr txBox="1"/>
          <p:nvPr/>
        </p:nvSpPr>
        <p:spPr>
          <a:xfrm>
            <a:off x="6647688" y="2468880"/>
            <a:ext cx="868680" cy="237744"/>
          </a:xfrm>
          <a:prstGeom prst="rect">
            <a:avLst/>
          </a:prstGeom>
          <a:noFill/>
          <a:ln/>
        </p:spPr>
        <p:txBody>
          <a:bodyPr wrap="square" lIns="0" tIns="0" rIns="0" bIns="0" rtlCol="0" anchor="ctr"/>
          <a:lstStyle/>
          <a:p>
            <a:pPr algn="ctr" indent="0" marL="0">
              <a:buNone/>
            </a:pPr>
            <a:r>
              <a:rPr lang="en-US" sz="800" b="1" dirty="0">
                <a:solidFill>
                  <a:srgbClr val="FDF8EA"/>
                </a:solidFill>
                <a:latin typeface="Poppins" pitchFamily="34" charset="0"/>
                <a:ea typeface="Poppins" pitchFamily="34" charset="-122"/>
                <a:cs typeface="Poppins" pitchFamily="34" charset="-120"/>
              </a:rPr>
              <a:t>Q4 2026</a:t>
            </a:r>
            <a:endParaRPr lang="en-US" sz="800" dirty="0"/>
          </a:p>
        </p:txBody>
      </p:sp>
      <p:sp>
        <p:nvSpPr>
          <p:cNvPr id="33" name="Text 31"/>
          <p:cNvSpPr txBox="1"/>
          <p:nvPr/>
        </p:nvSpPr>
        <p:spPr>
          <a:xfrm>
            <a:off x="7635240" y="2432304"/>
            <a:ext cx="3931920" cy="566928"/>
          </a:xfrm>
          <a:prstGeom prst="rect">
            <a:avLst/>
          </a:prstGeom>
          <a:noFill/>
          <a:ln/>
        </p:spPr>
        <p:txBody>
          <a:bodyPr wrap="square" lIns="0" tIns="0" rIns="0" bIns="0" rtlCol="0" anchor="ctr"/>
          <a:lstStyle/>
          <a:p>
            <a:pPr indent="0" marL="0">
              <a:lnSpc>
                <a:spcPct val="113000"/>
              </a:lnSpc>
              <a:buNone/>
            </a:pPr>
            <a:r>
              <a:rPr lang="en-US" sz="950" dirty="0">
                <a:solidFill>
                  <a:srgbClr val="C9AE86"/>
                </a:solidFill>
                <a:latin typeface="Poppins" pitchFamily="34" charset="0"/>
                <a:ea typeface="Poppins" pitchFamily="34" charset="-122"/>
                <a:cs typeface="Poppins" pitchFamily="34" charset="-120"/>
              </a:rPr>
              <a:t>Port to the absolute readout and re-validate every figure.</a:t>
            </a:r>
            <a:endParaRPr lang="en-US" sz="950" dirty="0"/>
          </a:p>
        </p:txBody>
      </p:sp>
      <p:sp>
        <p:nvSpPr>
          <p:cNvPr id="34" name="Shape 32"/>
          <p:cNvSpPr/>
          <p:nvPr/>
        </p:nvSpPr>
        <p:spPr>
          <a:xfrm>
            <a:off x="6647688" y="3090672"/>
            <a:ext cx="868680" cy="237744"/>
          </a:xfrm>
          <a:prstGeom prst="roundRect">
            <a:avLst>
              <a:gd name="adj" fmla="val 50000"/>
            </a:avLst>
          </a:prstGeom>
          <a:solidFill>
            <a:srgbClr val="6B4423"/>
          </a:solidFill>
          <a:ln w="12700">
            <a:solidFill>
              <a:srgbClr val="333333"/>
            </a:solidFill>
            <a:prstDash val="solid"/>
          </a:ln>
        </p:spPr>
      </p:sp>
      <p:sp>
        <p:nvSpPr>
          <p:cNvPr id="35" name="Text 33"/>
          <p:cNvSpPr txBox="1"/>
          <p:nvPr/>
        </p:nvSpPr>
        <p:spPr>
          <a:xfrm>
            <a:off x="6647688" y="3090672"/>
            <a:ext cx="868680" cy="237744"/>
          </a:xfrm>
          <a:prstGeom prst="rect">
            <a:avLst/>
          </a:prstGeom>
          <a:noFill/>
          <a:ln/>
        </p:spPr>
        <p:txBody>
          <a:bodyPr wrap="square" lIns="0" tIns="0" rIns="0" bIns="0" rtlCol="0" anchor="ctr"/>
          <a:lstStyle/>
          <a:p>
            <a:pPr algn="ctr" indent="0" marL="0">
              <a:buNone/>
            </a:pPr>
            <a:r>
              <a:rPr lang="en-US" sz="800" b="1" dirty="0">
                <a:solidFill>
                  <a:srgbClr val="FDF8EA"/>
                </a:solidFill>
                <a:latin typeface="Poppins" pitchFamily="34" charset="0"/>
                <a:ea typeface="Poppins" pitchFamily="34" charset="-122"/>
                <a:cs typeface="Poppins" pitchFamily="34" charset="-120"/>
              </a:rPr>
              <a:t>Q1 2027</a:t>
            </a:r>
            <a:endParaRPr lang="en-US" sz="800" dirty="0"/>
          </a:p>
        </p:txBody>
      </p:sp>
      <p:sp>
        <p:nvSpPr>
          <p:cNvPr id="36" name="Text 34"/>
          <p:cNvSpPr txBox="1"/>
          <p:nvPr/>
        </p:nvSpPr>
        <p:spPr>
          <a:xfrm>
            <a:off x="7635240" y="3054096"/>
            <a:ext cx="3931920" cy="566928"/>
          </a:xfrm>
          <a:prstGeom prst="rect">
            <a:avLst/>
          </a:prstGeom>
          <a:noFill/>
          <a:ln/>
        </p:spPr>
        <p:txBody>
          <a:bodyPr wrap="square" lIns="0" tIns="0" rIns="0" bIns="0" rtlCol="0" anchor="ctr"/>
          <a:lstStyle/>
          <a:p>
            <a:pPr indent="0" marL="0">
              <a:lnSpc>
                <a:spcPct val="113000"/>
              </a:lnSpc>
              <a:buNone/>
            </a:pPr>
            <a:r>
              <a:rPr lang="en-US" sz="950" dirty="0">
                <a:solidFill>
                  <a:srgbClr val="C9AE86"/>
                </a:solidFill>
                <a:latin typeface="Poppins" pitchFamily="34" charset="0"/>
                <a:ea typeface="Poppins" pitchFamily="34" charset="-122"/>
                <a:cs typeface="Poppins" pitchFamily="34" charset="-120"/>
              </a:rPr>
              <a:t>Several mountings, several people, per-session results.</a:t>
            </a:r>
            <a:endParaRPr lang="en-US" sz="950" dirty="0"/>
          </a:p>
        </p:txBody>
      </p:sp>
      <p:sp>
        <p:nvSpPr>
          <p:cNvPr id="37" name="Shape 35"/>
          <p:cNvSpPr/>
          <p:nvPr/>
        </p:nvSpPr>
        <p:spPr>
          <a:xfrm>
            <a:off x="6647688" y="3712464"/>
            <a:ext cx="868680" cy="237744"/>
          </a:xfrm>
          <a:prstGeom prst="roundRect">
            <a:avLst>
              <a:gd name="adj" fmla="val 50000"/>
            </a:avLst>
          </a:prstGeom>
          <a:solidFill>
            <a:srgbClr val="6B4423"/>
          </a:solidFill>
          <a:ln w="12700">
            <a:solidFill>
              <a:srgbClr val="333333"/>
            </a:solidFill>
            <a:prstDash val="solid"/>
          </a:ln>
        </p:spPr>
      </p:sp>
      <p:sp>
        <p:nvSpPr>
          <p:cNvPr id="38" name="Text 36"/>
          <p:cNvSpPr txBox="1"/>
          <p:nvPr/>
        </p:nvSpPr>
        <p:spPr>
          <a:xfrm>
            <a:off x="6647688" y="3712464"/>
            <a:ext cx="868680" cy="237744"/>
          </a:xfrm>
          <a:prstGeom prst="rect">
            <a:avLst/>
          </a:prstGeom>
          <a:noFill/>
          <a:ln/>
        </p:spPr>
        <p:txBody>
          <a:bodyPr wrap="square" lIns="0" tIns="0" rIns="0" bIns="0" rtlCol="0" anchor="ctr"/>
          <a:lstStyle/>
          <a:p>
            <a:pPr algn="ctr" indent="0" marL="0">
              <a:buNone/>
            </a:pPr>
            <a:r>
              <a:rPr lang="en-US" sz="800" b="1" dirty="0">
                <a:solidFill>
                  <a:srgbClr val="FDF8EA"/>
                </a:solidFill>
                <a:latin typeface="Poppins" pitchFamily="34" charset="0"/>
                <a:ea typeface="Poppins" pitchFamily="34" charset="-122"/>
                <a:cs typeface="Poppins" pitchFamily="34" charset="-120"/>
              </a:rPr>
              <a:t>Beyond</a:t>
            </a:r>
            <a:endParaRPr lang="en-US" sz="800" dirty="0"/>
          </a:p>
        </p:txBody>
      </p:sp>
      <p:sp>
        <p:nvSpPr>
          <p:cNvPr id="39" name="Text 37"/>
          <p:cNvSpPr txBox="1"/>
          <p:nvPr/>
        </p:nvSpPr>
        <p:spPr>
          <a:xfrm>
            <a:off x="7635240" y="3675888"/>
            <a:ext cx="3931920" cy="566928"/>
          </a:xfrm>
          <a:prstGeom prst="rect">
            <a:avLst/>
          </a:prstGeom>
          <a:noFill/>
          <a:ln/>
        </p:spPr>
        <p:txBody>
          <a:bodyPr wrap="square" lIns="0" tIns="0" rIns="0" bIns="0" rtlCol="0" anchor="ctr"/>
          <a:lstStyle/>
          <a:p>
            <a:pPr indent="0" marL="0">
              <a:lnSpc>
                <a:spcPct val="113000"/>
              </a:lnSpc>
              <a:buNone/>
            </a:pPr>
            <a:r>
              <a:rPr lang="en-US" sz="950" dirty="0">
                <a:solidFill>
                  <a:srgbClr val="C9AE86"/>
                </a:solidFill>
                <a:latin typeface="Poppins" pitchFamily="34" charset="0"/>
                <a:ea typeface="Poppins" pitchFamily="34" charset="-122"/>
                <a:cs typeface="Poppins" pitchFamily="34" charset="-120"/>
              </a:rPr>
              <a:t>Simulated ICU pilot, multi-bed from one station.</a:t>
            </a:r>
            <a:endParaRPr lang="en-US" sz="950" dirty="0"/>
          </a:p>
        </p:txBody>
      </p:sp>
      <p:sp>
        <p:nvSpPr>
          <p:cNvPr id="40" name="Shape 38"/>
          <p:cNvSpPr/>
          <p:nvPr/>
        </p:nvSpPr>
        <p:spPr>
          <a:xfrm>
            <a:off x="502920" y="4590288"/>
            <a:ext cx="11155680" cy="1170432"/>
          </a:xfrm>
          <a:prstGeom prst="roundRect">
            <a:avLst>
              <a:gd name="adj" fmla="val 4688"/>
            </a:avLst>
          </a:prstGeom>
          <a:solidFill>
            <a:srgbClr val="6B4423"/>
          </a:solidFill>
          <a:ln w="12700">
            <a:solidFill>
              <a:srgbClr val="8A6A4F"/>
            </a:solidFill>
            <a:prstDash val="solid"/>
          </a:ln>
          <a:effectLst>
            <a:outerShdw sx="100000" sy="100000" kx="0" ky="0" algn="bl" rotWithShape="0" blurRad="127000" dist="25400" dir="5400000">
              <a:srgbClr val="3D1700">
                <a:alpha val="13000"/>
              </a:srgbClr>
            </a:outerShdw>
          </a:effectLst>
        </p:spPr>
      </p:sp>
      <p:sp>
        <p:nvSpPr>
          <p:cNvPr id="41" name="Text 39"/>
          <p:cNvSpPr txBox="1"/>
          <p:nvPr/>
        </p:nvSpPr>
        <p:spPr>
          <a:xfrm>
            <a:off x="731520" y="4700016"/>
            <a:ext cx="10972800" cy="256032"/>
          </a:xfrm>
          <a:prstGeom prst="rect">
            <a:avLst/>
          </a:prstGeom>
          <a:noFill/>
          <a:ln/>
        </p:spPr>
        <p:txBody>
          <a:bodyPr wrap="square" lIns="0" tIns="0" rIns="0" bIns="0" rtlCol="0" anchor="ctr"/>
          <a:lstStyle/>
          <a:p>
            <a:pPr indent="0" marL="0">
              <a:buNone/>
            </a:pPr>
            <a:r>
              <a:rPr lang="en-US" sz="1200" b="1" dirty="0">
                <a:solidFill>
                  <a:srgbClr val="FDF8EA"/>
                </a:solidFill>
                <a:latin typeface="Poppins" pitchFamily="34" charset="0"/>
                <a:ea typeface="Poppins" pitchFamily="34" charset="-122"/>
                <a:cs typeface="Poppins" pitchFamily="34" charset="-120"/>
              </a:rPr>
              <a:t>Where this stands</a:t>
            </a:r>
            <a:endParaRPr lang="en-US" sz="1200" dirty="0"/>
          </a:p>
        </p:txBody>
      </p:sp>
      <p:sp>
        <p:nvSpPr>
          <p:cNvPr id="42" name="Text 40"/>
          <p:cNvSpPr txBox="1"/>
          <p:nvPr/>
        </p:nvSpPr>
        <p:spPr>
          <a:xfrm>
            <a:off x="731520" y="4974336"/>
            <a:ext cx="10972800" cy="694944"/>
          </a:xfrm>
          <a:prstGeom prst="rect">
            <a:avLst/>
          </a:prstGeom>
          <a:noFill/>
          <a:ln/>
        </p:spPr>
        <p:txBody>
          <a:bodyPr wrap="square" lIns="0" tIns="0" rIns="0" bIns="0" rtlCol="0" anchor="ctr"/>
          <a:lstStyle/>
          <a:p>
            <a:pPr indent="0" marL="0">
              <a:lnSpc>
                <a:spcPct val="118000"/>
              </a:lnSpc>
              <a:buNone/>
            </a:pPr>
            <a:r>
              <a:rPr lang="en-US" sz="1000" dirty="0">
                <a:solidFill>
                  <a:srgbClr val="F5EBD8"/>
                </a:solidFill>
                <a:latin typeface="Poppins" pitchFamily="34" charset="0"/>
                <a:ea typeface="Poppins" pitchFamily="34" charset="-122"/>
                <a:cs typeface="Poppins" pitchFamily="34" charset="-120"/>
              </a:rPr>
              <a:t>Every pull episode caught, at 7.8 alarms an hour, in a median of 5.6 seconds — and it cannot see a horizontal detachment at all, on one mounting, with an interval running down to 91%.</a:t>
            </a:r>
            <a:endParaRPr lang="en-US" sz="1000" dirty="0"/>
          </a:p>
          <a:p>
            <a:pPr indent="0" marL="0">
              <a:lnSpc>
                <a:spcPct val="118000"/>
              </a:lnSpc>
              <a:buNone/>
            </a:pPr>
            <a:endParaRPr lang="en-US" sz="1000" dirty="0"/>
          </a:p>
          <a:p>
            <a:pPr indent="0" marL="0">
              <a:lnSpc>
                <a:spcPct val="118000"/>
              </a:lnSpc>
              <a:buNone/>
            </a:pPr>
            <a:r>
              <a:rPr lang="en-US" sz="1000" dirty="0">
                <a:solidFill>
                  <a:srgbClr val="F5EBD8"/>
                </a:solidFill>
                <a:latin typeface="Poppins" pitchFamily="34" charset="0"/>
                <a:ea typeface="Poppins" pitchFamily="34" charset="-122"/>
                <a:cs typeface="Poppins" pitchFamily="34" charset="-120"/>
              </a:rPr>
              <a:t>The work ahead is not a better classifier. It is a sensor that responds when the patch slides.</a:t>
            </a:r>
            <a:endParaRPr lang="en-US" sz="1000" dirty="0"/>
          </a:p>
        </p:txBody>
      </p:sp>
      <p:sp>
        <p:nvSpPr>
          <p:cNvPr id="43" name="Text 41"/>
          <p:cNvSpPr txBox="1"/>
          <p:nvPr/>
        </p:nvSpPr>
        <p:spPr>
          <a:xfrm>
            <a:off x="502920" y="6455664"/>
            <a:ext cx="11155680" cy="237744"/>
          </a:xfrm>
          <a:prstGeom prst="rect">
            <a:avLst/>
          </a:prstGeom>
          <a:noFill/>
          <a:ln/>
        </p:spPr>
        <p:txBody>
          <a:bodyPr wrap="square" lIns="0" tIns="0" rIns="0" bIns="0" rtlCol="0" anchor="ctr"/>
          <a:lstStyle/>
          <a:p>
            <a:pPr indent="0" marL="0">
              <a:buNone/>
            </a:pPr>
            <a:r>
              <a:rPr lang="en-US" sz="800" i="1" dirty="0">
                <a:solidFill>
                  <a:srgbClr val="C9AE86"/>
                </a:solidFill>
                <a:latin typeface="Poppins" pitchFamily="34" charset="0"/>
                <a:ea typeface="Poppins" pitchFamily="34" charset="-122"/>
                <a:cs typeface="Poppins" pitchFamily="34" charset="-120"/>
              </a:rPr>
              <a:t>Status 3 September 2026. Measured figures traceable to the generated metrics file.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AI &amp; Software Pipeline for Smart Extubation Early Warning</dc:title>
  <dc:subject>PptxGenJS Presentation</dc:subject>
  <dc:creator>University of Hyogo</dc:creator>
  <cp:lastModifiedBy>University of Hyogo</cp:lastModifiedBy>
  <cp:revision>1</cp:revision>
  <dcterms:created xsi:type="dcterms:W3CDTF">2026-09-03T21:51:46Z</dcterms:created>
  <dcterms:modified xsi:type="dcterms:W3CDTF">2026-09-03T21:51:46Z</dcterms:modified>
</cp:coreProperties>
</file>