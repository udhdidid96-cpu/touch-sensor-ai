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430000" cy="14959584"/>
  <p:notesSz cx="14959584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11210544" cy="14740128"/>
          </a:xfrm>
          <a:prstGeom prst="rect">
            <a:avLst/>
          </a:prstGeom>
          <a:solidFill>
            <a:srgbClr val="FFFFFF"/>
          </a:solidFill>
          <a:ln w="13970">
            <a:solidFill>
              <a:srgbClr val="1E3A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6638" y="876910"/>
            <a:ext cx="10177272" cy="2905963"/>
          </a:xfrm>
          <a:prstGeom prst="roundRect">
            <a:avLst>
              <a:gd name="adj" fmla="val 944"/>
            </a:avLst>
          </a:prstGeom>
          <a:solidFill>
            <a:srgbClr val="F5F7F8"/>
          </a:solidFill>
          <a:ln w="9525">
            <a:solidFill>
              <a:srgbClr val="E3E8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7726" y="995782"/>
            <a:ext cx="237744" cy="237744"/>
          </a:xfrm>
          <a:prstGeom prst="ellipse">
            <a:avLst/>
          </a:prstGeom>
          <a:solidFill>
            <a:srgbClr val="16202A"/>
          </a:solidFill>
          <a:ln w="6350">
            <a:solidFill>
              <a:srgbClr val="162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7726" y="99578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 rot="16200000">
            <a:off x="-1033272" y="2201875"/>
            <a:ext cx="29059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30" kern="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DATA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86638" y="4048963"/>
            <a:ext cx="10177272" cy="1022299"/>
          </a:xfrm>
          <a:prstGeom prst="roundRect">
            <a:avLst>
              <a:gd name="adj" fmla="val 2683"/>
            </a:avLst>
          </a:prstGeom>
          <a:solidFill>
            <a:srgbClr val="F5F7F8"/>
          </a:solidFill>
          <a:ln w="9525">
            <a:solidFill>
              <a:srgbClr val="E3E8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7726" y="4167835"/>
            <a:ext cx="237744" cy="237744"/>
          </a:xfrm>
          <a:prstGeom prst="ellipse">
            <a:avLst/>
          </a:prstGeom>
          <a:solidFill>
            <a:srgbClr val="16202A"/>
          </a:solidFill>
          <a:ln w="6350">
            <a:solidFill>
              <a:srgbClr val="162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7726" y="416783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 rot="16200000">
            <a:off x="-91440" y="4432097"/>
            <a:ext cx="1022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30" kern="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SEES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86638" y="5337353"/>
            <a:ext cx="10177272" cy="2435962"/>
          </a:xfrm>
          <a:prstGeom prst="roundRect">
            <a:avLst>
              <a:gd name="adj" fmla="val 1126"/>
            </a:avLst>
          </a:prstGeom>
          <a:solidFill>
            <a:srgbClr val="F5F7F8"/>
          </a:solidFill>
          <a:ln w="9525">
            <a:solidFill>
              <a:srgbClr val="E3E8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7726" y="5456225"/>
            <a:ext cx="237744" cy="237744"/>
          </a:xfrm>
          <a:prstGeom prst="ellipse">
            <a:avLst/>
          </a:prstGeom>
          <a:solidFill>
            <a:srgbClr val="16202A"/>
          </a:solidFill>
          <a:ln w="6350">
            <a:solidFill>
              <a:srgbClr val="162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7726" y="545622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 rot="16200000">
            <a:off x="-798271" y="6427318"/>
            <a:ext cx="24359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30" kern="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IT WORKS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86638" y="8040319"/>
            <a:ext cx="10177272" cy="1901038"/>
          </a:xfrm>
          <a:prstGeom prst="roundRect">
            <a:avLst>
              <a:gd name="adj" fmla="val 1443"/>
            </a:avLst>
          </a:prstGeom>
          <a:solidFill>
            <a:srgbClr val="F5F7F8"/>
          </a:solidFill>
          <a:ln w="9525">
            <a:solidFill>
              <a:srgbClr val="E3E8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7726" y="8159191"/>
            <a:ext cx="237744" cy="237744"/>
          </a:xfrm>
          <a:prstGeom prst="ellipse">
            <a:avLst/>
          </a:prstGeom>
          <a:solidFill>
            <a:srgbClr val="16202A"/>
          </a:solidFill>
          <a:ln w="6350">
            <a:solidFill>
              <a:srgbClr val="162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7726" y="815919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 rot="16200000">
            <a:off x="-530809" y="8862822"/>
            <a:ext cx="1901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30" kern="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 IS ALLOWED OUT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86638" y="10207447"/>
            <a:ext cx="10177272" cy="1022299"/>
          </a:xfrm>
          <a:prstGeom prst="roundRect">
            <a:avLst>
              <a:gd name="adj" fmla="val 2683"/>
            </a:avLst>
          </a:prstGeom>
          <a:solidFill>
            <a:srgbClr val="F5F7F8"/>
          </a:solidFill>
          <a:ln w="9525">
            <a:solidFill>
              <a:srgbClr val="E3E8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7726" y="10326319"/>
            <a:ext cx="237744" cy="237744"/>
          </a:xfrm>
          <a:prstGeom prst="ellipse">
            <a:avLst/>
          </a:prstGeom>
          <a:solidFill>
            <a:srgbClr val="16202A"/>
          </a:solidFill>
          <a:ln w="6350">
            <a:solidFill>
              <a:srgbClr val="1620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7726" y="1032631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 rot="16200000">
            <a:off x="-91440" y="10590581"/>
            <a:ext cx="1022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30" kern="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THAT SHIPS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86638" y="11495837"/>
            <a:ext cx="10177272" cy="1966874"/>
          </a:xfrm>
          <a:prstGeom prst="roundRect">
            <a:avLst>
              <a:gd name="adj" fmla="val 1395"/>
            </a:avLst>
          </a:prstGeom>
          <a:solidFill>
            <a:srgbClr val="F5F7F8"/>
          </a:solidFill>
          <a:ln w="9525">
            <a:solidFill>
              <a:srgbClr val="E3E8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7726" y="11614709"/>
            <a:ext cx="237744" cy="237744"/>
          </a:xfrm>
          <a:prstGeom prst="ellipse">
            <a:avLst/>
          </a:prstGeom>
          <a:solidFill>
            <a:srgbClr val="16202A"/>
          </a:solidFill>
          <a:ln w="6350">
            <a:solidFill>
              <a:srgbClr val="16202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7726" y="1161470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 rot="16200000">
            <a:off x="-563728" y="12351258"/>
            <a:ext cx="19668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30" kern="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BEDSIDE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350362" y="1388059"/>
            <a:ext cx="171907" cy="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124090" y="1388059"/>
            <a:ext cx="171907" cy="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097366" y="1688897"/>
            <a:ext cx="0" cy="144475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7726680" y="1833372"/>
            <a:ext cx="1369771" cy="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6680" y="1833372"/>
            <a:ext cx="0" cy="144475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H="1">
            <a:off x="6262726" y="2329891"/>
            <a:ext cx="171907" cy="0"/>
          </a:xfrm>
          <a:prstGeom prst="line">
            <a:avLst/>
          </a:prstGeom>
          <a:noFill/>
          <a:ln w="13970">
            <a:solidFill>
              <a:srgbClr val="9C3B2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726680" y="2681935"/>
            <a:ext cx="0" cy="117043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26680" y="2799893"/>
            <a:ext cx="235001" cy="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61681" y="2799893"/>
            <a:ext cx="0" cy="117043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5989320" y="3271723"/>
            <a:ext cx="171907" cy="0"/>
          </a:xfrm>
          <a:prstGeom prst="line">
            <a:avLst/>
          </a:prstGeom>
          <a:noFill/>
          <a:ln w="13970">
            <a:solidFill>
              <a:srgbClr val="94A3AB"/>
            </a:solidFill>
            <a:prstDash val="dash"/>
            <a:tailEnd type="triangle"/>
          </a:ln>
        </p:spPr>
      </p:sp>
      <p:sp>
        <p:nvSpPr>
          <p:cNvPr id="37" name="Shape 35"/>
          <p:cNvSpPr/>
          <p:nvPr/>
        </p:nvSpPr>
        <p:spPr>
          <a:xfrm flipH="1">
            <a:off x="845820" y="3271723"/>
            <a:ext cx="1542593" cy="0"/>
          </a:xfrm>
          <a:prstGeom prst="line">
            <a:avLst/>
          </a:prstGeom>
          <a:noFill/>
          <a:ln w="13970">
            <a:solidFill>
              <a:srgbClr val="94A3AB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845820" y="3271723"/>
            <a:ext cx="0" cy="6136538"/>
          </a:xfrm>
          <a:prstGeom prst="line">
            <a:avLst/>
          </a:prstGeom>
          <a:noFill/>
          <a:ln w="13970">
            <a:solidFill>
              <a:srgbClr val="94A3AB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845820" y="9408262"/>
            <a:ext cx="5668366" cy="0"/>
          </a:xfrm>
          <a:prstGeom prst="line">
            <a:avLst/>
          </a:prstGeom>
          <a:noFill/>
          <a:ln w="13970">
            <a:solidFill>
              <a:srgbClr val="94A3AB"/>
            </a:solidFill>
            <a:prstDash val="dash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961681" y="3626510"/>
            <a:ext cx="0" cy="289865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4149547" y="3916375"/>
            <a:ext cx="3813048" cy="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49547" y="3916375"/>
            <a:ext cx="0" cy="289865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989320" y="4560113"/>
            <a:ext cx="171907" cy="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001000" y="4860950"/>
            <a:ext cx="0" cy="316382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>
            <a:off x="2771546" y="5177333"/>
            <a:ext cx="5229454" cy="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71546" y="5177333"/>
            <a:ext cx="0" cy="316382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001000" y="4860950"/>
            <a:ext cx="0" cy="316382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>
            <a:off x="6075274" y="5177333"/>
            <a:ext cx="1925726" cy="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75274" y="5177333"/>
            <a:ext cx="0" cy="316382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001000" y="4860950"/>
            <a:ext cx="0" cy="316382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01000" y="5177333"/>
            <a:ext cx="1378001" cy="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79001" y="5177333"/>
            <a:ext cx="0" cy="316382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2771546" y="5728716"/>
            <a:ext cx="0" cy="235001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075274" y="5728716"/>
            <a:ext cx="0" cy="235001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379001" y="5728716"/>
            <a:ext cx="0" cy="235001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2771546" y="6673291"/>
            <a:ext cx="0" cy="28895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075274" y="6673291"/>
            <a:ext cx="0" cy="28895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9379001" y="6673291"/>
            <a:ext cx="0" cy="235001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2771546" y="7563002"/>
            <a:ext cx="0" cy="273406"/>
          </a:xfrm>
          <a:prstGeom prst="line">
            <a:avLst/>
          </a:prstGeom>
          <a:noFill/>
          <a:ln w="13970">
            <a:solidFill>
              <a:srgbClr val="17323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771546" y="7836408"/>
            <a:ext cx="1738274" cy="0"/>
          </a:xfrm>
          <a:prstGeom prst="line">
            <a:avLst/>
          </a:prstGeom>
          <a:noFill/>
          <a:ln w="13970">
            <a:solidFill>
              <a:srgbClr val="17323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09821" y="7836408"/>
            <a:ext cx="0" cy="360274"/>
          </a:xfrm>
          <a:prstGeom prst="line">
            <a:avLst/>
          </a:prstGeom>
          <a:noFill/>
          <a:ln w="13970">
            <a:solidFill>
              <a:srgbClr val="17323E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6075274" y="7563002"/>
            <a:ext cx="0" cy="633679"/>
          </a:xfrm>
          <a:prstGeom prst="line">
            <a:avLst/>
          </a:prstGeom>
          <a:noFill/>
          <a:ln w="13970">
            <a:solidFill>
              <a:srgbClr val="2F5B6D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9379001" y="7616952"/>
            <a:ext cx="0" cy="219456"/>
          </a:xfrm>
          <a:prstGeom prst="line">
            <a:avLst/>
          </a:prstGeom>
          <a:noFill/>
          <a:ln w="13970">
            <a:solidFill>
              <a:srgbClr val="4C829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H="1">
            <a:off x="7640726" y="7836408"/>
            <a:ext cx="1738274" cy="0"/>
          </a:xfrm>
          <a:prstGeom prst="line">
            <a:avLst/>
          </a:prstGeom>
          <a:noFill/>
          <a:ln w="13970">
            <a:solidFill>
              <a:srgbClr val="4C829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640726" y="7836408"/>
            <a:ext cx="0" cy="360274"/>
          </a:xfrm>
          <a:prstGeom prst="line">
            <a:avLst/>
          </a:prstGeom>
          <a:noFill/>
          <a:ln w="13970">
            <a:solidFill>
              <a:srgbClr val="4C8299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075274" y="8798357"/>
            <a:ext cx="0" cy="117043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75274" y="8915400"/>
            <a:ext cx="1925726" cy="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001000" y="8915400"/>
            <a:ext cx="0" cy="117043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 flipH="1">
            <a:off x="6341364" y="9408262"/>
            <a:ext cx="171907" cy="0"/>
          </a:xfrm>
          <a:prstGeom prst="line">
            <a:avLst/>
          </a:prstGeom>
          <a:noFill/>
          <a:ln w="13970">
            <a:solidFill>
              <a:srgbClr val="9C3B2E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8001000" y="9784080"/>
            <a:ext cx="0" cy="316382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H="1">
            <a:off x="4149547" y="10101377"/>
            <a:ext cx="3851453" cy="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149547" y="10101377"/>
            <a:ext cx="0" cy="316382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V="1">
            <a:off x="5989320" y="10718597"/>
            <a:ext cx="171907" cy="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8001000" y="11073384"/>
            <a:ext cx="0" cy="316382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H="1">
            <a:off x="2771546" y="11389766"/>
            <a:ext cx="5229454" cy="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71546" y="11389766"/>
            <a:ext cx="0" cy="316382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V="1">
            <a:off x="4336999" y="12006986"/>
            <a:ext cx="171907" cy="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7640726" y="12006986"/>
            <a:ext cx="171907" cy="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9379001" y="12307824"/>
            <a:ext cx="0" cy="171907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H="1">
            <a:off x="2771546" y="12478817"/>
            <a:ext cx="6607454" cy="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71546" y="12478817"/>
            <a:ext cx="0" cy="170993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 flipV="1">
            <a:off x="4336999" y="12951562"/>
            <a:ext cx="171907" cy="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7640726" y="12951562"/>
            <a:ext cx="171907" cy="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9379001" y="13251485"/>
            <a:ext cx="0" cy="238658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H="1">
            <a:off x="6075274" y="13490143"/>
            <a:ext cx="3303727" cy="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75274" y="13490143"/>
            <a:ext cx="0" cy="238658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87" name="Text 85"/>
          <p:cNvSpPr txBox="1"/>
          <p:nvPr/>
        </p:nvSpPr>
        <p:spPr>
          <a:xfrm>
            <a:off x="1252728" y="1216152"/>
            <a:ext cx="2098548" cy="344729"/>
          </a:xfrm>
          <a:prstGeom prst="roundRect">
            <a:avLst>
              <a:gd name="adj" fmla="val 23873"/>
            </a:avLst>
          </a:prstGeom>
          <a:solidFill>
            <a:srgbClr val="3B4750"/>
          </a:solidFill>
          <a:ln w="12700">
            <a:solidFill>
              <a:srgbClr val="3B475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RECORDING SESSION</a:t>
            </a:r>
            <a:endParaRPr 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3523183" y="1033272"/>
            <a:ext cx="3600907" cy="709574"/>
          </a:xfrm>
          <a:prstGeom prst="roundRect">
            <a:avLst>
              <a:gd name="adj" fmla="val 5799"/>
            </a:avLst>
          </a:prstGeom>
          <a:solidFill>
            <a:srgbClr val="FFFFFF"/>
          </a:solidFill>
          <a:ln w="15240">
            <a:solidFill>
              <a:srgbClr val="54707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6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Known Behaviour</a:t>
            </a:r>
            <a:endParaRPr lang="en-US" sz="6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patch is worn while nine known things happen to it, from lying still to a full pull; 81 recordings in all</a:t>
            </a:r>
            <a:endParaRPr lang="en-US" sz="650" dirty="0"/>
          </a:p>
        </p:txBody>
      </p:sp>
      <p:sp>
        <p:nvSpPr>
          <p:cNvPr id="89" name="Text 87"/>
          <p:cNvSpPr txBox="1"/>
          <p:nvPr/>
        </p:nvSpPr>
        <p:spPr>
          <a:xfrm>
            <a:off x="7295998" y="1087222"/>
            <a:ext cx="3600907" cy="601675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15240">
            <a:solidFill>
              <a:srgbClr val="54707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6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Four Levels</a:t>
            </a:r>
            <a:endParaRPr lang="en-US" sz="6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someone touching it, the dressing peeling, the tube being pulled</a:t>
            </a:r>
            <a:endParaRPr lang="en-US" sz="650" dirty="0"/>
          </a:p>
        </p:txBody>
      </p:sp>
      <p:sp>
        <p:nvSpPr>
          <p:cNvPr id="90" name="Text 88"/>
          <p:cNvSpPr txBox="1"/>
          <p:nvPr/>
        </p:nvSpPr>
        <p:spPr>
          <a:xfrm>
            <a:off x="3131820" y="2165299"/>
            <a:ext cx="3131820" cy="329184"/>
          </a:xfrm>
          <a:prstGeom prst="roundRect">
            <a:avLst>
              <a:gd name="adj" fmla="val 25000"/>
            </a:avLst>
          </a:prstGeom>
          <a:solidFill>
            <a:srgbClr val="9C3B2E"/>
          </a:solidFill>
          <a:ln w="12700">
            <a:solidFill>
              <a:srgbClr val="9C3B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- set the recording aside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6435547" y="1977847"/>
            <a:ext cx="2583180" cy="705002"/>
          </a:xfrm>
          <a:prstGeom prst="diamond">
            <a:avLst/>
          </a:prstGeom>
          <a:solidFill>
            <a:srgbClr val="FFFFFF"/>
          </a:solidFill>
          <a:ln w="15240">
            <a:solidFill>
              <a:srgbClr val="9C3B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recording usable ?</a:t>
            </a:r>
            <a:endParaRPr lang="en-US" sz="850" dirty="0"/>
          </a:p>
        </p:txBody>
      </p:sp>
      <p:sp>
        <p:nvSpPr>
          <p:cNvPr id="92" name="Text 90"/>
          <p:cNvSpPr txBox="1"/>
          <p:nvPr/>
        </p:nvSpPr>
        <p:spPr>
          <a:xfrm>
            <a:off x="2387498" y="2916936"/>
            <a:ext cx="3600907" cy="709574"/>
          </a:xfrm>
          <a:prstGeom prst="roundRect">
            <a:avLst>
              <a:gd name="adj" fmla="val 5799"/>
            </a:avLst>
          </a:prstGeom>
          <a:solidFill>
            <a:srgbClr val="FFFFFF"/>
          </a:solidFill>
          <a:ln w="15240">
            <a:solidFill>
              <a:srgbClr val="9C3B2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6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New Recording</a:t>
            </a:r>
            <a:endParaRPr lang="en-US" sz="6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patch lift as far as the design says it should, before this recording is allowed to teach anything</a:t>
            </a:r>
            <a:endParaRPr lang="en-US" sz="650" dirty="0"/>
          </a:p>
        </p:txBody>
      </p:sp>
      <p:sp>
        <p:nvSpPr>
          <p:cNvPr id="93" name="Text 91"/>
          <p:cNvSpPr txBox="1"/>
          <p:nvPr/>
        </p:nvSpPr>
        <p:spPr>
          <a:xfrm>
            <a:off x="6161227" y="2916936"/>
            <a:ext cx="3600907" cy="709574"/>
          </a:xfrm>
          <a:prstGeom prst="roundRect">
            <a:avLst>
              <a:gd name="adj" fmla="val 5799"/>
            </a:avLst>
          </a:prstGeom>
          <a:solidFill>
            <a:srgbClr val="FFFFFF"/>
          </a:solidFill>
          <a:ln w="15240">
            <a:solidFill>
              <a:srgbClr val="54707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6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Which Data This Came From</a:t>
            </a:r>
            <a:endParaRPr lang="en-US" sz="6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system can tell later whether the model still matches the data behind it</a:t>
            </a:r>
            <a:endParaRPr lang="en-US" sz="650" dirty="0"/>
          </a:p>
        </p:txBody>
      </p:sp>
      <p:sp>
        <p:nvSpPr>
          <p:cNvPr id="94" name="Text 92"/>
          <p:cNvSpPr txBox="1"/>
          <p:nvPr/>
        </p:nvSpPr>
        <p:spPr>
          <a:xfrm>
            <a:off x="2309774" y="4205326"/>
            <a:ext cx="3679546" cy="709574"/>
          </a:xfrm>
          <a:prstGeom prst="roundRect">
            <a:avLst>
              <a:gd name="adj" fmla="val 5799"/>
            </a:avLst>
          </a:prstGeom>
          <a:solidFill>
            <a:srgbClr val="FFFFFF"/>
          </a:solidFill>
          <a:ln w="15240">
            <a:solidFill>
              <a:srgbClr val="54707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6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the Slow Drift</a:t>
            </a:r>
            <a:endParaRPr lang="en-US" sz="6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 and body heat move the reading over hours; only a sudden change means something is happening</a:t>
            </a:r>
            <a:endParaRPr lang="en-US" sz="650" dirty="0"/>
          </a:p>
        </p:txBody>
      </p:sp>
      <p:sp>
        <p:nvSpPr>
          <p:cNvPr id="95" name="Text 93"/>
          <p:cNvSpPr txBox="1"/>
          <p:nvPr/>
        </p:nvSpPr>
        <p:spPr>
          <a:xfrm>
            <a:off x="6161227" y="4259275"/>
            <a:ext cx="3679546" cy="601675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15240">
            <a:solidFill>
              <a:srgbClr val="54707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6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Each Moment</a:t>
            </a:r>
            <a:endParaRPr lang="en-US" sz="6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each of the 25 pads moved, how many moved together, and how deep</a:t>
            </a:r>
            <a:endParaRPr lang="en-US" sz="650" dirty="0"/>
          </a:p>
        </p:txBody>
      </p:sp>
      <p:sp>
        <p:nvSpPr>
          <p:cNvPr id="96" name="Text 94"/>
          <p:cNvSpPr txBox="1"/>
          <p:nvPr/>
        </p:nvSpPr>
        <p:spPr>
          <a:xfrm>
            <a:off x="1205179" y="5494630"/>
            <a:ext cx="3131820" cy="235001"/>
          </a:xfrm>
          <a:prstGeom prst="roundRect">
            <a:avLst>
              <a:gd name="adj" fmla="val 19455"/>
            </a:avLst>
          </a:prstGeom>
          <a:solidFill>
            <a:srgbClr val="17323E"/>
          </a:solidFill>
          <a:ln w="12700">
            <a:solidFill>
              <a:srgbClr val="17323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RECORDING</a:t>
            </a:r>
            <a:endParaRPr lang="en-US" sz="900" dirty="0"/>
          </a:p>
        </p:txBody>
      </p:sp>
      <p:sp>
        <p:nvSpPr>
          <p:cNvPr id="97" name="Text 95"/>
          <p:cNvSpPr txBox="1"/>
          <p:nvPr/>
        </p:nvSpPr>
        <p:spPr>
          <a:xfrm>
            <a:off x="4509821" y="5494630"/>
            <a:ext cx="3131820" cy="235001"/>
          </a:xfrm>
          <a:prstGeom prst="roundRect">
            <a:avLst>
              <a:gd name="adj" fmla="val 19455"/>
            </a:avLst>
          </a:prstGeom>
          <a:solidFill>
            <a:srgbClr val="2F5B6D"/>
          </a:solidFill>
          <a:ln w="12700">
            <a:solidFill>
              <a:srgbClr val="2F5B6D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REAL EVENT</a:t>
            </a:r>
            <a:endParaRPr lang="en-US" sz="900" dirty="0"/>
          </a:p>
        </p:txBody>
      </p:sp>
      <p:sp>
        <p:nvSpPr>
          <p:cNvPr id="98" name="Text 96"/>
          <p:cNvSpPr txBox="1"/>
          <p:nvPr/>
        </p:nvSpPr>
        <p:spPr>
          <a:xfrm>
            <a:off x="7813548" y="5494630"/>
            <a:ext cx="3131820" cy="235001"/>
          </a:xfrm>
          <a:prstGeom prst="roundRect">
            <a:avLst>
              <a:gd name="adj" fmla="val 19455"/>
            </a:avLst>
          </a:prstGeom>
          <a:solidFill>
            <a:srgbClr val="4C8299"/>
          </a:solidFill>
          <a:ln w="12700">
            <a:solidFill>
              <a:srgbClr val="4C8299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BURDEN</a:t>
            </a:r>
            <a:endParaRPr lang="en-US" sz="900" dirty="0"/>
          </a:p>
        </p:txBody>
      </p:sp>
      <p:sp>
        <p:nvSpPr>
          <p:cNvPr id="99" name="Text 97"/>
          <p:cNvSpPr txBox="1"/>
          <p:nvPr/>
        </p:nvSpPr>
        <p:spPr>
          <a:xfrm>
            <a:off x="1205179" y="5963717"/>
            <a:ext cx="3131820" cy="709574"/>
          </a:xfrm>
          <a:prstGeom prst="roundRect">
            <a:avLst>
              <a:gd name="adj" fmla="val 5799"/>
            </a:avLst>
          </a:prstGeom>
          <a:solidFill>
            <a:srgbClr val="FFFFFF"/>
          </a:solidFill>
          <a:ln w="15240">
            <a:solidFill>
              <a:srgbClr val="17323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6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a Recording It Never Saw</a:t>
            </a:r>
            <a:endParaRPr lang="en-US" sz="6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the other 80, then judge the one held back, and repeat for all 81</a:t>
            </a:r>
            <a:endParaRPr lang="en-US" sz="650" dirty="0"/>
          </a:p>
        </p:txBody>
      </p:sp>
      <p:sp>
        <p:nvSpPr>
          <p:cNvPr id="100" name="Text 98"/>
          <p:cNvSpPr txBox="1"/>
          <p:nvPr/>
        </p:nvSpPr>
        <p:spPr>
          <a:xfrm>
            <a:off x="4509821" y="5963717"/>
            <a:ext cx="3131820" cy="709574"/>
          </a:xfrm>
          <a:prstGeom prst="roundRect">
            <a:avLst>
              <a:gd name="adj" fmla="val 5799"/>
            </a:avLst>
          </a:prstGeom>
          <a:solidFill>
            <a:srgbClr val="FFFFFF"/>
          </a:solidFill>
          <a:ln w="15240">
            <a:solidFill>
              <a:srgbClr val="2F5B6D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6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Every Moment Blind</a:t>
            </a:r>
            <a:endParaRPr lang="en-US" sz="6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moment is scored by a model that never learned from its own recording</a:t>
            </a:r>
            <a:endParaRPr lang="en-US" sz="650" dirty="0"/>
          </a:p>
        </p:txBody>
      </p:sp>
      <p:sp>
        <p:nvSpPr>
          <p:cNvPr id="101" name="Text 99"/>
          <p:cNvSpPr txBox="1"/>
          <p:nvPr/>
        </p:nvSpPr>
        <p:spPr>
          <a:xfrm>
            <a:off x="7813548" y="5963717"/>
            <a:ext cx="3131820" cy="709574"/>
          </a:xfrm>
          <a:prstGeom prst="roundRect">
            <a:avLst>
              <a:gd name="adj" fmla="val 5799"/>
            </a:avLst>
          </a:prstGeom>
          <a:solidFill>
            <a:srgbClr val="FFFFFF"/>
          </a:solidFill>
          <a:ln w="15240">
            <a:solidFill>
              <a:srgbClr val="4C8299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6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F6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Every Alarm Setting</a:t>
            </a:r>
            <a:endParaRPr lang="en-US" sz="6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agreeing moments before it sounds, and how long it keeps sounding</a:t>
            </a:r>
            <a:endParaRPr lang="en-US" sz="650" dirty="0"/>
          </a:p>
        </p:txBody>
      </p:sp>
      <p:sp>
        <p:nvSpPr>
          <p:cNvPr id="102" name="Text 100"/>
          <p:cNvSpPr txBox="1"/>
          <p:nvPr/>
        </p:nvSpPr>
        <p:spPr>
          <a:xfrm>
            <a:off x="1205179" y="6962242"/>
            <a:ext cx="3131820" cy="601675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15240">
            <a:solidFill>
              <a:srgbClr val="17323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6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Clip Is Called Right</a:t>
            </a:r>
            <a:endParaRPr lang="en-US" sz="6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of 81, and the honest range around that is 91 to 99 per cent</a:t>
            </a:r>
            <a:endParaRPr lang="en-US" sz="650" dirty="0"/>
          </a:p>
        </p:txBody>
      </p:sp>
      <p:sp>
        <p:nvSpPr>
          <p:cNvPr id="103" name="Text 101"/>
          <p:cNvSpPr txBox="1"/>
          <p:nvPr/>
        </p:nvSpPr>
        <p:spPr>
          <a:xfrm>
            <a:off x="4509821" y="6962242"/>
            <a:ext cx="3131820" cy="601675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15240">
            <a:solidFill>
              <a:srgbClr val="2F5B6D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6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Real Events Are Caught</a:t>
            </a:r>
            <a:endParaRPr lang="en-US" sz="6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them, and the warning comes about six seconds in</a:t>
            </a:r>
            <a:endParaRPr lang="en-US" sz="650" dirty="0"/>
          </a:p>
        </p:txBody>
      </p:sp>
      <p:sp>
        <p:nvSpPr>
          <p:cNvPr id="104" name="Text 102"/>
          <p:cNvSpPr txBox="1"/>
          <p:nvPr/>
        </p:nvSpPr>
        <p:spPr>
          <a:xfrm>
            <a:off x="7813548" y="6908292"/>
            <a:ext cx="3131820" cy="709574"/>
          </a:xfrm>
          <a:prstGeom prst="roundRect">
            <a:avLst>
              <a:gd name="adj" fmla="val 5799"/>
            </a:avLst>
          </a:prstGeom>
          <a:solidFill>
            <a:srgbClr val="FFFFFF"/>
          </a:solidFill>
          <a:ln w="15240">
            <a:solidFill>
              <a:srgbClr val="4C8299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6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F6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What a Ward Can Live With</a:t>
            </a:r>
            <a:endParaRPr lang="en-US" sz="6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every event, at the cost of roughly eight false alarms an hour</a:t>
            </a:r>
            <a:endParaRPr lang="en-US" sz="650" dirty="0"/>
          </a:p>
        </p:txBody>
      </p:sp>
      <p:sp>
        <p:nvSpPr>
          <p:cNvPr id="105" name="Text 103"/>
          <p:cNvSpPr txBox="1"/>
          <p:nvPr/>
        </p:nvSpPr>
        <p:spPr>
          <a:xfrm>
            <a:off x="3491179" y="8196682"/>
            <a:ext cx="5167274" cy="601675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15240">
            <a:solidFill>
              <a:srgbClr val="54707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6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Measured Numbers Down</a:t>
            </a:r>
            <a:endParaRPr lang="en-US" sz="6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report, and it is the only place any figure may be quoted from</a:t>
            </a:r>
            <a:endParaRPr lang="en-US" sz="650" dirty="0"/>
          </a:p>
        </p:txBody>
      </p:sp>
      <p:sp>
        <p:nvSpPr>
          <p:cNvPr id="106" name="Text 104"/>
          <p:cNvSpPr txBox="1"/>
          <p:nvPr/>
        </p:nvSpPr>
        <p:spPr>
          <a:xfrm>
            <a:off x="2661818" y="9244584"/>
            <a:ext cx="3679546" cy="329184"/>
          </a:xfrm>
          <a:prstGeom prst="roundRect">
            <a:avLst>
              <a:gd name="adj" fmla="val 25000"/>
            </a:avLst>
          </a:prstGeom>
          <a:solidFill>
            <a:srgbClr val="9C3B2E"/>
          </a:solidFill>
          <a:ln w="12700">
            <a:solidFill>
              <a:srgbClr val="9C3B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- then the work is wrong, not the report</a:t>
            </a:r>
            <a:endParaRPr lang="en-US" sz="950" dirty="0"/>
          </a:p>
        </p:txBody>
      </p:sp>
      <p:sp>
        <p:nvSpPr>
          <p:cNvPr id="107" name="Text 105"/>
          <p:cNvSpPr txBox="1"/>
          <p:nvPr/>
        </p:nvSpPr>
        <p:spPr>
          <a:xfrm>
            <a:off x="6513271" y="9032443"/>
            <a:ext cx="2974543" cy="751637"/>
          </a:xfrm>
          <a:prstGeom prst="diamond">
            <a:avLst/>
          </a:prstGeom>
          <a:solidFill>
            <a:srgbClr val="FFFFFF"/>
          </a:solidFill>
          <a:ln w="15240">
            <a:solidFill>
              <a:srgbClr val="9C3B2E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numbers, everything still passes ?</a:t>
            </a:r>
            <a:endParaRPr lang="en-US" sz="850" dirty="0"/>
          </a:p>
        </p:txBody>
      </p:sp>
      <p:sp>
        <p:nvSpPr>
          <p:cNvPr id="108" name="Text 106"/>
          <p:cNvSpPr txBox="1"/>
          <p:nvPr/>
        </p:nvSpPr>
        <p:spPr>
          <a:xfrm>
            <a:off x="2309774" y="10417759"/>
            <a:ext cx="3679546" cy="601675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15240">
            <a:solidFill>
              <a:srgbClr val="54707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6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Model That Will Be Used</a:t>
            </a:r>
            <a:endParaRPr lang="en-US" sz="6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gradient-boosted decision-tree model, learning from every recording at once</a:t>
            </a:r>
            <a:endParaRPr lang="en-US" sz="650" dirty="0"/>
          </a:p>
        </p:txBody>
      </p:sp>
      <p:sp>
        <p:nvSpPr>
          <p:cNvPr id="109" name="Text 107"/>
          <p:cNvSpPr txBox="1"/>
          <p:nvPr/>
        </p:nvSpPr>
        <p:spPr>
          <a:xfrm>
            <a:off x="6161227" y="10363810"/>
            <a:ext cx="3679546" cy="709574"/>
          </a:xfrm>
          <a:prstGeom prst="roundRect">
            <a:avLst>
              <a:gd name="adj" fmla="val 5799"/>
            </a:avLst>
          </a:prstGeom>
          <a:solidFill>
            <a:srgbClr val="FFFFFF"/>
          </a:solidFill>
          <a:ln w="15240">
            <a:solidFill>
              <a:srgbClr val="9C3B2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6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 It</a:t>
            </a:r>
            <a:endParaRPr lang="en-US" sz="6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with a fingerprint, so a swapped or damaged model is refused rather than quietly used</a:t>
            </a:r>
            <a:endParaRPr lang="en-US" sz="650" dirty="0"/>
          </a:p>
        </p:txBody>
      </p:sp>
      <p:sp>
        <p:nvSpPr>
          <p:cNvPr id="110" name="Text 108"/>
          <p:cNvSpPr txBox="1"/>
          <p:nvPr/>
        </p:nvSpPr>
        <p:spPr>
          <a:xfrm>
            <a:off x="1205179" y="11706149"/>
            <a:ext cx="3131820" cy="601675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15240">
            <a:solidFill>
              <a:srgbClr val="54707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</a:t>
            </a:r>
            <a:endParaRPr lang="en-US" sz="6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Reading Arrives</a:t>
            </a:r>
            <a:endParaRPr lang="en-US" sz="6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25 pads, about twice a second</a:t>
            </a:r>
            <a:endParaRPr lang="en-US" sz="650" dirty="0"/>
          </a:p>
        </p:txBody>
      </p:sp>
      <p:sp>
        <p:nvSpPr>
          <p:cNvPr id="111" name="Text 109"/>
          <p:cNvSpPr txBox="1"/>
          <p:nvPr/>
        </p:nvSpPr>
        <p:spPr>
          <a:xfrm>
            <a:off x="4509821" y="11652199"/>
            <a:ext cx="3131820" cy="709574"/>
          </a:xfrm>
          <a:prstGeom prst="roundRect">
            <a:avLst>
              <a:gd name="adj" fmla="val 5799"/>
            </a:avLst>
          </a:prstGeom>
          <a:solidFill>
            <a:srgbClr val="FFFFFF"/>
          </a:solidFill>
          <a:ln w="15240">
            <a:solidFill>
              <a:srgbClr val="54707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</a:t>
            </a:r>
            <a:endParaRPr lang="en-US" sz="6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Distrust a Broken Reading</a:t>
            </a:r>
            <a:endParaRPr lang="en-US" sz="6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sensor drops out, hold the last level rather than report that all is well</a:t>
            </a:r>
            <a:endParaRPr lang="en-US" sz="650" dirty="0"/>
          </a:p>
        </p:txBody>
      </p:sp>
      <p:sp>
        <p:nvSpPr>
          <p:cNvPr id="112" name="Text 110"/>
          <p:cNvSpPr txBox="1"/>
          <p:nvPr/>
        </p:nvSpPr>
        <p:spPr>
          <a:xfrm>
            <a:off x="7813548" y="11706149"/>
            <a:ext cx="3131820" cy="601675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15240">
            <a:solidFill>
              <a:srgbClr val="54707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</a:t>
            </a:r>
            <a:endParaRPr lang="en-US" sz="6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the Drift</a:t>
            </a:r>
            <a:endParaRPr lang="en-US" sz="6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as it was done while learning</a:t>
            </a:r>
            <a:endParaRPr lang="en-US" sz="650" dirty="0"/>
          </a:p>
        </p:txBody>
      </p:sp>
      <p:sp>
        <p:nvSpPr>
          <p:cNvPr id="113" name="Text 111"/>
          <p:cNvSpPr txBox="1"/>
          <p:nvPr/>
        </p:nvSpPr>
        <p:spPr>
          <a:xfrm>
            <a:off x="1205179" y="12650724"/>
            <a:ext cx="3131820" cy="601675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15240">
            <a:solidFill>
              <a:srgbClr val="54707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</a:t>
            </a:r>
            <a:endParaRPr lang="en-US" sz="6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Moment</a:t>
            </a:r>
            <a:endParaRPr lang="en-US" sz="6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same description as while learning</a:t>
            </a:r>
            <a:endParaRPr lang="en-US" sz="650" dirty="0"/>
          </a:p>
        </p:txBody>
      </p:sp>
      <p:sp>
        <p:nvSpPr>
          <p:cNvPr id="114" name="Text 112"/>
          <p:cNvSpPr txBox="1"/>
          <p:nvPr/>
        </p:nvSpPr>
        <p:spPr>
          <a:xfrm>
            <a:off x="4509821" y="12596774"/>
            <a:ext cx="3131820" cy="709574"/>
          </a:xfrm>
          <a:prstGeom prst="roundRect">
            <a:avLst>
              <a:gd name="adj" fmla="val 5799"/>
            </a:avLst>
          </a:prstGeom>
          <a:solidFill>
            <a:srgbClr val="FFFFFF"/>
          </a:solidFill>
          <a:ln w="15240">
            <a:solidFill>
              <a:srgbClr val="54707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S19</a:t>
            </a:r>
            <a:endParaRPr lang="en-US" sz="6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Is Happening</a:t>
            </a:r>
            <a:endParaRPr lang="en-US" sz="6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 to matter, a touch, peeling, or a pull, with a risk score alongside</a:t>
            </a:r>
            <a:endParaRPr lang="en-US" sz="650" dirty="0"/>
          </a:p>
        </p:txBody>
      </p:sp>
      <p:sp>
        <p:nvSpPr>
          <p:cNvPr id="115" name="Text 113"/>
          <p:cNvSpPr txBox="1"/>
          <p:nvPr/>
        </p:nvSpPr>
        <p:spPr>
          <a:xfrm>
            <a:off x="7813548" y="12650724"/>
            <a:ext cx="3131820" cy="601675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15240">
            <a:solidFill>
              <a:srgbClr val="54707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spc="8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</a:t>
            </a:r>
            <a:endParaRPr lang="en-US" sz="6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Agreement</a:t>
            </a:r>
            <a:endParaRPr lang="en-US" sz="6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odd moment is not an alarm; several in a row is</a:t>
            </a:r>
            <a:endParaRPr lang="en-US" sz="650" dirty="0"/>
          </a:p>
        </p:txBody>
      </p:sp>
      <p:sp>
        <p:nvSpPr>
          <p:cNvPr id="116" name="Text 114"/>
          <p:cNvSpPr txBox="1"/>
          <p:nvPr/>
        </p:nvSpPr>
        <p:spPr>
          <a:xfrm>
            <a:off x="2082089" y="13728802"/>
            <a:ext cx="7985455" cy="391363"/>
          </a:xfrm>
          <a:prstGeom prst="roundRect">
            <a:avLst>
              <a:gd name="adj" fmla="val 21028"/>
            </a:avLst>
          </a:prstGeom>
          <a:solidFill>
            <a:srgbClr val="17323E"/>
          </a:solidFill>
          <a:ln w="12700">
            <a:solidFill>
              <a:srgbClr val="17323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   how serious it is,  how risky,  and where the patch is lifting</a:t>
            </a:r>
            <a:endParaRPr lang="en-US" sz="950" dirty="0"/>
          </a:p>
        </p:txBody>
      </p:sp>
      <p:sp>
        <p:nvSpPr>
          <p:cNvPr id="117" name="Text 115"/>
          <p:cNvSpPr txBox="1"/>
          <p:nvPr/>
        </p:nvSpPr>
        <p:spPr>
          <a:xfrm>
            <a:off x="5685739" y="2164385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700" dirty="0"/>
          </a:p>
        </p:txBody>
      </p:sp>
      <p:sp>
        <p:nvSpPr>
          <p:cNvPr id="118" name="Text 116"/>
          <p:cNvSpPr txBox="1"/>
          <p:nvPr/>
        </p:nvSpPr>
        <p:spPr>
          <a:xfrm>
            <a:off x="7063740" y="257495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4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119" name="Text 117"/>
          <p:cNvSpPr txBox="1"/>
          <p:nvPr/>
        </p:nvSpPr>
        <p:spPr>
          <a:xfrm>
            <a:off x="5412334" y="3106217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same time</a:t>
            </a:r>
            <a:endParaRPr lang="en-US" sz="700" dirty="0"/>
          </a:p>
        </p:txBody>
      </p:sp>
      <p:sp>
        <p:nvSpPr>
          <p:cNvPr id="120" name="Text 118"/>
          <p:cNvSpPr txBox="1"/>
          <p:nvPr/>
        </p:nvSpPr>
        <p:spPr>
          <a:xfrm rot="16200000">
            <a:off x="224028" y="623986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check found</a:t>
            </a:r>
            <a:endParaRPr lang="en-US" sz="650" dirty="0"/>
          </a:p>
        </p:txBody>
      </p:sp>
      <p:sp>
        <p:nvSpPr>
          <p:cNvPr id="121" name="Text 119"/>
          <p:cNvSpPr txBox="1"/>
          <p:nvPr/>
        </p:nvSpPr>
        <p:spPr>
          <a:xfrm>
            <a:off x="2108606" y="753374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17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a clip is right</a:t>
            </a:r>
            <a:endParaRPr lang="en-US" sz="700" dirty="0"/>
          </a:p>
        </p:txBody>
      </p:sp>
      <p:sp>
        <p:nvSpPr>
          <p:cNvPr id="122" name="Text 120"/>
          <p:cNvSpPr txBox="1"/>
          <p:nvPr/>
        </p:nvSpPr>
        <p:spPr>
          <a:xfrm>
            <a:off x="6145682" y="771387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2F5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events are caught</a:t>
            </a:r>
            <a:endParaRPr lang="en-US" sz="700" dirty="0"/>
          </a:p>
        </p:txBody>
      </p:sp>
      <p:sp>
        <p:nvSpPr>
          <p:cNvPr id="123" name="Text 121"/>
          <p:cNvSpPr txBox="1"/>
          <p:nvPr/>
        </p:nvSpPr>
        <p:spPr>
          <a:xfrm>
            <a:off x="8716061" y="756117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4C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chosen alarm setting</a:t>
            </a:r>
            <a:endParaRPr lang="en-US" sz="700" dirty="0"/>
          </a:p>
        </p:txBody>
      </p:sp>
      <p:sp>
        <p:nvSpPr>
          <p:cNvPr id="124" name="Text 122"/>
          <p:cNvSpPr txBox="1"/>
          <p:nvPr/>
        </p:nvSpPr>
        <p:spPr>
          <a:xfrm>
            <a:off x="5764378" y="9242755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700" dirty="0"/>
          </a:p>
        </p:txBody>
      </p:sp>
      <p:sp>
        <p:nvSpPr>
          <p:cNvPr id="125" name="Text 123"/>
          <p:cNvSpPr txBox="1"/>
          <p:nvPr/>
        </p:nvSpPr>
        <p:spPr>
          <a:xfrm>
            <a:off x="7338060" y="9776765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45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126" name="Text 124"/>
          <p:cNvSpPr txBox="1"/>
          <p:nvPr/>
        </p:nvSpPr>
        <p:spPr>
          <a:xfrm>
            <a:off x="548640" y="235001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Smart Dressing Learns, and How It Decides</a:t>
            </a:r>
            <a:endParaRPr lang="en-US" sz="2000" dirty="0"/>
          </a:p>
        </p:txBody>
      </p:sp>
      <p:sp>
        <p:nvSpPr>
          <p:cNvPr id="127" name="Text 125"/>
          <p:cNvSpPr txBox="1"/>
          <p:nvPr/>
        </p:nvSpPr>
        <p:spPr>
          <a:xfrm>
            <a:off x="548640" y="563270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says what that stage does; the labels on the arrows say what is handed to the next stage</a:t>
            </a:r>
            <a:endParaRPr lang="en-US" sz="950" dirty="0"/>
          </a:p>
        </p:txBody>
      </p:sp>
      <p:sp>
        <p:nvSpPr>
          <p:cNvPr id="128" name="Text 126"/>
          <p:cNvSpPr txBox="1"/>
          <p:nvPr/>
        </p:nvSpPr>
        <p:spPr>
          <a:xfrm>
            <a:off x="548640" y="14392656"/>
            <a:ext cx="10332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bedside the drift is cancelled and each moment described exactly as it was during learning, which is why the measured figures describe what a ward would actually see.</a:t>
            </a:r>
            <a:endParaRPr lang="en-US" sz="750" dirty="0"/>
          </a:p>
        </p:txBody>
      </p:sp>
      <p:sp>
        <p:nvSpPr>
          <p:cNvPr id="129" name="Text 127"/>
          <p:cNvSpPr txBox="1"/>
          <p:nvPr/>
        </p:nvSpPr>
        <p:spPr>
          <a:xfrm>
            <a:off x="548640" y="14566392"/>
            <a:ext cx="10332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57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one round of bench recordings with a single patch mounting. The patch does not yet lift as far as the design requires, and a sideways pull does not lift it at all.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2026-08-30T10:12:58Z</dcterms:created>
  <dcterms:modified xsi:type="dcterms:W3CDTF">2026-08-30T10:12:58Z</dcterms:modified>
</cp:coreProperties>
</file>