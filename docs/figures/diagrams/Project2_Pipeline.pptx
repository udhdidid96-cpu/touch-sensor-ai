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device, and the two questions this deck answers: how it is taught, and how it decides at the bedside.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Drift removal and the description of each moment are the two things the live system repeats exactly.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Recording-level accuracy depends on clip length, so the episode figure is the clinical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rule that stopped figures drifting away from the code that produced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Steps 3, 4 and 6 are the same code that produced the measured figures.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Leading with the limitations is the strongest thing a safety-device submission can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515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C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  ·   SMART EXTUBATION EARLY WARNING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9072677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Smart Dressing Learns,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How It Decides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54680"/>
            <a:ext cx="75236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F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25-pad capacitive dressing that warns before an intubated patient pulls out their own breathing tube.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4343400"/>
            <a:ext cx="3474720" cy="1417320"/>
          </a:xfrm>
          <a:prstGeom prst="roundRect">
            <a:avLst>
              <a:gd name="adj" fmla="val 3871"/>
            </a:avLst>
          </a:prstGeom>
          <a:solidFill>
            <a:srgbClr val="0F2833"/>
          </a:solidFill>
          <a:ln w="12700">
            <a:solidFill>
              <a:srgbClr val="2441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4526280"/>
            <a:ext cx="2889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5193792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 recordings, nine kinds of behaviour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4343400"/>
            <a:ext cx="3474720" cy="1417320"/>
          </a:xfrm>
          <a:prstGeom prst="roundRect">
            <a:avLst>
              <a:gd name="adj" fmla="val 3871"/>
            </a:avLst>
          </a:prstGeom>
          <a:solidFill>
            <a:srgbClr val="0F2833"/>
          </a:solidFill>
          <a:ln w="12700">
            <a:solidFill>
              <a:srgbClr val="2441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36008" y="4526280"/>
            <a:ext cx="2889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4636008" y="5193792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event caught in testing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38160" y="4343400"/>
            <a:ext cx="3474720" cy="1417320"/>
          </a:xfrm>
          <a:prstGeom prst="roundRect">
            <a:avLst>
              <a:gd name="adj" fmla="val 3871"/>
            </a:avLst>
          </a:prstGeom>
          <a:solidFill>
            <a:srgbClr val="0F2833"/>
          </a:solidFill>
          <a:ln w="12700">
            <a:solidFill>
              <a:srgbClr val="2441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30768" y="4526280"/>
            <a:ext cx="2889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8430768" y="5193792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 an hour, the price of catching them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from data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95152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57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patch is worn while nine known things happen to it, and what happened becomes the answer we teach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560320" cy="2697480"/>
          </a:xfrm>
          <a:prstGeom prst="roundRect">
            <a:avLst>
              <a:gd name="adj" fmla="val 2143"/>
            </a:avLst>
          </a:prstGeom>
          <a:solidFill>
            <a:srgbClr val="F5F7F8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121408"/>
            <a:ext cx="310896" cy="310896"/>
          </a:xfrm>
          <a:prstGeom prst="ellipse">
            <a:avLst/>
          </a:prstGeom>
          <a:solidFill>
            <a:srgbClr val="17323E"/>
          </a:solidFill>
          <a:ln w="12700">
            <a:solidFill>
              <a:srgbClr val="17323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2121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578608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 what happens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163824"/>
            <a:ext cx="20482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7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kinds of activity, from lying still to a full pull. Eighty-one recordings in all.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54680" y="3035808"/>
            <a:ext cx="182880" cy="0"/>
          </a:xfrm>
          <a:prstGeom prst="line">
            <a:avLst/>
          </a:prstGeom>
          <a:noFill/>
          <a:ln w="19050">
            <a:solidFill>
              <a:srgbClr val="8A9AA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383280" y="1874520"/>
            <a:ext cx="2560320" cy="2697480"/>
          </a:xfrm>
          <a:prstGeom prst="roundRect">
            <a:avLst>
              <a:gd name="adj" fmla="val 2143"/>
            </a:avLst>
          </a:prstGeom>
          <a:solidFill>
            <a:srgbClr val="F5F7F8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39312" y="2121408"/>
            <a:ext cx="310896" cy="310896"/>
          </a:xfrm>
          <a:prstGeom prst="ellipse">
            <a:avLst/>
          </a:prstGeom>
          <a:solidFill>
            <a:srgbClr val="17323E"/>
          </a:solidFill>
          <a:ln w="12700">
            <a:solidFill>
              <a:srgbClr val="17323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39312" y="2121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639312" y="2578608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 into four levels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639312" y="3163824"/>
            <a:ext cx="20482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7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Normal. Someone touching it. The dressing peeling. The tube being pulled.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89320" y="3035808"/>
            <a:ext cx="182880" cy="0"/>
          </a:xfrm>
          <a:prstGeom prst="line">
            <a:avLst/>
          </a:prstGeom>
          <a:noFill/>
          <a:ln w="19050">
            <a:solidFill>
              <a:srgbClr val="8A9AA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17920" y="1874520"/>
            <a:ext cx="2560320" cy="2697480"/>
          </a:xfrm>
          <a:prstGeom prst="roundRect">
            <a:avLst>
              <a:gd name="adj" fmla="val 2143"/>
            </a:avLst>
          </a:prstGeom>
          <a:solidFill>
            <a:srgbClr val="F5F7F8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73952" y="2121408"/>
            <a:ext cx="310896" cy="310896"/>
          </a:xfrm>
          <a:prstGeom prst="ellipse">
            <a:avLst/>
          </a:prstGeom>
          <a:solidFill>
            <a:srgbClr val="17323E"/>
          </a:solidFill>
          <a:ln w="12700">
            <a:solidFill>
              <a:srgbClr val="17323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73952" y="2121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73952" y="2578608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Cancel the slow drift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73952" y="3163824"/>
            <a:ext cx="20482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7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Sweat and body heat move the reading over hours. Only a sudden change means something is happening.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823960" y="3035808"/>
            <a:ext cx="182880" cy="0"/>
          </a:xfrm>
          <a:prstGeom prst="line">
            <a:avLst/>
          </a:prstGeom>
          <a:noFill/>
          <a:ln w="19050">
            <a:solidFill>
              <a:srgbClr val="8A9AA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052560" y="1874520"/>
            <a:ext cx="2560320" cy="2697480"/>
          </a:xfrm>
          <a:prstGeom prst="roundRect">
            <a:avLst>
              <a:gd name="adj" fmla="val 2143"/>
            </a:avLst>
          </a:prstGeom>
          <a:solidFill>
            <a:srgbClr val="F5F7F8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08592" y="2121408"/>
            <a:ext cx="310896" cy="310896"/>
          </a:xfrm>
          <a:prstGeom prst="ellipse">
            <a:avLst/>
          </a:prstGeom>
          <a:solidFill>
            <a:srgbClr val="17323E"/>
          </a:solidFill>
          <a:ln w="12700">
            <a:solidFill>
              <a:srgbClr val="17323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308592" y="2121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9308592" y="2578608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Describe each moment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308592" y="3163824"/>
            <a:ext cx="20482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7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each of the 25 pads moved, how many moved together, and how deep.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983480"/>
            <a:ext cx="11064240" cy="932688"/>
          </a:xfrm>
          <a:prstGeom prst="roundRect">
            <a:avLst>
              <a:gd name="adj" fmla="val 5882"/>
            </a:avLst>
          </a:prstGeom>
          <a:solidFill>
            <a:srgbClr val="FCF4F2"/>
          </a:solidFill>
          <a:ln w="12700">
            <a:solidFill>
              <a:srgbClr val="9C3B2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41248" y="5285232"/>
            <a:ext cx="10479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recording that does not lift as far as the design requires is set aside before it is allowed to teach anything.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well it works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95152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57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three ways, because each answers a different question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44240" cy="3611880"/>
          </a:xfrm>
          <a:prstGeom prst="roundRect">
            <a:avLst>
              <a:gd name="adj" fmla="val 1593"/>
            </a:avLst>
          </a:prstGeom>
          <a:solidFill>
            <a:srgbClr val="F5F7F8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2895600" cy="347472"/>
          </a:xfrm>
          <a:prstGeom prst="roundRect">
            <a:avLst>
              <a:gd name="adj" fmla="val 13158"/>
            </a:avLst>
          </a:prstGeom>
          <a:solidFill>
            <a:srgbClr val="17323E"/>
          </a:solidFill>
          <a:ln w="12700">
            <a:solidFill>
              <a:srgbClr val="17323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289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RECORDING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289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732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97.5%</a:t>
            </a:r>
            <a:endParaRPr lang="en-US" sz="5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03320"/>
            <a:ext cx="289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7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recordings judged correctly, 79 of 81. The honest range around that is 91 to 99 per cent.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58640" y="1828800"/>
            <a:ext cx="3444240" cy="3611880"/>
          </a:xfrm>
          <a:prstGeom prst="roundRect">
            <a:avLst>
              <a:gd name="adj" fmla="val 1593"/>
            </a:avLst>
          </a:prstGeom>
          <a:solidFill>
            <a:srgbClr val="F5F7F8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2960" y="2103120"/>
            <a:ext cx="2895600" cy="347472"/>
          </a:xfrm>
          <a:prstGeom prst="roundRect">
            <a:avLst>
              <a:gd name="adj" fmla="val 13158"/>
            </a:avLst>
          </a:prstGeom>
          <a:solidFill>
            <a:srgbClr val="2F5B6D"/>
          </a:solidFill>
          <a:ln w="12700">
            <a:solidFill>
              <a:srgbClr val="2F5B6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32960" y="2103120"/>
            <a:ext cx="289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REAL EVENT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632960" y="2697480"/>
            <a:ext cx="289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2F5B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5000" dirty="0"/>
          </a:p>
        </p:txBody>
      </p:sp>
      <p:sp>
        <p:nvSpPr>
          <p:cNvPr id="13" name="Text 11"/>
          <p:cNvSpPr txBox="1"/>
          <p:nvPr/>
        </p:nvSpPr>
        <p:spPr>
          <a:xfrm>
            <a:off x="4632960" y="3703320"/>
            <a:ext cx="289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7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real events caught, with the warning arriving about six seconds in. This is the number that matters clinically.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68640" y="1828800"/>
            <a:ext cx="3444240" cy="3611880"/>
          </a:xfrm>
          <a:prstGeom prst="roundRect">
            <a:avLst>
              <a:gd name="adj" fmla="val 1593"/>
            </a:avLst>
          </a:prstGeom>
          <a:solidFill>
            <a:srgbClr val="F5F7F8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42960" y="2103120"/>
            <a:ext cx="2895600" cy="347472"/>
          </a:xfrm>
          <a:prstGeom prst="roundRect">
            <a:avLst>
              <a:gd name="adj" fmla="val 13158"/>
            </a:avLst>
          </a:prstGeom>
          <a:solidFill>
            <a:srgbClr val="4C8299"/>
          </a:solidFill>
          <a:ln w="12700">
            <a:solidFill>
              <a:srgbClr val="4C829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42960" y="2103120"/>
            <a:ext cx="289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BURDEN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442960" y="2697480"/>
            <a:ext cx="289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4C82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</a:t>
            </a:r>
            <a:endParaRPr lang="en-US" sz="5000" dirty="0"/>
          </a:p>
        </p:txBody>
      </p:sp>
      <p:sp>
        <p:nvSpPr>
          <p:cNvPr id="18" name="Text 16"/>
          <p:cNvSpPr txBox="1"/>
          <p:nvPr/>
        </p:nvSpPr>
        <p:spPr>
          <a:xfrm>
            <a:off x="8442960" y="3703320"/>
            <a:ext cx="289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7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 an hour. Quieter settings exist, but every one of them misses a real event.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687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57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moment is judged by a model that never learned from its own recording.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it is allowed out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95152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57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ships on a number nobody can reproduce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468624" cy="2697480"/>
          </a:xfrm>
          <a:prstGeom prst="roundRect">
            <a:avLst>
              <a:gd name="adj" fmla="val 2034"/>
            </a:avLst>
          </a:prstGeom>
          <a:solidFill>
            <a:srgbClr val="F5F7F8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21408"/>
            <a:ext cx="310896" cy="310896"/>
          </a:xfrm>
          <a:prstGeom prst="ellipse">
            <a:avLst/>
          </a:prstGeom>
          <a:solidFill>
            <a:srgbClr val="17323E"/>
          </a:solidFill>
          <a:ln w="12700">
            <a:solidFill>
              <a:srgbClr val="17323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21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78608"/>
            <a:ext cx="2919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the numbers down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54680"/>
            <a:ext cx="2919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7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report. It is the only place any figure may be quoted from, in a paper or on a slide.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090416" y="3017520"/>
            <a:ext cx="182880" cy="0"/>
          </a:xfrm>
          <a:prstGeom prst="line">
            <a:avLst/>
          </a:prstGeom>
          <a:noFill/>
          <a:ln w="19050">
            <a:solidFill>
              <a:srgbClr val="8A9AA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46448" y="1874520"/>
            <a:ext cx="3468624" cy="2697480"/>
          </a:xfrm>
          <a:prstGeom prst="roundRect">
            <a:avLst>
              <a:gd name="adj" fmla="val 2034"/>
            </a:avLst>
          </a:prstGeom>
          <a:solidFill>
            <a:srgbClr val="F5F7F8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20768" y="2121408"/>
            <a:ext cx="310896" cy="310896"/>
          </a:xfrm>
          <a:prstGeom prst="ellipse">
            <a:avLst/>
          </a:prstGeom>
          <a:solidFill>
            <a:srgbClr val="17323E"/>
          </a:solidFill>
          <a:ln w="12700">
            <a:solidFill>
              <a:srgbClr val="17323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20768" y="2121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620768" y="2578608"/>
            <a:ext cx="2919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it all again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4620768" y="3154680"/>
            <a:ext cx="2919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7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numbers must come out, and every automated check must still pass.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888224" y="3017520"/>
            <a:ext cx="182880" cy="0"/>
          </a:xfrm>
          <a:prstGeom prst="line">
            <a:avLst/>
          </a:prstGeom>
          <a:noFill/>
          <a:ln w="19050">
            <a:solidFill>
              <a:srgbClr val="8A9AA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144256" y="1874520"/>
            <a:ext cx="3468624" cy="2697480"/>
          </a:xfrm>
          <a:prstGeom prst="roundRect">
            <a:avLst>
              <a:gd name="adj" fmla="val 2034"/>
            </a:avLst>
          </a:prstGeom>
          <a:solidFill>
            <a:srgbClr val="F5F7F8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8576" y="2121408"/>
            <a:ext cx="310896" cy="310896"/>
          </a:xfrm>
          <a:prstGeom prst="ellipse">
            <a:avLst/>
          </a:prstGeom>
          <a:solidFill>
            <a:srgbClr val="17323E"/>
          </a:solidFill>
          <a:ln w="12700">
            <a:solidFill>
              <a:srgbClr val="17323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8576" y="2121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418576" y="2578608"/>
            <a:ext cx="2919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Seal the model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8418576" y="3154680"/>
            <a:ext cx="2919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7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with a fingerprint, so a swapped or damaged model is refused rather than quietly used.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983480"/>
            <a:ext cx="11064240" cy="932688"/>
          </a:xfrm>
          <a:prstGeom prst="roundRect">
            <a:avLst>
              <a:gd name="adj" fmla="val 5882"/>
            </a:avLst>
          </a:prstGeom>
          <a:solidFill>
            <a:srgbClr val="FCF4F2"/>
          </a:solidFill>
          <a:ln w="12700">
            <a:solidFill>
              <a:srgbClr val="9C3B2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9536" y="5266944"/>
            <a:ext cx="10442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the numbers do not come out the same, the work is wrong - not the report.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the bedside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95152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57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drift removal and the same description as during learning, twice a second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80816" cy="1389888"/>
          </a:xfrm>
          <a:prstGeom prst="roundRect">
            <a:avLst>
              <a:gd name="adj" fmla="val 3947"/>
            </a:avLst>
          </a:prstGeom>
          <a:solidFill>
            <a:srgbClr val="F5F7F8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984248"/>
            <a:ext cx="310896" cy="310896"/>
          </a:xfrm>
          <a:prstGeom prst="ellipse">
            <a:avLst/>
          </a:prstGeom>
          <a:solidFill>
            <a:srgbClr val="17323E"/>
          </a:solidFill>
          <a:ln w="12700">
            <a:solidFill>
              <a:srgbClr val="17323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1984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984248"/>
            <a:ext cx="2602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reading arrives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404872"/>
            <a:ext cx="3005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7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25 pads, about twice a second.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0352" y="1783080"/>
            <a:ext cx="3480816" cy="1389888"/>
          </a:xfrm>
          <a:prstGeom prst="roundRect">
            <a:avLst>
              <a:gd name="adj" fmla="val 3947"/>
            </a:avLst>
          </a:prstGeom>
          <a:solidFill>
            <a:srgbClr val="F5F7F8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8096" y="1984248"/>
            <a:ext cx="310896" cy="310896"/>
          </a:xfrm>
          <a:prstGeom prst="ellipse">
            <a:avLst/>
          </a:prstGeom>
          <a:solidFill>
            <a:srgbClr val="17323E"/>
          </a:solidFill>
          <a:ln w="12700">
            <a:solidFill>
              <a:srgbClr val="17323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8096" y="1984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980432" y="1984248"/>
            <a:ext cx="2602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Distrust a broken reading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8096" y="2404872"/>
            <a:ext cx="3005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7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sensor drops out, hold the last level rather than report that all is well.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2064" y="1783080"/>
            <a:ext cx="3480816" cy="1389888"/>
          </a:xfrm>
          <a:prstGeom prst="roundRect">
            <a:avLst>
              <a:gd name="adj" fmla="val 3947"/>
            </a:avLst>
          </a:prstGeom>
          <a:solidFill>
            <a:srgbClr val="F5F7F8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9808" y="1984248"/>
            <a:ext cx="310896" cy="310896"/>
          </a:xfrm>
          <a:prstGeom prst="ellipse">
            <a:avLst/>
          </a:prstGeom>
          <a:solidFill>
            <a:srgbClr val="17323E"/>
          </a:solidFill>
          <a:ln w="12700">
            <a:solidFill>
              <a:srgbClr val="17323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69808" y="1984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772144" y="1984248"/>
            <a:ext cx="2602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Cancel the drift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69808" y="2404872"/>
            <a:ext cx="3005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7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as it was done while learning.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355848"/>
            <a:ext cx="3480816" cy="1389888"/>
          </a:xfrm>
          <a:prstGeom prst="roundRect">
            <a:avLst>
              <a:gd name="adj" fmla="val 3947"/>
            </a:avLst>
          </a:prstGeom>
          <a:solidFill>
            <a:srgbClr val="F5F7F8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3557016"/>
            <a:ext cx="310896" cy="310896"/>
          </a:xfrm>
          <a:prstGeom prst="ellipse">
            <a:avLst/>
          </a:prstGeom>
          <a:solidFill>
            <a:srgbClr val="17323E"/>
          </a:solidFill>
          <a:ln w="12700">
            <a:solidFill>
              <a:srgbClr val="17323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6384" y="3557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557016"/>
            <a:ext cx="2602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Describe the moment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" y="3977640"/>
            <a:ext cx="3005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7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the same description as while learning.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40352" y="3355848"/>
            <a:ext cx="3480816" cy="1389888"/>
          </a:xfrm>
          <a:prstGeom prst="roundRect">
            <a:avLst>
              <a:gd name="adj" fmla="val 3947"/>
            </a:avLst>
          </a:prstGeom>
          <a:solidFill>
            <a:srgbClr val="F5F7F8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8096" y="3557016"/>
            <a:ext cx="310896" cy="310896"/>
          </a:xfrm>
          <a:prstGeom prst="ellipse">
            <a:avLst/>
          </a:prstGeom>
          <a:solidFill>
            <a:srgbClr val="17323E"/>
          </a:solidFill>
          <a:ln w="12700">
            <a:solidFill>
              <a:srgbClr val="17323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8096" y="3557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4980432" y="3557016"/>
            <a:ext cx="2602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 what is happening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578096" y="3977640"/>
            <a:ext cx="3005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7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small to matter, a touch, peeling, or a pull - with a risk score alongside.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32064" y="3355848"/>
            <a:ext cx="3480816" cy="1389888"/>
          </a:xfrm>
          <a:prstGeom prst="roundRect">
            <a:avLst>
              <a:gd name="adj" fmla="val 3947"/>
            </a:avLst>
          </a:prstGeom>
          <a:solidFill>
            <a:srgbClr val="F5F7F8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69808" y="3557016"/>
            <a:ext cx="310896" cy="310896"/>
          </a:xfrm>
          <a:prstGeom prst="ellipse">
            <a:avLst/>
          </a:prstGeom>
          <a:solidFill>
            <a:srgbClr val="17323E"/>
          </a:solidFill>
          <a:ln w="12700">
            <a:solidFill>
              <a:srgbClr val="17323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69808" y="3557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8772144" y="3557016"/>
            <a:ext cx="2602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Wait for agreement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369808" y="3977640"/>
            <a:ext cx="3005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7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odd moment is not an alarm. Several in a row is.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507492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17323E"/>
          </a:solidFill>
          <a:ln w="12700">
            <a:solidFill>
              <a:srgbClr val="17323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8640" y="507492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    how serious it is   ·   how risky   ·   where the patch is lifting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32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cannot claim yet</a:t>
            </a:r>
            <a:endParaRPr lang="en-US" sz="3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851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up front, because a safety device is judged on what it cannot do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64240" cy="1097280"/>
          </a:xfrm>
          <a:prstGeom prst="roundRect">
            <a:avLst>
              <a:gd name="adj" fmla="val 4167"/>
            </a:avLst>
          </a:prstGeom>
          <a:solidFill>
            <a:srgbClr val="0F2833"/>
          </a:solidFill>
          <a:ln w="12700">
            <a:solidFill>
              <a:srgbClr val="2441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2450592"/>
            <a:ext cx="173736" cy="173736"/>
          </a:xfrm>
          <a:prstGeom prst="ellipse">
            <a:avLst/>
          </a:prstGeom>
          <a:solidFill>
            <a:srgbClr val="9C3B2E"/>
          </a:solidFill>
          <a:ln w="12700">
            <a:solidFill>
              <a:srgbClr val="9C3B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61872" y="2286000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patch does not lift as far as the design requires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2633472"/>
            <a:ext cx="9966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recording falls short of the drop the specification calls for. The sensor is fine; the way it was fixed to the rig is not.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401568"/>
            <a:ext cx="11064240" cy="1097280"/>
          </a:xfrm>
          <a:prstGeom prst="roundRect">
            <a:avLst>
              <a:gd name="adj" fmla="val 4167"/>
            </a:avLst>
          </a:prstGeom>
          <a:solidFill>
            <a:srgbClr val="0F2833"/>
          </a:solidFill>
          <a:ln w="12700">
            <a:solidFill>
              <a:srgbClr val="2441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" y="3749040"/>
            <a:ext cx="173736" cy="173736"/>
          </a:xfrm>
          <a:prstGeom prst="ellipse">
            <a:avLst/>
          </a:prstGeom>
          <a:solidFill>
            <a:srgbClr val="9C3B2E"/>
          </a:solidFill>
          <a:ln w="12700">
            <a:solidFill>
              <a:srgbClr val="9C3B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61872" y="3584448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sideways pull does not lift the patch at all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261872" y="3931920"/>
            <a:ext cx="9966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like someone pressing on the dressing. Detachment in general is not yet demonstrated.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700016"/>
            <a:ext cx="11064240" cy="1097280"/>
          </a:xfrm>
          <a:prstGeom prst="roundRect">
            <a:avLst>
              <a:gd name="adj" fmla="val 4167"/>
            </a:avLst>
          </a:prstGeom>
          <a:solidFill>
            <a:srgbClr val="0F2833"/>
          </a:solidFill>
          <a:ln w="12700">
            <a:solidFill>
              <a:srgbClr val="2441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" y="5047488"/>
            <a:ext cx="173736" cy="173736"/>
          </a:xfrm>
          <a:prstGeom prst="ellipse">
            <a:avLst/>
          </a:prstGeom>
          <a:solidFill>
            <a:srgbClr val="9C3B2E"/>
          </a:solidFill>
          <a:ln w="12700">
            <a:solidFill>
              <a:srgbClr val="9C3B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61872" y="4882896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patch, one mounting, one round of recordings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5230368"/>
            <a:ext cx="9966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here shows the same figures would hold on a freshly applied dressing.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053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C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in this deck is reproduced by re-running the measurement, not copied from an earlier draft.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the Smart Dressing Learns, and How It Decides</dc:title>
  <dc:subject>PptxGenJS Presentation</dc:subject>
  <dc:creator>Project2</dc:creator>
  <cp:lastModifiedBy>Project2</cp:lastModifiedBy>
  <cp:revision>1</cp:revision>
  <dcterms:created xsi:type="dcterms:W3CDTF">2026-08-30T09:26:24Z</dcterms:created>
  <dcterms:modified xsi:type="dcterms:W3CDTF">2026-08-30T09:26:24Z</dcterms:modified>
</cp:coreProperties>
</file>